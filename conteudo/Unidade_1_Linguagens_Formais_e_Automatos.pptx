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4"/>
  </p:notesMasterIdLst>
  <p:sldIdLst>
    <p:sldId id="256" r:id="rId2"/>
    <p:sldId id="257" r:id="rId3"/>
    <p:sldId id="271" r:id="rId4"/>
    <p:sldId id="270" r:id="rId5"/>
    <p:sldId id="272" r:id="rId6"/>
    <p:sldId id="273" r:id="rId7"/>
    <p:sldId id="274" r:id="rId8"/>
    <p:sldId id="275" r:id="rId9"/>
    <p:sldId id="276" r:id="rId10"/>
    <p:sldId id="311" r:id="rId11"/>
    <p:sldId id="301" r:id="rId12"/>
    <p:sldId id="302" r:id="rId13"/>
    <p:sldId id="309" r:id="rId14"/>
    <p:sldId id="310" r:id="rId15"/>
    <p:sldId id="303" r:id="rId16"/>
    <p:sldId id="304" r:id="rId17"/>
    <p:sldId id="305" r:id="rId18"/>
    <p:sldId id="300" r:id="rId19"/>
    <p:sldId id="278" r:id="rId20"/>
    <p:sldId id="306" r:id="rId21"/>
    <p:sldId id="307" r:id="rId22"/>
    <p:sldId id="308" r:id="rId23"/>
    <p:sldId id="277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69" r:id="rId32"/>
    <p:sldId id="268" r:id="rId33"/>
    <p:sldId id="258" r:id="rId34"/>
    <p:sldId id="259" r:id="rId35"/>
    <p:sldId id="260" r:id="rId36"/>
    <p:sldId id="261" r:id="rId37"/>
    <p:sldId id="262" r:id="rId38"/>
    <p:sldId id="263" r:id="rId39"/>
    <p:sldId id="264" r:id="rId40"/>
    <p:sldId id="265" r:id="rId41"/>
    <p:sldId id="266" r:id="rId42"/>
    <p:sldId id="267" r:id="rId43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1" d="100"/>
          <a:sy n="61" d="100"/>
        </p:scale>
        <p:origin x="996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viewProps" Target="view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Sugestão didática: comece com um exemplo concreto, solicite uma hipótese da turma e só depois formalize a definição.</a:t>
            </a:r>
          </a:p>
          <a:p>
            <a:r>
              <a:t>[Sources]</a:t>
            </a:r>
          </a:p>
          <a:p>
            <a:r>
              <a:t>- Plano de Ensino MDC078 — Linguagens Formais e Autômatos, conteúdo da Unidade 1.</a:t>
            </a:r>
          </a:p>
          <a:p>
            <a:r>
              <a:t>- HOPCROFT, J.; MOTWANI, R.; ULLMAN, J. Introdução à Teoria de Autômatos, Linguagens e Computação.</a:t>
            </a:r>
          </a:p>
          <a:p>
            <a:r>
              <a:t>- MENEZES, P. B. Linguagens Formais e Autômatos.</a:t>
            </a:r>
          </a:p>
          <a:p>
            <a:r>
              <a:t>Tema do slide: Linguagens Formais e Autômatos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Sugestão didática: comece com um exemplo concreto, solicite uma hipótese da turma e só depois formalize a definição.</a:t>
            </a:r>
          </a:p>
          <a:p>
            <a:r>
              <a:t>[Sources]</a:t>
            </a:r>
          </a:p>
          <a:p>
            <a:r>
              <a:t>- Plano de Ensino MDC078 — Linguagens Formais e Autômatos, conteúdo da Unidade 1.</a:t>
            </a:r>
          </a:p>
          <a:p>
            <a:r>
              <a:t>- HOPCROFT, J.; MOTWANI, R.; ULLMAN, J. Introdução à Teoria de Autômatos, Linguagens e Computação.</a:t>
            </a:r>
          </a:p>
          <a:p>
            <a:r>
              <a:t>- MENEZES, P. B. Linguagens Formais e Autômatos.</a:t>
            </a:r>
          </a:p>
          <a:p>
            <a:r>
              <a:t>Tema do slide: DA INTUIÇÃO À FORMALIZAÇÃO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984BC4-45D8-E5D1-C8EC-3D60227E7A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474758B-9BC5-C656-FC30-2E84F9E5943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16F1E7A-CF8D-1E9D-B868-3C8117C6E03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Sugestão didática: comece com um exemplo concreto, solicite uma hipótese da turma e só depois formalize a definição.</a:t>
            </a:r>
          </a:p>
          <a:p>
            <a:r>
              <a:t>[Sources]</a:t>
            </a:r>
          </a:p>
          <a:p>
            <a:r>
              <a:t>- Plano de Ensino MDC078 — Linguagens Formais e Autômatos, conteúdo da Unidade 1.</a:t>
            </a:r>
          </a:p>
          <a:p>
            <a:r>
              <a:t>- HOPCROFT, J.; MOTWANI, R.; ULLMAN, J. Introdução à Teoria de Autômatos, Linguagens e Computação.</a:t>
            </a:r>
          </a:p>
          <a:p>
            <a:r>
              <a:t>- MENEZES, P. B. Linguagens Formais e Autômatos.</a:t>
            </a:r>
          </a:p>
          <a:p>
            <a:r>
              <a:t>Tema do slide: DA INTUIÇÃO À FORMALIZAÇÃO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DEC5F90-8F35-6F83-AF35-BF99692C9943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30585807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C7452A-07DE-EB85-331A-81FF2BD478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5253328-2F59-3714-0B2A-E122379823A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6F7CF2A-7781-13D7-4FE5-F6BD07A68F1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Sugestão didática: comece com um exemplo concreto, solicite uma hipótese da turma e só depois formalize a definição.</a:t>
            </a:r>
          </a:p>
          <a:p>
            <a:r>
              <a:t>[Sources]</a:t>
            </a:r>
          </a:p>
          <a:p>
            <a:r>
              <a:t>- Plano de Ensino MDC078 — Linguagens Formais e Autômatos, conteúdo da Unidade 1.</a:t>
            </a:r>
          </a:p>
          <a:p>
            <a:r>
              <a:t>- HOPCROFT, J.; MOTWANI, R.; ULLMAN, J. Introdução à Teoria de Autômatos, Linguagens e Computação.</a:t>
            </a:r>
          </a:p>
          <a:p>
            <a:r>
              <a:t>- MENEZES, P. B. Linguagens Formais e Autômatos.</a:t>
            </a:r>
          </a:p>
          <a:p>
            <a:r>
              <a:t>Tema do slide: DA INTUIÇÃO À FORMALIZAÇÃO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24DEC14-9C02-FE94-194D-42F7137ED0B1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18379017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60A9ED-A744-C9C6-CB0D-C18D059CBE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88562B2-1BEF-BA55-F392-3D773F91D05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957CF4C-12BD-4133-7695-38C75E482BE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Sugestão didática: comece com um exemplo concreto, solicite uma hipótese da turma e só depois formalize a definição.</a:t>
            </a:r>
          </a:p>
          <a:p>
            <a:r>
              <a:t>[Sources]</a:t>
            </a:r>
          </a:p>
          <a:p>
            <a:r>
              <a:t>- Plano de Ensino MDC078 — Linguagens Formais e Autômatos, conteúdo da Unidade 1.</a:t>
            </a:r>
          </a:p>
          <a:p>
            <a:r>
              <a:t>- HOPCROFT, J.; MOTWANI, R.; ULLMAN, J. Introdução à Teoria de Autômatos, Linguagens e Computação.</a:t>
            </a:r>
          </a:p>
          <a:p>
            <a:r>
              <a:t>- MENEZES, P. B. Linguagens Formais e Autômatos.</a:t>
            </a:r>
          </a:p>
          <a:p>
            <a:r>
              <a:t>Tema do slide: DA INTUIÇÃO À FORMALIZAÇÃO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A35336B-F481-A45F-4136-64FA83F05899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11765127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55F560-5C75-9F2A-3FE6-374F9D8483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5E21AE1-496A-E8D7-1F9B-7C556F2F924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E447736-0F49-15DD-9B93-580E2E1311F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Sugestão didática: comece com um exemplo concreto, solicite uma hipótese da turma e só depois formalize a definição.</a:t>
            </a:r>
          </a:p>
          <a:p>
            <a:r>
              <a:t>[Sources]</a:t>
            </a:r>
          </a:p>
          <a:p>
            <a:r>
              <a:t>- Plano de Ensino MDC078 — Linguagens Formais e Autômatos, conteúdo da Unidade 1.</a:t>
            </a:r>
          </a:p>
          <a:p>
            <a:r>
              <a:t>- HOPCROFT, J.; MOTWANI, R.; ULLMAN, J. Introdução à Teoria de Autômatos, Linguagens e Computação.</a:t>
            </a:r>
          </a:p>
          <a:p>
            <a:r>
              <a:t>- MENEZES, P. B. Linguagens Formais e Autômatos.</a:t>
            </a:r>
          </a:p>
          <a:p>
            <a:r>
              <a:t>Tema do slide: DA INTUIÇÃO À FORMALIZAÇÃO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744F8A6-E3D3-98B4-BA66-FF6695D8F2ED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4315773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EE0BB8-7627-7394-F595-E20B8A6C9E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F529CE8-4802-DE55-F124-CA5D0C6FE96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97CA584-6B3A-1B9C-AB42-9EBC281C27C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Sugestão didática: comece com um exemplo concreto, solicite uma hipótese da turma e só depois formalize a definição.</a:t>
            </a:r>
          </a:p>
          <a:p>
            <a:r>
              <a:t>[Sources]</a:t>
            </a:r>
          </a:p>
          <a:p>
            <a:r>
              <a:t>- Plano de Ensino MDC078 — Linguagens Formais e Autômatos, conteúdo da Unidade 1.</a:t>
            </a:r>
          </a:p>
          <a:p>
            <a:r>
              <a:t>- HOPCROFT, J.; MOTWANI, R.; ULLMAN, J. Introdução à Teoria de Autômatos, Linguagens e Computação.</a:t>
            </a:r>
          </a:p>
          <a:p>
            <a:r>
              <a:t>- MENEZES, P. B. Linguagens Formais e Autômatos.</a:t>
            </a:r>
          </a:p>
          <a:p>
            <a:r>
              <a:t>Tema do slide: DA INTUIÇÃO À FORMALIZAÇÃO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FDD3FB6-5A76-6CA6-1F51-5A7B68415A1B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45474705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C91224-6DAD-A5A0-7EEF-3A7AD056DB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F478449-31B7-426D-96E8-98707695AE0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9D4B097-577A-A66C-36F7-B2922C254AB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Sugestão didática: comece com um exemplo concreto, solicite uma hipótese da turma e só depois formalize a definição.</a:t>
            </a:r>
          </a:p>
          <a:p>
            <a:r>
              <a:t>[Sources]</a:t>
            </a:r>
          </a:p>
          <a:p>
            <a:r>
              <a:t>- Plano de Ensino MDC078 — Linguagens Formais e Autômatos, conteúdo da Unidade 1.</a:t>
            </a:r>
          </a:p>
          <a:p>
            <a:r>
              <a:t>- HOPCROFT, J.; MOTWANI, R.; ULLMAN, J. Introdução à Teoria de Autômatos, Linguagens e Computação.</a:t>
            </a:r>
          </a:p>
          <a:p>
            <a:r>
              <a:t>- MENEZES, P. B. Linguagens Formais e Autômatos.</a:t>
            </a:r>
          </a:p>
          <a:p>
            <a:r>
              <a:t>Tema do slide: DA INTUIÇÃO À FORMALIZAÇÃO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A0D9DCD-03B5-B2AC-3638-BD231069AFE3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94871639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4376DC-FCE3-B968-2311-2F7A1F9739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56B7253-EAC2-ED52-202F-D7AAA270228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781D851-D56A-5199-EC3B-980CC924BEA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Sugestão didática: comece com um exemplo concreto, solicite uma hipótese da turma e só depois formalize a definição.</a:t>
            </a:r>
          </a:p>
          <a:p>
            <a:r>
              <a:t>[Sources]</a:t>
            </a:r>
          </a:p>
          <a:p>
            <a:r>
              <a:t>- Plano de Ensino MDC078 — Linguagens Formais e Autômatos, conteúdo da Unidade 1.</a:t>
            </a:r>
          </a:p>
          <a:p>
            <a:r>
              <a:t>- HOPCROFT, J.; MOTWANI, R.; ULLMAN, J. Introdução à Teoria de Autômatos, Linguagens e Computação.</a:t>
            </a:r>
          </a:p>
          <a:p>
            <a:r>
              <a:t>- MENEZES, P. B. Linguagens Formais e Autômatos.</a:t>
            </a:r>
          </a:p>
          <a:p>
            <a:r>
              <a:t>Tema do slide: DA INTUIÇÃO À FORMALIZAÇÃO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33BBB27-5B68-AF10-6472-8DD4035FA2C0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36082775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C1242E-8D83-5724-A7DD-DF4DA113CA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2929A4B-E24A-3357-D748-C22D6A5522E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B07F58E-D302-EC58-B8EF-A819A882DE0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Sugestão didática: comece com um exemplo concreto, solicite uma hipótese da turma e só depois formalize a definição.</a:t>
            </a:r>
          </a:p>
          <a:p>
            <a:r>
              <a:t>[Sources]</a:t>
            </a:r>
          </a:p>
          <a:p>
            <a:r>
              <a:t>- Plano de Ensino MDC078 — Linguagens Formais e Autômatos, conteúdo da Unidade 1.</a:t>
            </a:r>
          </a:p>
          <a:p>
            <a:r>
              <a:t>- HOPCROFT, J.; MOTWANI, R.; ULLMAN, J. Introdução à Teoria de Autômatos, Linguagens e Computação.</a:t>
            </a:r>
          </a:p>
          <a:p>
            <a:r>
              <a:t>- MENEZES, P. B. Linguagens Formais e Autômatos.</a:t>
            </a:r>
          </a:p>
          <a:p>
            <a:r>
              <a:t>Tema do slide: DA INTUIÇÃO À FORMALIZAÇÃO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B1074BA-7EC0-A86E-9BE0-262013C1EE06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9230188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CDB7C6-8225-93D4-BC0C-CAF25B3CD8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6348318-78D0-B0AB-4C45-BCE2C4E3438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D50D0C6-F1EB-E57B-845D-B99E9DBC386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Sugestão didática: comece com um exemplo concreto, solicite uma hipótese da turma e só depois formalize a definição.</a:t>
            </a:r>
          </a:p>
          <a:p>
            <a:r>
              <a:t>[Sources]</a:t>
            </a:r>
          </a:p>
          <a:p>
            <a:r>
              <a:t>- Plano de Ensino MDC078 — Linguagens Formais e Autômatos, conteúdo da Unidade 1.</a:t>
            </a:r>
          </a:p>
          <a:p>
            <a:r>
              <a:t>- HOPCROFT, J.; MOTWANI, R.; ULLMAN, J. Introdução à Teoria de Autômatos, Linguagens e Computação.</a:t>
            </a:r>
          </a:p>
          <a:p>
            <a:r>
              <a:t>- MENEZES, P. B. Linguagens Formais e Autômatos.</a:t>
            </a:r>
          </a:p>
          <a:p>
            <a:r>
              <a:t>Tema do slide: DA INTUIÇÃO À FORMALIZAÇÃO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22D2F9F-A16C-5327-3118-934EA6848E07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6771912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C5A795-5247-E687-BF57-8B016853F0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5E360A7-4541-DC07-571F-4D8AB7A9238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C585C3B-33E7-6E3D-FC98-25E4451DCD4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Sugestão didática: comece com um exemplo concreto, solicite uma hipótese da turma e só depois formalize a definição.</a:t>
            </a:r>
          </a:p>
          <a:p>
            <a:r>
              <a:t>[Sources]</a:t>
            </a:r>
          </a:p>
          <a:p>
            <a:r>
              <a:t>- Plano de Ensino MDC078 — Linguagens Formais e Autômatos, conteúdo da Unidade 1.</a:t>
            </a:r>
          </a:p>
          <a:p>
            <a:r>
              <a:t>- HOPCROFT, J.; MOTWANI, R.; ULLMAN, J. Introdução à Teoria de Autômatos, Linguagens e Computação.</a:t>
            </a:r>
          </a:p>
          <a:p>
            <a:r>
              <a:t>- MENEZES, P. B. Linguagens Formais e Autômatos.</a:t>
            </a:r>
          </a:p>
          <a:p>
            <a:r>
              <a:t>Tema do slide: DA INTUIÇÃO À FORMALIZAÇÃO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1ADB1B7-0CBB-0BAB-FAE9-F338804C9D00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16375129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0E78F3-5D81-3DEA-14EA-BDB262A187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9094F73-5B5B-9AF2-021E-2FECB2BA04D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5A5B2D8-F96F-D0F0-29BB-127FC59FA52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Sugestão didática: comece com um exemplo concreto, solicite uma hipótese da turma e só depois formalize a definição.</a:t>
            </a:r>
          </a:p>
          <a:p>
            <a:r>
              <a:t>[Sources]</a:t>
            </a:r>
          </a:p>
          <a:p>
            <a:r>
              <a:t>- Plano de Ensino MDC078 — Linguagens Formais e Autômatos, conteúdo da Unidade 1.</a:t>
            </a:r>
          </a:p>
          <a:p>
            <a:r>
              <a:t>- HOPCROFT, J.; MOTWANI, R.; ULLMAN, J. Introdução à Teoria de Autômatos, Linguagens e Computação.</a:t>
            </a:r>
          </a:p>
          <a:p>
            <a:r>
              <a:t>- MENEZES, P. B. Linguagens Formais e Autômatos.</a:t>
            </a:r>
          </a:p>
          <a:p>
            <a:r>
              <a:t>Tema do slide: DA INTUIÇÃO À FORMALIZAÇÃO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D0B39D4-D79A-63A2-AD57-60457D0F9426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81474957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B2F9D8-B76C-7913-7599-18238895CA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1D43789-D307-2CFC-5260-6577A842B34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170D8A9-97F4-FE2C-565B-44F0AAD8ACA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Sugestão didática: comece com um exemplo concreto, solicite uma hipótese da turma e só depois formalize a definição.</a:t>
            </a:r>
          </a:p>
          <a:p>
            <a:r>
              <a:t>[Sources]</a:t>
            </a:r>
          </a:p>
          <a:p>
            <a:r>
              <a:t>- Plano de Ensino MDC078 — Linguagens Formais e Autômatos, conteúdo da Unidade 1.</a:t>
            </a:r>
          </a:p>
          <a:p>
            <a:r>
              <a:t>- HOPCROFT, J.; MOTWANI, R.; ULLMAN, J. Introdução à Teoria de Autômatos, Linguagens e Computação.</a:t>
            </a:r>
          </a:p>
          <a:p>
            <a:r>
              <a:t>- MENEZES, P. B. Linguagens Formais e Autômatos.</a:t>
            </a:r>
          </a:p>
          <a:p>
            <a:r>
              <a:t>Tema do slide: DA INTUIÇÃO À FORMALIZAÇÃO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62BDB0C-7D5E-BC9A-0735-0BD6A0CC8018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29024453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6B7C43-437A-AA69-F314-8E4BC88FBD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37C9157-3BCF-6C10-D817-A9EFBFF2260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3965372-E05D-881C-DFCB-CF300F73186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Sugestão didática: comece com um exemplo concreto, solicite uma hipótese da turma e só depois formalize a definição.</a:t>
            </a:r>
          </a:p>
          <a:p>
            <a:r>
              <a:t>[Sources]</a:t>
            </a:r>
          </a:p>
          <a:p>
            <a:r>
              <a:t>- Plano de Ensino MDC078 — Linguagens Formais e Autômatos, conteúdo da Unidade 1.</a:t>
            </a:r>
          </a:p>
          <a:p>
            <a:r>
              <a:t>- HOPCROFT, J.; MOTWANI, R.; ULLMAN, J. Introdução à Teoria de Autômatos, Linguagens e Computação.</a:t>
            </a:r>
          </a:p>
          <a:p>
            <a:r>
              <a:t>- MENEZES, P. B. Linguagens Formais e Autômatos.</a:t>
            </a:r>
          </a:p>
          <a:p>
            <a:r>
              <a:t>Tema do slide: DA INTUIÇÃO À FORMALIZAÇÃO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688D36D-5DC7-28AF-247C-B47AAE35E47B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46815805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6522AF-35C2-70B5-9368-5B7E108EFA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C31C342-50C4-3998-DC08-82BC87B11B4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10DA406-47EF-71DC-811A-9402D674EAA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Sugestão didática: comece com um exemplo concreto, solicite uma hipótese da turma e só depois formalize a definição.</a:t>
            </a:r>
          </a:p>
          <a:p>
            <a:r>
              <a:t>[Sources]</a:t>
            </a:r>
          </a:p>
          <a:p>
            <a:r>
              <a:t>- Plano de Ensino MDC078 — Linguagens Formais e Autômatos, conteúdo da Unidade 1.</a:t>
            </a:r>
          </a:p>
          <a:p>
            <a:r>
              <a:t>- HOPCROFT, J.; MOTWANI, R.; ULLMAN, J. Introdução à Teoria de Autômatos, Linguagens e Computação.</a:t>
            </a:r>
          </a:p>
          <a:p>
            <a:r>
              <a:t>- MENEZES, P. B. Linguagens Formais e Autômatos.</a:t>
            </a:r>
          </a:p>
          <a:p>
            <a:r>
              <a:t>Tema do slide: DA INTUIÇÃO À FORMALIZAÇÃO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D69712F-C5BD-625B-ABCE-142499497ECB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57176439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08CD18-0AD3-D158-B0BD-D405FB801B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80938C1-4E9B-9CF6-9BBF-9A261524942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66E5BFE-3F6B-5A69-5D52-B1270308FF8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Sugestão didática: comece com um exemplo concreto, solicite uma hipótese da turma e só depois formalize a definição.</a:t>
            </a:r>
          </a:p>
          <a:p>
            <a:r>
              <a:t>[Sources]</a:t>
            </a:r>
          </a:p>
          <a:p>
            <a:r>
              <a:t>- Plano de Ensino MDC078 — Linguagens Formais e Autômatos, conteúdo da Unidade 1.</a:t>
            </a:r>
          </a:p>
          <a:p>
            <a:r>
              <a:t>- HOPCROFT, J.; MOTWANI, R.; ULLMAN, J. Introdução à Teoria de Autômatos, Linguagens e Computação.</a:t>
            </a:r>
          </a:p>
          <a:p>
            <a:r>
              <a:t>- MENEZES, P. B. Linguagens Formais e Autômatos.</a:t>
            </a:r>
          </a:p>
          <a:p>
            <a:r>
              <a:t>Tema do slide: DA INTUIÇÃO À FORMALIZAÇÃO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49C94C7-B556-E2A8-4D62-D1DCD262E96F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992399935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26D36E-34E9-26F8-5EF0-E159A33647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30E8EAE-9A6C-CD4C-46F6-7DDA8A4FA43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7277F66-246A-7242-9845-EAE606CA3D6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Sugestão didática: comece com um exemplo concreto, solicite uma hipótese da turma e só depois formalize a definição.</a:t>
            </a:r>
          </a:p>
          <a:p>
            <a:r>
              <a:t>[Sources]</a:t>
            </a:r>
          </a:p>
          <a:p>
            <a:r>
              <a:t>- Plano de Ensino MDC078 — Linguagens Formais e Autômatos, conteúdo da Unidade 1.</a:t>
            </a:r>
          </a:p>
          <a:p>
            <a:r>
              <a:t>- HOPCROFT, J.; MOTWANI, R.; ULLMAN, J. Introdução à Teoria de Autômatos, Linguagens e Computação.</a:t>
            </a:r>
          </a:p>
          <a:p>
            <a:r>
              <a:t>- MENEZES, P. B. Linguagens Formais e Autômatos.</a:t>
            </a:r>
          </a:p>
          <a:p>
            <a:r>
              <a:t>Tema do slide: DA INTUIÇÃO À FORMALIZAÇÃO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FB681C8-40ED-16FA-9145-80A628F515D8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58647386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B41A7F-833B-62AC-1917-170406E965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51E7F04-1F5B-5016-0959-C69D12FF3CD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1BBD155-2E3C-7CF7-3BF0-867EEDF34A3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Sugestão didática: comece com um exemplo concreto, solicite uma hipótese da turma e só depois formalize a definição.</a:t>
            </a:r>
          </a:p>
          <a:p>
            <a:r>
              <a:t>[Sources]</a:t>
            </a:r>
          </a:p>
          <a:p>
            <a:r>
              <a:t>- Plano de Ensino MDC078 — Linguagens Formais e Autômatos, conteúdo da Unidade 1.</a:t>
            </a:r>
          </a:p>
          <a:p>
            <a:r>
              <a:t>- HOPCROFT, J.; MOTWANI, R.; ULLMAN, J. Introdução à Teoria de Autômatos, Linguagens e Computação.</a:t>
            </a:r>
          </a:p>
          <a:p>
            <a:r>
              <a:t>- MENEZES, P. B. Linguagens Formais e Autômatos.</a:t>
            </a:r>
          </a:p>
          <a:p>
            <a:r>
              <a:t>Tema do slide: DA INTUIÇÃO À FORMALIZAÇÃO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8FCC7BF-C5D8-CA57-283F-B51CCE5B83BC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709491855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FCF8FE-6F95-328F-25DF-E2988DD7C1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9BBABF7-3FA0-4184-A331-D913585B05F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709E18F-F445-2B07-D27B-A27A4DDF0F4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Sugestão didática: comece com um exemplo concreto, solicite uma hipótese da turma e só depois formalize a definição.</a:t>
            </a:r>
          </a:p>
          <a:p>
            <a:r>
              <a:t>[Sources]</a:t>
            </a:r>
          </a:p>
          <a:p>
            <a:r>
              <a:t>- Plano de Ensino MDC078 — Linguagens Formais e Autômatos, conteúdo da Unidade 1.</a:t>
            </a:r>
          </a:p>
          <a:p>
            <a:r>
              <a:t>- HOPCROFT, J.; MOTWANI, R.; ULLMAN, J. Introdução à Teoria de Autômatos, Linguagens e Computação.</a:t>
            </a:r>
          </a:p>
          <a:p>
            <a:r>
              <a:t>- MENEZES, P. B. Linguagens Formais e Autômatos.</a:t>
            </a:r>
          </a:p>
          <a:p>
            <a:r>
              <a:t>Tema do slide: DA INTUIÇÃO À FORMALIZAÇÃO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0723676-F91B-A41B-908E-62E0A8ED9CAF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570007554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B74728-8098-E688-1330-40F2CB1F32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FF1C9E1-AAA4-5DF6-D32A-A017FCC5382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CF38FBF-2C7F-830A-A5FE-4959DE01962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Sugestão didática: comece com um exemplo concreto, solicite uma hipótese da turma e só depois formalize a definição.</a:t>
            </a:r>
          </a:p>
          <a:p>
            <a:r>
              <a:t>[Sources]</a:t>
            </a:r>
          </a:p>
          <a:p>
            <a:r>
              <a:t>- Plano de Ensino MDC078 — Linguagens Formais e Autômatos, conteúdo da Unidade 1.</a:t>
            </a:r>
          </a:p>
          <a:p>
            <a:r>
              <a:t>- HOPCROFT, J.; MOTWANI, R.; ULLMAN, J. Introdução à Teoria de Autômatos, Linguagens e Computação.</a:t>
            </a:r>
          </a:p>
          <a:p>
            <a:r>
              <a:t>- MENEZES, P. B. Linguagens Formais e Autômatos.</a:t>
            </a:r>
          </a:p>
          <a:p>
            <a:r>
              <a:t>Tema do slide: DA INTUIÇÃO À FORMALIZAÇÃO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AB7A515-18D3-5CC7-0D04-A06FEEBCB6E8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48637673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08A721-7A26-05F0-191D-48EADDD78F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9D155AA-3A42-76ED-D9D9-4007A644896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3CA0ACD-DB84-B002-B321-CD4481009D4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Sugestão didática: comece com um exemplo concreto, solicite uma hipótese da turma e só depois formalize a definição.</a:t>
            </a:r>
          </a:p>
          <a:p>
            <a:r>
              <a:t>[Sources]</a:t>
            </a:r>
          </a:p>
          <a:p>
            <a:r>
              <a:t>- Plano de Ensino MDC078 — Linguagens Formais e Autômatos, conteúdo da Unidade 1.</a:t>
            </a:r>
          </a:p>
          <a:p>
            <a:r>
              <a:t>- HOPCROFT, J.; MOTWANI, R.; ULLMAN, J. Introdução à Teoria de Autômatos, Linguagens e Computação.</a:t>
            </a:r>
          </a:p>
          <a:p>
            <a:r>
              <a:t>- MENEZES, P. B. Linguagens Formais e Autômatos.</a:t>
            </a:r>
          </a:p>
          <a:p>
            <a:r>
              <a:t>Tema do slide: DA INTUIÇÃO À FORMALIZAÇÃO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F150EE3-E5AB-A3EB-795E-1941698E59F4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186218098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0D7B52-4D98-2C58-1FAF-2874810A82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E4440AF-8243-77D3-C436-F0C6890CBEB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BF319DC-24E0-B500-0EBD-D324017509F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Sugestão didática: comece com um exemplo concreto, solicite uma hipótese da turma e só depois formalize a definição.</a:t>
            </a:r>
          </a:p>
          <a:p>
            <a:r>
              <a:t>[Sources]</a:t>
            </a:r>
          </a:p>
          <a:p>
            <a:r>
              <a:t>- Plano de Ensino MDC078 — Linguagens Formais e Autômatos, conteúdo da Unidade 1.</a:t>
            </a:r>
          </a:p>
          <a:p>
            <a:r>
              <a:t>- HOPCROFT, J.; MOTWANI, R.; ULLMAN, J. Introdução à Teoria de Autômatos, Linguagens e Computação.</a:t>
            </a:r>
          </a:p>
          <a:p>
            <a:r>
              <a:t>- MENEZES, P. B. Linguagens Formais e Autômatos.</a:t>
            </a:r>
          </a:p>
          <a:p>
            <a:r>
              <a:t>Tema do slide: DA INTUIÇÃO À FORMALIZAÇÃO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572D736-DC2A-5D04-7327-64564DAC158A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952898675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A18622-0E69-D059-A45B-0B063B2D1A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0612585-33AA-EDB2-78C0-E4B382EE1AA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0B23B35-051F-5835-5BB2-B82CCB7045C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Sugestão didática: comece com um exemplo concreto, solicite uma hipótese da turma e só depois formalize a definição.</a:t>
            </a:r>
          </a:p>
          <a:p>
            <a:r>
              <a:t>[Sources]</a:t>
            </a:r>
          </a:p>
          <a:p>
            <a:r>
              <a:t>- Plano de Ensino MDC078 — Linguagens Formais e Autômatos, conteúdo da Unidade 1.</a:t>
            </a:r>
          </a:p>
          <a:p>
            <a:r>
              <a:t>- HOPCROFT, J.; MOTWANI, R.; ULLMAN, J. Introdução à Teoria de Autômatos, Linguagens e Computação.</a:t>
            </a:r>
          </a:p>
          <a:p>
            <a:r>
              <a:t>- MENEZES, P. B. Linguagens Formais e Autômatos.</a:t>
            </a:r>
          </a:p>
          <a:p>
            <a:r>
              <a:t>Tema do slide: DA INTUIÇÃO À FORMALIZAÇÃO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52233E7-8E5D-3E1F-B9B0-6F8B676CE7B1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79365251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26FE87-7DDF-9DF0-FC71-A2C929A0E3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FEAE987-5373-816D-2F44-7EE921CAEE6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CBDA42B-3A7D-A281-2DE0-997781E27F3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Sugestão didática: comece com um exemplo concreto, solicite uma hipótese da turma e só depois formalize a definição.</a:t>
            </a:r>
          </a:p>
          <a:p>
            <a:r>
              <a:t>[Sources]</a:t>
            </a:r>
          </a:p>
          <a:p>
            <a:r>
              <a:t>- Plano de Ensino MDC078 — Linguagens Formais e Autômatos, conteúdo da Unidade 1.</a:t>
            </a:r>
          </a:p>
          <a:p>
            <a:r>
              <a:t>- HOPCROFT, J.; MOTWANI, R.; ULLMAN, J. Introdução à Teoria de Autômatos, Linguagens e Computação.</a:t>
            </a:r>
          </a:p>
          <a:p>
            <a:r>
              <a:t>- MENEZES, P. B. Linguagens Formais e Autômatos.</a:t>
            </a:r>
          </a:p>
          <a:p>
            <a:r>
              <a:t>Tema do slide: DA INTUIÇÃO À FORMALIZAÇÃO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4B8FED3-8A8A-1364-473B-8D4D39552CCF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863011633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690D34-2B92-93B7-5A50-A18F0EC182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7FC77B8-C34D-D808-5847-A192D6D5D8B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75FBB21-B086-7B6D-CB09-DA1E1293357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Sugestão didática: comece com um exemplo concreto, solicite uma hipótese da turma e só depois formalize a definição.</a:t>
            </a:r>
          </a:p>
          <a:p>
            <a:r>
              <a:t>[Sources]</a:t>
            </a:r>
          </a:p>
          <a:p>
            <a:r>
              <a:t>- Plano de Ensino MDC078 — Linguagens Formais e Autômatos, conteúdo da Unidade 1.</a:t>
            </a:r>
          </a:p>
          <a:p>
            <a:r>
              <a:t>- HOPCROFT, J.; MOTWANI, R.; ULLMAN, J. Introdução à Teoria de Autômatos, Linguagens e Computação.</a:t>
            </a:r>
          </a:p>
          <a:p>
            <a:r>
              <a:t>- MENEZES, P. B. Linguagens Formais e Autômatos.</a:t>
            </a:r>
          </a:p>
          <a:p>
            <a:r>
              <a:t>Tema do slide: DA INTUIÇÃO À FORMALIZAÇÃO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B47B221-0134-9896-513D-DD5DCFDE8877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958733018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068958-FE84-4487-F330-C4ADE5DC8B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0FB7D21-E7C7-AB22-A545-ACCCE9903D7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6E6C558-BA77-0573-C12B-58EB5B23A08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Sugestão didática: comece com um exemplo concreto, solicite uma hipótese da turma e só depois formalize a definição.</a:t>
            </a:r>
          </a:p>
          <a:p>
            <a:r>
              <a:t>[Sources]</a:t>
            </a:r>
          </a:p>
          <a:p>
            <a:r>
              <a:t>- Plano de Ensino MDC078 — Linguagens Formais e Autômatos, conteúdo da Unidade 1.</a:t>
            </a:r>
          </a:p>
          <a:p>
            <a:r>
              <a:t>- HOPCROFT, J.; MOTWANI, R.; ULLMAN, J. Introdução à Teoria de Autômatos, Linguagens e Computação.</a:t>
            </a:r>
          </a:p>
          <a:p>
            <a:r>
              <a:t>- MENEZES, P. B. Linguagens Formais e Autômatos.</a:t>
            </a:r>
          </a:p>
          <a:p>
            <a:r>
              <a:t>Tema do slide: DA INTUIÇÃO À FORMALIZAÇÃO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DAD36EF-80D8-CE4A-713E-9E6F97014EA2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152716580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CF369A-AF06-D74F-D94D-FDF779BD68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5755227-BEB3-EFD7-7C48-072A6CD0FC3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0C0ACEA-F5CF-5F6F-5755-363A3785040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Sugestão didática: comece com um exemplo concreto, solicite uma hipótese da turma e só depois formalize a definição.</a:t>
            </a:r>
          </a:p>
          <a:p>
            <a:r>
              <a:t>[Sources]</a:t>
            </a:r>
          </a:p>
          <a:p>
            <a:r>
              <a:t>- Plano de Ensino MDC078 — Linguagens Formais e Autômatos, conteúdo da Unidade 1.</a:t>
            </a:r>
          </a:p>
          <a:p>
            <a:r>
              <a:t>- HOPCROFT, J.; MOTWANI, R.; ULLMAN, J. Introdução à Teoria de Autômatos, Linguagens e Computação.</a:t>
            </a:r>
          </a:p>
          <a:p>
            <a:r>
              <a:t>- MENEZES, P. B. Linguagens Formais e Autômatos.</a:t>
            </a:r>
          </a:p>
          <a:p>
            <a:r>
              <a:t>Tema do slide: DA INTUIÇÃO À FORMALIZAÇÃO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0B9797F-83AC-5B45-1A06-B13381950BFE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73707713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AB85E1-D28F-D1C9-C0F9-46FA634FAA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A806930-0DC2-3A91-5DF3-8124651263F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02C9464-F318-4DE1-31E1-2D68C9F36E0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Sugestão didática: comece com um exemplo concreto, solicite uma hipótese da turma e só depois formalize a definição.</a:t>
            </a:r>
          </a:p>
          <a:p>
            <a:r>
              <a:t>[Sources]</a:t>
            </a:r>
          </a:p>
          <a:p>
            <a:r>
              <a:t>- Plano de Ensino MDC078 — Linguagens Formais e Autômatos, conteúdo da Unidade 1.</a:t>
            </a:r>
          </a:p>
          <a:p>
            <a:r>
              <a:t>- HOPCROFT, J.; MOTWANI, R.; ULLMAN, J. Introdução à Teoria de Autômatos, Linguagens e Computação.</a:t>
            </a:r>
          </a:p>
          <a:p>
            <a:r>
              <a:t>- MENEZES, P. B. Linguagens Formais e Autômatos.</a:t>
            </a:r>
          </a:p>
          <a:p>
            <a:r>
              <a:t>Tema do slide: DA INTUIÇÃO À FORMALIZAÇÃO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EE3B816-7CE0-D977-0E97-8EC897DBC011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796910536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324483-22F7-A4DF-0402-273E8527F7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9A8D3CE-1EF1-6838-917D-525DE11434B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3F12C14-AEBF-8B44-598C-2D4860F8B22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Sugestão didática: comece com um exemplo concreto, solicite uma hipótese da turma e só depois formalize a definição.</a:t>
            </a:r>
          </a:p>
          <a:p>
            <a:r>
              <a:t>[Sources]</a:t>
            </a:r>
          </a:p>
          <a:p>
            <a:r>
              <a:t>- Plano de Ensino MDC078 — Linguagens Formais e Autômatos, conteúdo da Unidade 1.</a:t>
            </a:r>
          </a:p>
          <a:p>
            <a:r>
              <a:t>- HOPCROFT, J.; MOTWANI, R.; ULLMAN, J. Introdução à Teoria de Autômatos, Linguagens e Computação.</a:t>
            </a:r>
          </a:p>
          <a:p>
            <a:r>
              <a:t>- MENEZES, P. B. Linguagens Formais e Autômatos.</a:t>
            </a:r>
          </a:p>
          <a:p>
            <a:r>
              <a:t>Tema do slide: DA INTUIÇÃO À FORMALIZAÇÃO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EB6740F-8A72-4F7E-E32C-C7515E002E40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361112410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BFCF2D-318E-CD1A-1662-92606F3579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2539484-6AC3-010B-1A92-80F0F00776C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22CB934-7722-B330-CAA6-DF0C6A5AE98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Sugestão didática: comece com um exemplo concreto, solicite uma hipótese da turma e só depois formalize a definição.</a:t>
            </a:r>
          </a:p>
          <a:p>
            <a:r>
              <a:t>[Sources]</a:t>
            </a:r>
          </a:p>
          <a:p>
            <a:r>
              <a:t>- Plano de Ensino MDC078 — Linguagens Formais e Autômatos, conteúdo da Unidade 1.</a:t>
            </a:r>
          </a:p>
          <a:p>
            <a:r>
              <a:t>- HOPCROFT, J.; MOTWANI, R.; ULLMAN, J. Introdução à Teoria de Autômatos, Linguagens e Computação.</a:t>
            </a:r>
          </a:p>
          <a:p>
            <a:r>
              <a:t>- MENEZES, P. B. Linguagens Formais e Autômatos.</a:t>
            </a:r>
          </a:p>
          <a:p>
            <a:r>
              <a:t>Tema do slide: DA INTUIÇÃO À FORMALIZAÇÃO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4E69665-6551-1AC2-83AB-9BA94D6B4E7E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057599995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8EF28F-A97E-C7A4-10AA-05A678D26B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C4CBF3C-2815-A10F-6A69-DD5C93CD1C8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6DE1BF5-8229-6754-957C-023B3D1A428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Sugestão didática: comece com um exemplo concreto, solicite uma hipótese da turma e só depois formalize a definição.</a:t>
            </a:r>
          </a:p>
          <a:p>
            <a:r>
              <a:t>[Sources]</a:t>
            </a:r>
          </a:p>
          <a:p>
            <a:r>
              <a:t>- Plano de Ensino MDC078 — Linguagens Formais e Autômatos, conteúdo da Unidade 1.</a:t>
            </a:r>
          </a:p>
          <a:p>
            <a:r>
              <a:t>- HOPCROFT, J.; MOTWANI, R.; ULLMAN, J. Introdução à Teoria de Autômatos, Linguagens e Computação.</a:t>
            </a:r>
          </a:p>
          <a:p>
            <a:r>
              <a:t>- MENEZES, P. B. Linguagens Formais e Autômatos.</a:t>
            </a:r>
          </a:p>
          <a:p>
            <a:r>
              <a:t>Tema do slide: DA INTUIÇÃO À FORMALIZAÇÃO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AB2AA3B-D0BE-228C-B8B9-FF502148EBE5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57003469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Sugestão didática: comece com um exemplo concreto, solicite uma hipótese da turma e só depois formalize a definição.</a:t>
            </a:r>
          </a:p>
          <a:p>
            <a:r>
              <a:t>[Sources]</a:t>
            </a:r>
          </a:p>
          <a:p>
            <a:r>
              <a:t>- Plano de Ensino MDC078 — Linguagens Formais e Autômatos, conteúdo da Unidade 1.</a:t>
            </a:r>
          </a:p>
          <a:p>
            <a:r>
              <a:t>- HOPCROFT, J.; MOTWANI, R.; ULLMAN, J. Introdução à Teoria de Autômatos, Linguagens e Computação.</a:t>
            </a:r>
          </a:p>
          <a:p>
            <a:r>
              <a:t>- MENEZES, P. B. Linguagens Formais e Autômatos.</a:t>
            </a:r>
          </a:p>
          <a:p>
            <a:r>
              <a:t>Tema do slide: Por que estudar linguagens formais?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Sugestão didática: comece com um exemplo concreto, solicite uma hipótese da turma e só depois formalize a definição.</a:t>
            </a:r>
          </a:p>
          <a:p>
            <a:r>
              <a:t>[Sources]</a:t>
            </a:r>
          </a:p>
          <a:p>
            <a:r>
              <a:t>- Plano de Ensino MDC078 — Linguagens Formais e Autômatos, conteúdo da Unidade 1.</a:t>
            </a:r>
          </a:p>
          <a:p>
            <a:r>
              <a:t>- HOPCROFT, J.; MOTWANI, R.; ULLMAN, J. Introdução à Teoria de Autômatos, Linguagens e Computação.</a:t>
            </a:r>
          </a:p>
          <a:p>
            <a:r>
              <a:t>- MENEZES, P. B. Linguagens Formais e Autômatos.</a:t>
            </a:r>
          </a:p>
          <a:p>
            <a:r>
              <a:t>Tema do slide: Símbolos formam palavras; palavras formam linguagens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Sugestão didática: comece com um exemplo concreto, solicite uma hipótese da turma e só depois formalize a definição.</a:t>
            </a:r>
          </a:p>
          <a:p>
            <a:r>
              <a:t>[Sources]</a:t>
            </a:r>
          </a:p>
          <a:p>
            <a:r>
              <a:t>- Plano de Ensino MDC078 — Linguagens Formais e Autômatos, conteúdo da Unidade 1.</a:t>
            </a:r>
          </a:p>
          <a:p>
            <a:r>
              <a:t>- HOPCROFT, J.; MOTWANI, R.; ULLMAN, J. Introdução à Teoria de Autômatos, Linguagens e Computação.</a:t>
            </a:r>
          </a:p>
          <a:p>
            <a:r>
              <a:t>- MENEZES, P. B. Linguagens Formais e Autômatos.</a:t>
            </a:r>
          </a:p>
          <a:p>
            <a:r>
              <a:t>Tema do slide: Conjuntos fundamentais de palavras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Sugestão didática: comece com um exemplo concreto, solicite uma hipótese da turma e só depois formalize a definição.</a:t>
            </a:r>
          </a:p>
          <a:p>
            <a:r>
              <a:t>[Sources]</a:t>
            </a:r>
          </a:p>
          <a:p>
            <a:r>
              <a:t>- Plano de Ensino MDC078 — Linguagens Formais e Autômatos, conteúdo da Unidade 1.</a:t>
            </a:r>
          </a:p>
          <a:p>
            <a:r>
              <a:t>- HOPCROFT, J.; MOTWANI, R.; ULLMAN, J. Introdução à Teoria de Autômatos, Linguagens e Computação.</a:t>
            </a:r>
          </a:p>
          <a:p>
            <a:r>
              <a:t>- MENEZES, P. B. Linguagens Formais e Autômatos.</a:t>
            </a:r>
          </a:p>
          <a:p>
            <a:r>
              <a:t>Tema do slide: Palavra vazia não é conjunto vazio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Sugestão didática: comece com um exemplo concreto, solicite uma hipótese da turma e só depois formalize a definição.</a:t>
            </a:r>
          </a:p>
          <a:p>
            <a:r>
              <a:t>[Sources]</a:t>
            </a:r>
          </a:p>
          <a:p>
            <a:r>
              <a:t>- Plano de Ensino MDC078 — Linguagens Formais e Autômatos, conteúdo da Unidade 1.</a:t>
            </a:r>
          </a:p>
          <a:p>
            <a:r>
              <a:t>- HOPCROFT, J.; MOTWANI, R.; ULLMAN, J. Introdução à Teoria de Autômatos, Linguagens e Computação.</a:t>
            </a:r>
          </a:p>
          <a:p>
            <a:r>
              <a:t>- MENEZES, P. B. Linguagens Formais e Autômatos.</a:t>
            </a:r>
          </a:p>
          <a:p>
            <a:r>
              <a:t>Tema do slide: Operações constroem novas linguagens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Sugestão didática: comece com um exemplo concreto, solicite uma hipótese da turma e só depois formalize a definição.</a:t>
            </a:r>
          </a:p>
          <a:p>
            <a:r>
              <a:t>[Sources]</a:t>
            </a:r>
          </a:p>
          <a:p>
            <a:r>
              <a:t>- Plano de Ensino MDC078 — Linguagens Formais e Autômatos, conteúdo da Unidade 1.</a:t>
            </a:r>
          </a:p>
          <a:p>
            <a:r>
              <a:t>- HOPCROFT, J.; MOTWANI, R.; ULLMAN, J. Introdução à Teoria de Autômatos, Linguagens e Computação.</a:t>
            </a:r>
          </a:p>
          <a:p>
            <a:r>
              <a:t>- MENEZES, P. B. Linguagens Formais e Autômatos.</a:t>
            </a:r>
          </a:p>
          <a:p>
            <a:r>
              <a:t>Tema do slide: Uma gramática descreve como gerar palavras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Sugestão didática: comece com um exemplo concreto, solicite uma hipótese da turma e só depois formalize a definição.</a:t>
            </a:r>
          </a:p>
          <a:p>
            <a:r>
              <a:t>[Sources]</a:t>
            </a:r>
          </a:p>
          <a:p>
            <a:r>
              <a:t>- Plano de Ensino MDC078 — Linguagens Formais e Autômatos, conteúdo da Unidade 1.</a:t>
            </a:r>
          </a:p>
          <a:p>
            <a:r>
              <a:t>- HOPCROFT, J.; MOTWANI, R.; ULLMAN, J. Introdução à Teoria de Autômatos, Linguagens e Computação.</a:t>
            </a:r>
          </a:p>
          <a:p>
            <a:r>
              <a:t>- MENEZES, P. B. Linguagens Formais e Autômatos.</a:t>
            </a:r>
          </a:p>
          <a:p>
            <a:r>
              <a:t>Tema do slide: Derivação aplica produções passo a passo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Sugestão didática: comece com um exemplo concreto, solicite uma hipótese da turma e só depois formalize a definição.</a:t>
            </a:r>
          </a:p>
          <a:p>
            <a:r>
              <a:t>[Sources]</a:t>
            </a:r>
          </a:p>
          <a:p>
            <a:r>
              <a:t>- Plano de Ensino MDC078 — Linguagens Formais e Autômatos, conteúdo da Unidade 1.</a:t>
            </a:r>
          </a:p>
          <a:p>
            <a:r>
              <a:t>- HOPCROFT, J.; MOTWANI, R.; ULLMAN, J. Introdução à Teoria de Autômatos, Linguagens e Computação.</a:t>
            </a:r>
          </a:p>
          <a:p>
            <a:r>
              <a:t>- MENEZES, P. B. Linguagens Formais e Autômatos.</a:t>
            </a:r>
          </a:p>
          <a:p>
            <a:r>
              <a:t>Tema do slide: Atividade em duplas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Sugestão didática: comece com um exemplo concreto, solicite uma hipótese da turma e só depois formalize a definição.</a:t>
            </a:r>
          </a:p>
          <a:p>
            <a:r>
              <a:t>[Sources]</a:t>
            </a:r>
          </a:p>
          <a:p>
            <a:r>
              <a:t>- Plano de Ensino MDC078 — Linguagens Formais e Autômatos, conteúdo da Unidade 1.</a:t>
            </a:r>
          </a:p>
          <a:p>
            <a:r>
              <a:t>- HOPCROFT, J.; MOTWANI, R.; ULLMAN, J. Introdução à Teoria de Autômatos, Linguagens e Computação.</a:t>
            </a:r>
          </a:p>
          <a:p>
            <a:r>
              <a:t>- MENEZES, P. B. Linguagens Formais e Autômatos.</a:t>
            </a:r>
          </a:p>
          <a:p>
            <a:r>
              <a:t>Tema do slide: Verifique sua compreensão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Sugestão didática: comece com um exemplo concreto, solicite uma hipótese da turma e só depois formalize a definição.</a:t>
            </a:r>
          </a:p>
          <a:p>
            <a:r>
              <a:t>[Sources]</a:t>
            </a:r>
          </a:p>
          <a:p>
            <a:r>
              <a:t>- Plano de Ensino MDC078 — Linguagens Formais e Autômatos, conteúdo da Unidade 1.</a:t>
            </a:r>
          </a:p>
          <a:p>
            <a:r>
              <a:t>- HOPCROFT, J.; MOTWANI, R.; ULLMAN, J. Introdução à Teoria de Autômatos, Linguagens e Computação.</a:t>
            </a:r>
          </a:p>
          <a:p>
            <a:r>
              <a:t>- MENEZES, P. B. Linguagens Formais e Autômatos.</a:t>
            </a:r>
          </a:p>
          <a:p>
            <a:r>
              <a:t>Tema do slide: VOCÊ JÁ POSSUI O VOCABULÁRIO BÁSICO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814B5CE-7A5A-9814-0F78-258C19B8615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buNone/>
              <a:defRPr sz="6000"/>
            </a:lvl1pPr>
          </a:lstStyle>
          <a:p>
            <a:r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01A9C583-6173-BF95-7E47-0EDDD46CE08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DA9086F5-01BC-465D-3052-DA22A17B0471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26C82819-6FC3-4280-AC55-FFC6A68533FE}" type="datetimeFigureOut">
              <a:t>04/08/2026</a:t>
            </a:fld>
            <a:endParaRPr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166B3039-C112-19EE-FA5D-403DA209B12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3036BD1-FF7E-4037-B9A5-8022299AEEA2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47C0F29-AD30-1875-8376-6AD56502FC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58402E8-F5CF-A2B3-61C5-CFD2DC95A40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>
              <a:buNone/>
            </a:pPr>
            <a:r>
              <a:t>Clique para editar os estilos de texto Mestres</a:t>
            </a:r>
          </a:p>
          <a:p>
            <a:pPr lvl="1">
              <a:buNone/>
            </a:pPr>
            <a:r>
              <a:t>Segundo nível</a:t>
            </a:r>
          </a:p>
          <a:p>
            <a:pPr lvl="2">
              <a:buNone/>
            </a:pPr>
            <a:r>
              <a:t>Terceiro nível</a:t>
            </a:r>
          </a:p>
          <a:p>
            <a:pPr lvl="3">
              <a:buNone/>
            </a:pPr>
            <a:r>
              <a:t>Quarto nível</a:t>
            </a:r>
          </a:p>
          <a:p>
            <a:pPr lvl="4">
              <a:buNone/>
            </a:pPr>
            <a:r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D95A8501-C202-4EBD-A1F6-013B15C26765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26C82819-6FC3-4280-AC55-FFC6A68533FE}" type="datetimeFigureOut">
              <a:t>04/08/2026</a:t>
            </a:fld>
            <a:endParaRPr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935ECF9A-994C-60F1-8DD0-3085F6035A23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3036BD1-FF7E-4037-B9A5-8022299AEEA2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58402E8-F5CF-A2B3-61C5-CFD2DC95A4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6525"/>
            <a:ext cx="10515600" cy="6160758"/>
          </a:xfrm>
        </p:spPr>
        <p:txBody>
          <a:bodyPr/>
          <a:lstStyle/>
          <a:p>
            <a:pPr lvl="0">
              <a:buNone/>
            </a:pPr>
            <a:r>
              <a:t>Clique para editar os estilos de texto Mestres</a:t>
            </a:r>
          </a:p>
          <a:p>
            <a:pPr lvl="1">
              <a:buNone/>
            </a:pPr>
            <a:r>
              <a:t>Segundo nível</a:t>
            </a:r>
          </a:p>
          <a:p>
            <a:pPr lvl="2">
              <a:buNone/>
            </a:pPr>
            <a:r>
              <a:t>Terceiro nível</a:t>
            </a:r>
          </a:p>
          <a:p>
            <a:pPr lvl="3">
              <a:buNone/>
            </a:pPr>
            <a:r>
              <a:t>Quarto nível</a:t>
            </a:r>
          </a:p>
          <a:p>
            <a:pPr lvl="4">
              <a:buNone/>
            </a:pPr>
            <a:r>
              <a:t>Quinto nível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C97EE50-328A-F91D-C640-7DB80D27A9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buNone/>
              <a:defRPr sz="6000"/>
            </a:lvl1pPr>
          </a:lstStyle>
          <a:p>
            <a:r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CD6213E8-0534-6E39-6FA9-CCE9BA0AC53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buNone/>
            </a:pPr>
            <a:r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C11632AE-3585-7D03-937C-41276E1B852E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26C82819-6FC3-4280-AC55-FFC6A68533FE}" type="datetimeFigureOut">
              <a:t>04/08/2026</a:t>
            </a:fld>
            <a:endParaRPr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5B6D08DF-883D-C905-CFC0-EC7D98FDEBA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3036BD1-FF7E-4037-B9A5-8022299AEEA2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3B355CA-FB63-30F4-70F4-8AE151AEAA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EFF615B-BA99-F900-8EA4-EA267454DB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>
              <a:buNone/>
            </a:pPr>
            <a:r>
              <a:t>Clique para editar os estilos de texto Mestres</a:t>
            </a:r>
          </a:p>
          <a:p>
            <a:pPr lvl="1">
              <a:buNone/>
            </a:pPr>
            <a:r>
              <a:t>Segundo nível</a:t>
            </a:r>
          </a:p>
          <a:p>
            <a:pPr lvl="2">
              <a:buNone/>
            </a:pPr>
            <a:r>
              <a:t>Terceiro nível</a:t>
            </a:r>
          </a:p>
          <a:p>
            <a:pPr lvl="3">
              <a:buNone/>
            </a:pPr>
            <a:r>
              <a:t>Quarto nível</a:t>
            </a:r>
          </a:p>
          <a:p>
            <a:pPr lvl="4">
              <a:buNone/>
            </a:pPr>
            <a:r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F64C1634-3D66-6739-72BA-41B14D816DA4}"/>
              </a:ext>
            </a:extLst>
          </p:cNvPr>
          <p:cNvSpPr>
            <a:spLocks noGrp="1"/>
          </p:cNvSpPr>
          <p:nvPr>
            <p:ph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>
              <a:buNone/>
            </a:pPr>
            <a:r>
              <a:t>Clique para editar os estilos de texto Mestres</a:t>
            </a:r>
          </a:p>
          <a:p>
            <a:pPr lvl="1">
              <a:buNone/>
            </a:pPr>
            <a:r>
              <a:t>Segundo nível</a:t>
            </a:r>
          </a:p>
          <a:p>
            <a:pPr lvl="2">
              <a:buNone/>
            </a:pPr>
            <a:r>
              <a:t>Terceiro nível</a:t>
            </a:r>
          </a:p>
          <a:p>
            <a:pPr lvl="3">
              <a:buNone/>
            </a:pPr>
            <a:r>
              <a:t>Quarto nível</a:t>
            </a:r>
          </a:p>
          <a:p>
            <a:pPr lvl="4">
              <a:buNone/>
            </a:pPr>
            <a:r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CEE22C7F-63E5-42E5-ECDC-7743D14AB107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26C82819-6FC3-4280-AC55-FFC6A68533FE}" type="datetimeFigureOut">
              <a:t>04/08/2026</a:t>
            </a:fld>
            <a:endParaRPr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B5F206B9-C55D-4801-FD12-9150FA6D7765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3036BD1-FF7E-4037-B9A5-8022299AEEA2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48B3BFC-8255-064E-051B-D3986DFD37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dirty="0"/>
              <a:t>Clique para </a:t>
            </a:r>
            <a:r>
              <a:rPr dirty="0" err="1"/>
              <a:t>editar</a:t>
            </a:r>
            <a:r>
              <a:rPr dirty="0"/>
              <a:t> o </a:t>
            </a:r>
            <a:r>
              <a:rPr dirty="0" err="1"/>
              <a:t>título</a:t>
            </a:r>
            <a:r>
              <a:rPr dirty="0"/>
              <a:t>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9D7C9333-7369-DEF3-4D1C-86656DBEE22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buNone/>
            </a:pPr>
            <a:r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A8BBADFF-6C86-E8F3-6A50-0B9B1565194A}"/>
              </a:ext>
            </a:extLst>
          </p:cNvPr>
          <p:cNvSpPr>
            <a:spLocks noGrp="1"/>
          </p:cNvSpPr>
          <p:nvPr>
            <p:ph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>
              <a:buNone/>
            </a:pPr>
            <a:r>
              <a:rPr dirty="0"/>
              <a:t>Clique para </a:t>
            </a:r>
            <a:r>
              <a:rPr dirty="0" err="1"/>
              <a:t>editar</a:t>
            </a:r>
            <a:r>
              <a:rPr dirty="0"/>
              <a:t> </a:t>
            </a:r>
            <a:r>
              <a:rPr dirty="0" err="1"/>
              <a:t>os</a:t>
            </a:r>
            <a:r>
              <a:rPr dirty="0"/>
              <a:t> </a:t>
            </a:r>
            <a:r>
              <a:rPr dirty="0" err="1"/>
              <a:t>estilos</a:t>
            </a:r>
            <a:r>
              <a:rPr dirty="0"/>
              <a:t> de </a:t>
            </a:r>
            <a:r>
              <a:rPr dirty="0" err="1"/>
              <a:t>texto</a:t>
            </a:r>
            <a:r>
              <a:rPr dirty="0"/>
              <a:t> Mestres</a:t>
            </a:r>
          </a:p>
          <a:p>
            <a:pPr lvl="1">
              <a:buNone/>
            </a:pPr>
            <a:r>
              <a:rPr dirty="0"/>
              <a:t>Segundo </a:t>
            </a:r>
            <a:r>
              <a:rPr dirty="0" err="1"/>
              <a:t>nível</a:t>
            </a:r>
            <a:endParaRPr dirty="0"/>
          </a:p>
          <a:p>
            <a:pPr lvl="2">
              <a:buNone/>
            </a:pPr>
            <a:r>
              <a:rPr dirty="0"/>
              <a:t>Terceiro </a:t>
            </a:r>
            <a:r>
              <a:rPr dirty="0" err="1"/>
              <a:t>nível</a:t>
            </a:r>
            <a:endParaRPr dirty="0"/>
          </a:p>
          <a:p>
            <a:pPr lvl="3">
              <a:buNone/>
            </a:pPr>
            <a:r>
              <a:rPr dirty="0"/>
              <a:t>Quarto </a:t>
            </a:r>
            <a:r>
              <a:rPr dirty="0" err="1"/>
              <a:t>nível</a:t>
            </a:r>
            <a:endParaRPr dirty="0"/>
          </a:p>
          <a:p>
            <a:pPr lvl="4">
              <a:buNone/>
            </a:pPr>
            <a:r>
              <a:rPr dirty="0"/>
              <a:t>Quinto </a:t>
            </a:r>
            <a:r>
              <a:rPr dirty="0" err="1"/>
              <a:t>nível</a:t>
            </a:r>
            <a:endParaRPr dirty="0"/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D5BAEF8E-1B92-7EC2-8549-23EED75A7C8A}"/>
              </a:ext>
            </a:extLst>
          </p:cNvPr>
          <p:cNvSpPr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buNone/>
            </a:pPr>
            <a:r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A0C96418-7A0E-6630-C5E8-A6B851BD49A0}"/>
              </a:ext>
            </a:extLst>
          </p:cNvPr>
          <p:cNvSpPr>
            <a:spLocks noGrp="1"/>
          </p:cNvSpPr>
          <p:nvPr>
            <p:ph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>
              <a:buNone/>
            </a:pPr>
            <a:r>
              <a:t>Clique para editar os estilos de texto Mestres</a:t>
            </a:r>
          </a:p>
          <a:p>
            <a:pPr lvl="1">
              <a:buNone/>
            </a:pPr>
            <a:r>
              <a:t>Segundo nível</a:t>
            </a:r>
          </a:p>
          <a:p>
            <a:pPr lvl="2">
              <a:buNone/>
            </a:pPr>
            <a:r>
              <a:t>Terceiro nível</a:t>
            </a:r>
          </a:p>
          <a:p>
            <a:pPr lvl="3">
              <a:buNone/>
            </a:pPr>
            <a:r>
              <a:t>Quarto nível</a:t>
            </a:r>
          </a:p>
          <a:p>
            <a:pPr lvl="4">
              <a:buNone/>
            </a:pPr>
            <a:r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65CE5D04-849B-F661-A994-C4C2B2B2CAEF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26C82819-6FC3-4280-AC55-FFC6A68533FE}" type="datetimeFigureOut">
              <a:t>04/08/2026</a:t>
            </a:fld>
            <a:endParaRPr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F9B5EC5A-26DC-8377-B38E-AE97284804F7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3036BD1-FF7E-4037-B9A5-8022299AEEA2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03E656F-7BE9-1F72-662D-E58FD8FBCB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C5E02D3C-E215-64E7-1F41-0D76168EB6CB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26C82819-6FC3-4280-AC55-FFC6A68533FE}" type="datetimeFigureOut">
              <a:t>04/08/2026</a:t>
            </a:fld>
            <a:endParaRPr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60A9F1EF-1A9F-C4D0-5927-AFB575A88E0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3036BD1-FF7E-4037-B9A5-8022299AEEA2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C4318FC6-7C1D-D688-5F30-E5E26E2FFCD9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26C82819-6FC3-4280-AC55-FFC6A68533FE}" type="datetimeFigureOut">
              <a:t>04/08/2026</a:t>
            </a:fld>
            <a:endParaRPr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983F02FF-9EE3-0EC1-1449-65DD68DE12E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3036BD1-FF7E-4037-B9A5-8022299AEEA2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E6EBE8A-8442-D77C-AEB0-BF072627F4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buNone/>
              <a:defRPr sz="3200"/>
            </a:lvl1pPr>
          </a:lstStyle>
          <a:p>
            <a:r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C563D51-DE81-CFC8-2358-0CF9D80CA7B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>
            <a:pPr lvl="0">
              <a:buNone/>
            </a:pPr>
            <a:r>
              <a:t>Clique para editar os estilos de texto Mestres</a:t>
            </a:r>
          </a:p>
          <a:p>
            <a:pPr lvl="1">
              <a:buNone/>
            </a:pPr>
            <a:r>
              <a:t>Segundo nível</a:t>
            </a:r>
          </a:p>
          <a:p>
            <a:pPr lvl="2">
              <a:buNone/>
            </a:pPr>
            <a:r>
              <a:t>Terceiro nível</a:t>
            </a:r>
          </a:p>
          <a:p>
            <a:pPr lvl="3">
              <a:buNone/>
            </a:pPr>
            <a:r>
              <a:t>Quarto nível</a:t>
            </a:r>
          </a:p>
          <a:p>
            <a:pPr lvl="4">
              <a:buNone/>
            </a:pPr>
            <a:r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BD8A28A5-AA18-8463-0E51-95056D42E02E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buNone/>
            </a:pPr>
            <a:r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D4E73351-8A6E-BEFC-DA86-E29E3189204B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26C82819-6FC3-4280-AC55-FFC6A68533FE}" type="datetimeFigureOut">
              <a:t>04/08/2026</a:t>
            </a:fld>
            <a:endParaRPr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BD927B29-10A9-C839-E4FE-D3057536F817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3036BD1-FF7E-4037-B9A5-8022299AEEA2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7CA6643-FFE7-7DF7-3AA2-55557C9153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buNone/>
              <a:defRPr sz="3200"/>
            </a:lvl1pPr>
          </a:lstStyle>
          <a:p>
            <a:r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673A501C-D732-0D81-3970-91789718114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5E930562-0522-19A7-C079-A9AF96704D5C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buNone/>
            </a:pPr>
            <a:r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04EF7EC8-2934-CA8A-973C-7F4CB7DE2AB7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26C82819-6FC3-4280-AC55-FFC6A68533FE}" type="datetimeFigureOut">
              <a:t>04/08/2026</a:t>
            </a:fld>
            <a:endParaRPr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13A8B4B5-3E27-8114-ACD9-8021DF2017C3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3036BD1-FF7E-4037-B9A5-8022299AEEA2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0E198B9-6A4E-EC8B-AA8B-DC94D31DDE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17A159CA-866E-F47F-497B-E1772A0B440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vert="eaVert"/>
          <a:lstStyle/>
          <a:p>
            <a:pPr lvl="0">
              <a:buNone/>
            </a:pPr>
            <a:r>
              <a:t>Clique para editar os estilos de texto Mestres</a:t>
            </a:r>
          </a:p>
          <a:p>
            <a:pPr lvl="1">
              <a:buNone/>
            </a:pPr>
            <a:r>
              <a:t>Segundo nível</a:t>
            </a:r>
          </a:p>
          <a:p>
            <a:pPr lvl="2">
              <a:buNone/>
            </a:pPr>
            <a:r>
              <a:t>Terceiro nível</a:t>
            </a:r>
          </a:p>
          <a:p>
            <a:pPr lvl="3">
              <a:buNone/>
            </a:pPr>
            <a:r>
              <a:t>Quarto nível</a:t>
            </a:r>
          </a:p>
          <a:p>
            <a:pPr lvl="4">
              <a:buNone/>
            </a:pPr>
            <a:r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C0D392C6-D60B-48FE-6B3A-5F0F48982E5E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26C82819-6FC3-4280-AC55-FFC6A68533FE}" type="datetimeFigureOut">
              <a:t>04/08/2026</a:t>
            </a:fld>
            <a:endParaRPr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FEDC36AB-0D5C-DC1F-C29B-A584112D1762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3036BD1-FF7E-4037-B9A5-8022299AEEA2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10507485-77E3-A62A-8C7B-9D78F9A258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D9887C70-DCF1-2183-5C58-4FD47562B02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>
              <a:buNone/>
            </a:pPr>
            <a:r>
              <a:t>Clique para editar os estilos de texto Mestres</a:t>
            </a:r>
          </a:p>
          <a:p>
            <a:pPr lvl="1">
              <a:buNone/>
            </a:pPr>
            <a:r>
              <a:t>Segundo nível</a:t>
            </a:r>
          </a:p>
          <a:p>
            <a:pPr lvl="2">
              <a:buNone/>
            </a:pPr>
            <a:r>
              <a:t>Terceiro nível</a:t>
            </a:r>
          </a:p>
          <a:p>
            <a:pPr lvl="3">
              <a:buNone/>
            </a:pPr>
            <a:r>
              <a:t>Quarto nível</a:t>
            </a:r>
          </a:p>
          <a:p>
            <a:pPr lvl="4">
              <a:buNone/>
            </a:pPr>
            <a:r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BA21A076-00AD-2B15-3AA5-E068C8652196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26C82819-6FC3-4280-AC55-FFC6A68533FE}" type="datetimeFigureOut">
              <a:t>04/08/2026</a:t>
            </a:fld>
            <a:endParaRPr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CD1C2203-BA85-B738-4455-EBEBA1FA9B9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3036BD1-FF7E-4037-B9A5-8022299AEEA2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yout Personalizado">
    <p:bg>
      <p:bgPr>
        <a:solidFill>
          <a:srgbClr val="D13F3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ext Box 1">
            <a:extLst>
              <a:ext uri="{FF2B5EF4-FFF2-40B4-BE49-F238E27FC236}">
                <a16:creationId xmlns:a16="http://schemas.microsoft.com/office/drawing/2014/main" id="{9A4D33E9-5862-EB06-8547-DDD69CB4B324}"/>
              </a:ext>
            </a:extLst>
          </p:cNvPr>
          <p:cNvSpPr>
            <a:spLocks noGrp="1"/>
          </p:cNvSpPr>
          <p:nvPr/>
        </p:nvSpPr>
        <p:spPr>
          <a:xfrm>
            <a:off x="-2" y="2946012"/>
            <a:ext cx="12192000" cy="1298575"/>
          </a:xfrm>
          <a:prstGeom prst="rect">
            <a:avLst/>
          </a:prstGeom>
          <a:solidFill>
            <a:sysClr val="window" lastClr="FFFFFF"/>
          </a:solidFill>
          <a:ln>
            <a:noFill/>
          </a:ln>
        </p:spPr>
        <p:txBody>
          <a:bodyPr anchor="ctr"/>
          <a:lstStyle>
            <a:lvl1pPr>
              <a:buNone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>
              <a:buNone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>
              <a:buNone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>
              <a:buNone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>
              <a:buNone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marL="2514600" indent="-228600" defTabSz="449263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/>
              <a:buNone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marL="2971800" indent="-228600" defTabSz="449263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/>
              <a:buNone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marL="3429000" indent="-228600" defTabSz="449263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/>
              <a:buNone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marL="3886200" indent="-228600" defTabSz="449263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/>
              <a:buNone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endParaRPr/>
          </a:p>
        </p:txBody>
      </p:sp>
      <p:sp>
        <p:nvSpPr>
          <p:cNvPr id="20" name="Rectangle 2">
            <a:extLst>
              <a:ext uri="{FF2B5EF4-FFF2-40B4-BE49-F238E27FC236}">
                <a16:creationId xmlns:a16="http://schemas.microsoft.com/office/drawing/2014/main" id="{40B59A00-CEA4-A348-E141-8D6F5A583A91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</p:spPr>
        <p:txBody>
          <a:bodyPr vert="horz" wrap="none" lIns="91440" tIns="45720" rIns="91440" bIns="45720" anchor="ctr">
            <a:spAutoFit/>
          </a:bodyPr>
          <a:lstStyle/>
          <a:p>
            <a:endParaRPr/>
          </a:p>
        </p:txBody>
      </p:sp>
      <p:pic>
        <p:nvPicPr>
          <p:cNvPr id="30" name="Picture 1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5417964" y="1309382"/>
            <a:ext cx="1356067" cy="1356067"/>
          </a:xfrm>
          <a:prstGeom prst="rect">
            <a:avLst/>
          </a:prstGeom>
          <a:ln w="25400">
            <a:solidFill>
              <a:sysClr val="window" lastClr="FFFFFF"/>
            </a:solidFill>
          </a:ln>
          <a:effectLst>
            <a:softEdge rad="0"/>
          </a:effectLst>
        </p:spPr>
      </p:pic>
      <p:sp>
        <p:nvSpPr>
          <p:cNvPr id="22" name="Rectangle 3">
            <a:extLst>
              <a:ext uri="{FF2B5EF4-FFF2-40B4-BE49-F238E27FC236}">
                <a16:creationId xmlns:a16="http://schemas.microsoft.com/office/drawing/2014/main" id="{FAEF6B9D-50CF-4A40-9521-EC5BB30BE0CC}"/>
              </a:ext>
            </a:extLst>
          </p:cNvPr>
          <p:cNvSpPr>
            <a:spLocks noGrp="1"/>
          </p:cNvSpPr>
          <p:nvPr/>
        </p:nvSpPr>
        <p:spPr>
          <a:xfrm>
            <a:off x="1" y="-11465"/>
            <a:ext cx="12191999" cy="1077218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ctr">
            <a:spAutoFit/>
          </a:bodyPr>
          <a:lstStyle>
            <a:lvl1pPr indent="269875"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  <a:lvl2pPr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2pPr>
            <a:lvl3pPr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3pPr>
            <a:lvl4pPr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4pPr>
            <a:lvl5pPr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5pPr>
            <a:lvl6pPr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6pPr>
            <a:lvl7pPr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7pPr>
            <a:lvl8pPr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8pPr>
            <a:lvl9pPr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buNone/>
            </a:pPr>
            <a:r>
              <a:rPr sz="3200" b="1">
                <a:solidFill>
                  <a:prstClr val="white"/>
                </a:solidFill>
                <a:latin typeface="Century Gothic"/>
                <a:ea typeface="Century Gothic"/>
                <a:cs typeface="Century Gothic"/>
              </a:rPr>
              <a:t>CENTRO UNIVERSITÁRIO </a:t>
            </a:r>
          </a:p>
          <a:p>
            <a:pPr algn="ctr">
              <a:buNone/>
            </a:pPr>
            <a:r>
              <a:rPr sz="3200" b="1">
                <a:solidFill>
                  <a:prstClr val="white"/>
                </a:solidFill>
                <a:latin typeface="Century Gothic"/>
                <a:ea typeface="Century Gothic"/>
                <a:cs typeface="Century Gothic"/>
              </a:rPr>
              <a:t>INSTITUTO DE EDUCAÇÃO SUPERIOR DE BRASÍLIA – IESB</a:t>
            </a:r>
          </a:p>
        </p:txBody>
      </p:sp>
      <p:sp>
        <p:nvSpPr>
          <p:cNvPr id="24" name="Conector reto 23">
            <a:extLst>
              <a:ext uri="{FF2B5EF4-FFF2-40B4-BE49-F238E27FC236}">
                <a16:creationId xmlns:a16="http://schemas.microsoft.com/office/drawing/2014/main" id="{D3B7CA86-8F1C-4AC9-A632-74A0E638965A}"/>
              </a:ext>
            </a:extLst>
          </p:cNvPr>
          <p:cNvSpPr>
            <a:spLocks noGrp="1"/>
          </p:cNvSpPr>
          <p:nvPr/>
        </p:nvSpPr>
        <p:spPr>
          <a:xfrm flipV="1">
            <a:off x="0" y="2970402"/>
            <a:ext cx="12192000" cy="14068"/>
          </a:xfrm>
          <a:prstGeom prst="line">
            <a:avLst/>
          </a:prstGeom>
          <a:noFill/>
          <a:ln w="25400">
            <a:solidFill>
              <a:srgbClr val="FF0000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5" name="Conector reto 24">
            <a:extLst>
              <a:ext uri="{FF2B5EF4-FFF2-40B4-BE49-F238E27FC236}">
                <a16:creationId xmlns:a16="http://schemas.microsoft.com/office/drawing/2014/main" id="{D5A8EAFF-880E-4B5C-9F49-24FADDD1B144}"/>
              </a:ext>
            </a:extLst>
          </p:cNvPr>
          <p:cNvSpPr>
            <a:spLocks noGrp="1"/>
          </p:cNvSpPr>
          <p:nvPr/>
        </p:nvSpPr>
        <p:spPr>
          <a:xfrm flipV="1">
            <a:off x="19050" y="4216091"/>
            <a:ext cx="12172950" cy="3987"/>
          </a:xfrm>
          <a:prstGeom prst="line">
            <a:avLst/>
          </a:prstGeom>
          <a:noFill/>
          <a:ln w="25400">
            <a:solidFill>
              <a:srgbClr val="FF0000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6" name="Retângulo 25">
            <a:extLst>
              <a:ext uri="{FF2B5EF4-FFF2-40B4-BE49-F238E27FC236}">
                <a16:creationId xmlns:a16="http://schemas.microsoft.com/office/drawing/2014/main" id="{8C7516D3-D752-E99F-B46A-AA9F0E5211FE}"/>
              </a:ext>
            </a:extLst>
          </p:cNvPr>
          <p:cNvSpPr>
            <a:spLocks noGrp="1"/>
          </p:cNvSpPr>
          <p:nvPr/>
        </p:nvSpPr>
        <p:spPr>
          <a:xfrm>
            <a:off x="3888509" y="6236493"/>
            <a:ext cx="4396509" cy="621507"/>
          </a:xfrm>
          <a:prstGeom prst="rect">
            <a:avLst/>
          </a:prstGeom>
          <a:solidFill>
            <a:srgbClr val="D13F3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7" name="Espaço Reservado para Texto 6">
            <a:extLst>
              <a:ext uri="{FF2B5EF4-FFF2-40B4-BE49-F238E27FC236}">
                <a16:creationId xmlns:a16="http://schemas.microsoft.com/office/drawing/2014/main" id="{C94BA787-F3F0-6A10-2030-D63E12228529}"/>
              </a:ext>
            </a:extLst>
          </p:cNvPr>
          <p:cNvSpPr>
            <a:spLocks noGrp="1"/>
          </p:cNvSpPr>
          <p:nvPr>
            <p:ph type="body" idx="10" hasCustomPrompt="1"/>
          </p:nvPr>
        </p:nvSpPr>
        <p:spPr>
          <a:xfrm>
            <a:off x="146649" y="3087688"/>
            <a:ext cx="11895825" cy="920750"/>
          </a:xfrm>
        </p:spPr>
        <p:txBody>
          <a:bodyPr>
            <a:normAutofit/>
          </a:bodyPr>
          <a:lstStyle>
            <a:lvl1pPr marL="0" indent="0" algn="ctr">
              <a:buNone/>
              <a:defRPr sz="6000"/>
            </a:lvl1pPr>
          </a:lstStyle>
          <a:p>
            <a:pPr lvl="0">
              <a:buNone/>
            </a:pPr>
            <a:r>
              <a:t>Título da disciplina</a:t>
            </a:r>
          </a:p>
        </p:txBody>
      </p:sp>
      <p:sp>
        <p:nvSpPr>
          <p:cNvPr id="9" name="Espaço Reservado para Texto 8">
            <a:extLst>
              <a:ext uri="{FF2B5EF4-FFF2-40B4-BE49-F238E27FC236}">
                <a16:creationId xmlns:a16="http://schemas.microsoft.com/office/drawing/2014/main" id="{4C0AC60C-4BBE-FDA9-57B4-1376B7BB81F8}"/>
              </a:ext>
            </a:extLst>
          </p:cNvPr>
          <p:cNvSpPr>
            <a:spLocks noGrp="1"/>
          </p:cNvSpPr>
          <p:nvPr>
            <p:ph type="body" idx="11" hasCustomPrompt="1"/>
          </p:nvPr>
        </p:nvSpPr>
        <p:spPr>
          <a:xfrm>
            <a:off x="2633662" y="5028361"/>
            <a:ext cx="6945313" cy="1001713"/>
          </a:xfrm>
        </p:spPr>
        <p:txBody>
          <a:bodyPr>
            <a:normAutofit/>
          </a:bodyPr>
          <a:lstStyle>
            <a:lvl1pPr marL="0" indent="0" algn="ctr">
              <a:buNone/>
              <a:defRPr sz="4000">
                <a:solidFill>
                  <a:schemeClr val="bg1"/>
                </a:solidFill>
              </a:defRPr>
            </a:lvl1pPr>
          </a:lstStyle>
          <a:p>
            <a:pPr lvl="0">
              <a:buNone/>
            </a:pPr>
            <a:r>
              <a:t>Nome do professor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jpe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85E94D09-6762-AA9E-87A1-AD30975EE4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anchor="ctr">
            <a:normAutofit/>
          </a:bodyPr>
          <a:lstStyle/>
          <a:p>
            <a:r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37691D22-60BF-2502-06F3-41EF6F07614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>
            <a:normAutofit/>
          </a:bodyPr>
          <a:lstStyle/>
          <a:p>
            <a:pPr lvl="0">
              <a:buNone/>
            </a:pPr>
            <a:r>
              <a:t>Clique para editar os estilos de texto Mestres</a:t>
            </a:r>
          </a:p>
          <a:p>
            <a:pPr lvl="1">
              <a:buNone/>
            </a:pPr>
            <a:r>
              <a:t>Segundo nível</a:t>
            </a:r>
          </a:p>
          <a:p>
            <a:pPr lvl="2">
              <a:buNone/>
            </a:pPr>
            <a:r>
              <a:t>Terceiro nível</a:t>
            </a:r>
          </a:p>
          <a:p>
            <a:pPr lvl="3">
              <a:buNone/>
            </a:pPr>
            <a:r>
              <a:t>Quarto nível</a:t>
            </a:r>
          </a:p>
          <a:p>
            <a:pPr lvl="4">
              <a:buNone/>
            </a:pPr>
            <a:r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F13E3DB3-6CD2-9B4D-A663-D3A494872306}"/>
              </a:ext>
            </a:extLst>
          </p:cNvPr>
          <p:cNvSpPr>
            <a:spLocks noGrp="1"/>
          </p:cNvSpPr>
          <p:nvPr>
            <p:ph type="dt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6C82819-6FC3-4280-AC55-FFC6A68533FE}" type="datetimeFigureOut">
              <a:t>04/08/2026</a:t>
            </a:fld>
            <a:endParaRPr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EA57F59B-290A-F04F-8ABE-23CDD1766DA2}"/>
              </a:ext>
            </a:extLst>
          </p:cNvPr>
          <p:cNvSpPr>
            <a:spLocks noGrp="1"/>
          </p:cNvSpPr>
          <p:nvPr>
            <p:ph type="sldNum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3036BD1-FF7E-4037-B9A5-8022299AEEA2}" type="slidenum">
              <a:t>‹nº›</a:t>
            </a:fld>
            <a:endParaRPr/>
          </a:p>
        </p:txBody>
      </p:sp>
      <p:sp>
        <p:nvSpPr>
          <p:cNvPr id="8" name="Conector reto 7">
            <a:extLst>
              <a:ext uri="{FF2B5EF4-FFF2-40B4-BE49-F238E27FC236}">
                <a16:creationId xmlns:a16="http://schemas.microsoft.com/office/drawing/2014/main" id="{1379CDFD-8A5D-4B9F-B572-CBE11D332BF1}"/>
              </a:ext>
            </a:extLst>
          </p:cNvPr>
          <p:cNvSpPr>
            <a:spLocks noGrp="1"/>
          </p:cNvSpPr>
          <p:nvPr/>
        </p:nvSpPr>
        <p:spPr>
          <a:xfrm>
            <a:off x="4761781" y="6356350"/>
            <a:ext cx="2510287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pt-BR"/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FD2A0676-C749-F90A-4324-FCA23AC7F319}"/>
              </a:ext>
            </a:extLst>
          </p:cNvPr>
          <p:cNvSpPr>
            <a:spLocks noGrp="1"/>
          </p:cNvSpPr>
          <p:nvPr/>
        </p:nvSpPr>
        <p:spPr>
          <a:xfrm>
            <a:off x="4761781" y="6451898"/>
            <a:ext cx="251028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pt-BR" sz="1400" dirty="0"/>
              <a:t>murillo.souza@iesb.br</a:t>
            </a:r>
            <a:endParaRPr sz="1400" dirty="0"/>
          </a:p>
        </p:txBody>
      </p:sp>
      <p:pic>
        <p:nvPicPr>
          <p:cNvPr id="17" name="Picture 1"/>
          <p:cNvPicPr>
            <a:picLocks noChangeAspect="1"/>
          </p:cNvPicPr>
          <p:nvPr/>
        </p:nvPicPr>
        <p:blipFill>
          <a:blip r:embed="rId15">
            <a:biLevel thresh="50000"/>
          </a:blip>
          <a:srcRect/>
          <a:stretch>
            <a:fillRect/>
          </a:stretch>
        </p:blipFill>
        <p:spPr>
          <a:xfrm>
            <a:off x="70110" y="65450"/>
            <a:ext cx="360000" cy="360000"/>
          </a:xfrm>
          <a:prstGeom prst="rect">
            <a:avLst/>
          </a:prstGeom>
          <a:ln w="25400">
            <a:solidFill>
              <a:sysClr val="window" lastClr="FFFFFF"/>
            </a:solidFill>
          </a:ln>
          <a:effectLst>
            <a:softEdge rad="0"/>
          </a:effec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txStyles>
    <p:titleStyle>
      <a:lvl1pPr algn="l" defTabSz="914400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murilloed/murilloed.github.io" TargetMode="Externa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4.png"/><Relationship Id="rId4" Type="http://schemas.openxmlformats.org/officeDocument/2006/relationships/image" Target="../media/image3.jpe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gif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8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4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4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4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4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4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murilloed/linguagens_formais_e_automatos/tree/main" TargetMode="External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4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4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4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5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5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5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exto 1">
            <a:extLst>
              <a:ext uri="{FF2B5EF4-FFF2-40B4-BE49-F238E27FC236}">
                <a16:creationId xmlns:a16="http://schemas.microsoft.com/office/drawing/2014/main" id="{9A7FFB30-02C4-E94D-1B6B-BF88FC7266B8}"/>
              </a:ext>
            </a:extLst>
          </p:cNvPr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r>
              <a:rPr dirty="0" err="1"/>
              <a:t>Linguagens</a:t>
            </a:r>
            <a:r>
              <a:rPr dirty="0"/>
              <a:t> </a:t>
            </a:r>
            <a:r>
              <a:rPr dirty="0" err="1"/>
              <a:t>Formais</a:t>
            </a:r>
            <a:r>
              <a:rPr dirty="0"/>
              <a:t> e </a:t>
            </a:r>
            <a:r>
              <a:rPr dirty="0" err="1"/>
              <a:t>Autômatos</a:t>
            </a:r>
            <a:endParaRPr dirty="0"/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E0020FB1-AA46-6502-C116-17380535F514}"/>
              </a:ext>
            </a:extLst>
          </p:cNvPr>
          <p:cNvSpPr>
            <a:spLocks noGrp="1"/>
          </p:cNvSpPr>
          <p:nvPr>
            <p:ph type="body" idx="11"/>
          </p:nvPr>
        </p:nvSpPr>
        <p:spPr/>
        <p:txBody>
          <a:bodyPr>
            <a:normAutofit fontScale="85000" lnSpcReduction="20000"/>
          </a:bodyPr>
          <a:lstStyle/>
          <a:p>
            <a:r>
              <a:rPr dirty="0" err="1"/>
              <a:t>Unidade</a:t>
            </a:r>
            <a:r>
              <a:rPr dirty="0"/>
              <a:t> I • </a:t>
            </a:r>
            <a:r>
              <a:rPr dirty="0" err="1"/>
              <a:t>Conceitos</a:t>
            </a:r>
            <a:r>
              <a:rPr dirty="0"/>
              <a:t> </a:t>
            </a:r>
            <a:r>
              <a:rPr dirty="0" err="1"/>
              <a:t>básicos</a:t>
            </a:r>
            <a:endParaRPr dirty="0"/>
          </a:p>
          <a:p>
            <a:r>
              <a:rPr lang="pt-BR" dirty="0"/>
              <a:t>Prof. Dr. Murillo Carvalho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29719163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ítulo 1">
            <a:extLst>
              <a:ext uri="{FF2B5EF4-FFF2-40B4-BE49-F238E27FC236}">
                <a16:creationId xmlns:a16="http://schemas.microsoft.com/office/drawing/2014/main" id="{C6A4222C-6282-6CBB-C432-D096C8AEEF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4717" y="991182"/>
            <a:ext cx="4916214" cy="1325563"/>
          </a:xfrm>
        </p:spPr>
        <p:txBody>
          <a:bodyPr>
            <a:normAutofit/>
          </a:bodyPr>
          <a:lstStyle/>
          <a:p>
            <a:r>
              <a:rPr lang="pt-BR" sz="3600" b="1" dirty="0"/>
              <a:t>Informação do Professor: </a:t>
            </a:r>
          </a:p>
        </p:txBody>
      </p:sp>
      <p:sp>
        <p:nvSpPr>
          <p:cNvPr id="9" name="Espaço Reservado para Conteúdo 2">
            <a:extLst>
              <a:ext uri="{FF2B5EF4-FFF2-40B4-BE49-F238E27FC236}">
                <a16:creationId xmlns:a16="http://schemas.microsoft.com/office/drawing/2014/main" id="{BE14D380-4631-ECC5-4D5C-9C78178086EC}"/>
              </a:ext>
            </a:extLst>
          </p:cNvPr>
          <p:cNvSpPr txBox="1">
            <a:spLocks/>
          </p:cNvSpPr>
          <p:nvPr/>
        </p:nvSpPr>
        <p:spPr>
          <a:xfrm>
            <a:off x="2747470" y="2848533"/>
            <a:ext cx="4248150" cy="1512264"/>
          </a:xfrm>
          <a:prstGeom prst="rect">
            <a:avLst/>
          </a:prstGeom>
        </p:spPr>
        <p:txBody>
          <a:bodyPr vert="horz" lIns="91440" tIns="45720" rIns="91440" bIns="45720">
            <a:normAutofit/>
          </a:bodyPr>
          <a:lstStyle>
            <a:lvl1pPr marL="0" indent="0" algn="l" defTabSz="914400">
              <a:lnSpc>
                <a:spcPct val="90000"/>
              </a:lnSpc>
              <a:spcBef>
                <a:spcPts val="1000"/>
              </a:spcBef>
              <a:buFont typeface="Arial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lt"/>
                <a:cs typeface="+mn-lt"/>
              </a:defRPr>
            </a:lvl1pPr>
            <a:lvl2pPr marL="457200" indent="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lt"/>
                <a:cs typeface="+mn-lt"/>
              </a:defRPr>
            </a:lvl2pPr>
            <a:lvl3pPr marL="914400" indent="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lt"/>
                <a:cs typeface="+mn-lt"/>
              </a:defRPr>
            </a:lvl3pPr>
            <a:lvl4pPr marL="1371600" indent="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lt"/>
                <a:cs typeface="+mn-lt"/>
              </a:defRPr>
            </a:lvl4pPr>
            <a:lvl5pPr marL="1828800" indent="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lt"/>
                <a:cs typeface="+mn-lt"/>
              </a:defRPr>
            </a:lvl5pPr>
            <a:lvl6pPr marL="2286000" indent="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lt"/>
                <a:cs typeface="+mn-lt"/>
              </a:defRPr>
            </a:lvl6pPr>
            <a:lvl7pPr marL="2743200" indent="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lt"/>
                <a:cs typeface="+mn-lt"/>
              </a:defRPr>
            </a:lvl7pPr>
            <a:lvl8pPr marL="3200400" indent="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lt"/>
                <a:cs typeface="+mn-lt"/>
              </a:defRPr>
            </a:lvl8pPr>
            <a:lvl9pPr marL="3657600" indent="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lt"/>
                <a:cs typeface="+mn-lt"/>
              </a:defRPr>
            </a:lvl9pPr>
          </a:lstStyle>
          <a:p>
            <a:pPr algn="just"/>
            <a:r>
              <a:rPr lang="pt-BR">
                <a:latin typeface="Calibri" panose="020F0502020204030204" pitchFamily="34" charset="0"/>
                <a:ea typeface="Calibri" panose="020F0502020204030204" pitchFamily="34" charset="0"/>
              </a:rPr>
              <a:t>Formação: </a:t>
            </a:r>
          </a:p>
          <a:p>
            <a:pPr algn="just"/>
            <a:r>
              <a:rPr lang="pt-BR" sz="2000">
                <a:latin typeface="Calibri" panose="020F0502020204030204" pitchFamily="34" charset="0"/>
                <a:ea typeface="Calibri" panose="020F0502020204030204" pitchFamily="34" charset="0"/>
              </a:rPr>
              <a:t>    1995 - atual</a:t>
            </a:r>
          </a:p>
          <a:p>
            <a:pPr algn="just"/>
            <a:endParaRPr lang="pt-BR"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pPr algn="just"/>
            <a:endParaRPr lang="pt-BR"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pPr algn="just"/>
            <a:endParaRPr lang="pt-BR"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pPr algn="just"/>
            <a:endParaRPr lang="pt-BR"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endParaRPr lang="pt-BR" dirty="0"/>
          </a:p>
        </p:txBody>
      </p:sp>
      <p:sp>
        <p:nvSpPr>
          <p:cNvPr id="10" name="Chave Esquerda 9">
            <a:extLst>
              <a:ext uri="{FF2B5EF4-FFF2-40B4-BE49-F238E27FC236}">
                <a16:creationId xmlns:a16="http://schemas.microsoft.com/office/drawing/2014/main" id="{9F27D1D4-2FFD-7C7D-030B-870A6D9DC974}"/>
              </a:ext>
            </a:extLst>
          </p:cNvPr>
          <p:cNvSpPr/>
          <p:nvPr/>
        </p:nvSpPr>
        <p:spPr>
          <a:xfrm>
            <a:off x="4691678" y="662153"/>
            <a:ext cx="2303942" cy="5396788"/>
          </a:xfrm>
          <a:prstGeom prst="lef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891833DD-3076-51A6-9137-22ACDBC3AA24}"/>
              </a:ext>
            </a:extLst>
          </p:cNvPr>
          <p:cNvSpPr txBox="1"/>
          <p:nvPr/>
        </p:nvSpPr>
        <p:spPr>
          <a:xfrm>
            <a:off x="6270183" y="721172"/>
            <a:ext cx="6093372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pt-BR" sz="1600" b="1" dirty="0"/>
              <a:t>Tecnologia da Informação / Computação</a:t>
            </a:r>
            <a:endParaRPr lang="pt-BR" sz="1600" dirty="0"/>
          </a:p>
          <a:p>
            <a:pPr>
              <a:buFont typeface="Arial" panose="020B0604020202020204" pitchFamily="34" charset="0"/>
              <a:buChar char="•"/>
            </a:pPr>
            <a:r>
              <a:rPr lang="pt-BR" sz="1600" dirty="0"/>
              <a:t>Engenharia de Software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t-BR" sz="1600" dirty="0"/>
              <a:t>Ciência da Computação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t-BR" sz="1600" dirty="0"/>
              <a:t>Ciência de Dados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t-BR" sz="1600" dirty="0"/>
              <a:t>Gestão da Tecnologia da Informação</a:t>
            </a:r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DF4622B3-A553-7863-6C40-62406D6EDE89}"/>
              </a:ext>
            </a:extLst>
          </p:cNvPr>
          <p:cNvSpPr txBox="1"/>
          <p:nvPr/>
        </p:nvSpPr>
        <p:spPr>
          <a:xfrm>
            <a:off x="6270183" y="2032042"/>
            <a:ext cx="6093372" cy="32932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pt-BR" sz="1600" b="1" dirty="0"/>
              <a:t>Engenharias / Automação</a:t>
            </a:r>
            <a:endParaRPr lang="pt-BR" sz="1600" dirty="0"/>
          </a:p>
          <a:p>
            <a:pPr>
              <a:buFont typeface="Arial" panose="020B0604020202020204" pitchFamily="34" charset="0"/>
              <a:buChar char="•"/>
            </a:pPr>
            <a:r>
              <a:rPr lang="pt-BR" sz="1600" dirty="0"/>
              <a:t>Mecatrônica Industrial</a:t>
            </a:r>
          </a:p>
          <a:p>
            <a:pPr>
              <a:buNone/>
            </a:pPr>
            <a:r>
              <a:rPr lang="pt-BR" sz="1600" b="1" dirty="0"/>
              <a:t>Ciências Exatas e Naturais</a:t>
            </a:r>
            <a:endParaRPr lang="pt-BR" sz="1600" dirty="0"/>
          </a:p>
          <a:p>
            <a:pPr>
              <a:buFont typeface="Arial" panose="020B0604020202020204" pitchFamily="34" charset="0"/>
              <a:buChar char="•"/>
            </a:pPr>
            <a:r>
              <a:rPr lang="pt-BR" sz="1600" dirty="0"/>
              <a:t>Física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t-BR" sz="1600" dirty="0"/>
              <a:t>Química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t-BR" sz="1600" dirty="0"/>
              <a:t>Matemática</a:t>
            </a:r>
          </a:p>
          <a:p>
            <a:pPr>
              <a:buNone/>
            </a:pPr>
            <a:r>
              <a:rPr lang="pt-BR" sz="1600" b="1" dirty="0"/>
              <a:t>Saúde / Qualidade de Vida</a:t>
            </a:r>
            <a:endParaRPr lang="pt-BR" sz="1600" dirty="0"/>
          </a:p>
          <a:p>
            <a:pPr>
              <a:buFont typeface="Arial" panose="020B0604020202020204" pitchFamily="34" charset="0"/>
              <a:buChar char="•"/>
            </a:pPr>
            <a:r>
              <a:rPr lang="pt-BR" sz="1600" dirty="0"/>
              <a:t>Nutrição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t-BR" sz="1600" dirty="0"/>
              <a:t>Biomedicina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t-BR" sz="1600" dirty="0"/>
              <a:t>Educação Física</a:t>
            </a:r>
          </a:p>
          <a:p>
            <a:pPr>
              <a:buNone/>
            </a:pPr>
            <a:r>
              <a:rPr lang="pt-BR" sz="1600" b="1" dirty="0"/>
              <a:t>Humanidades / Linguagens</a:t>
            </a:r>
            <a:endParaRPr lang="pt-BR" sz="1600" dirty="0"/>
          </a:p>
          <a:p>
            <a:pPr>
              <a:buFont typeface="Arial" panose="020B0604020202020204" pitchFamily="34" charset="0"/>
              <a:buChar char="•"/>
            </a:pPr>
            <a:r>
              <a:rPr lang="pt-BR" sz="1600" dirty="0"/>
              <a:t>Filosofia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t-BR" sz="1600" dirty="0"/>
              <a:t>Letras</a:t>
            </a:r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1AE22F43-B94F-5E16-9060-AD54F1B18C25}"/>
              </a:ext>
            </a:extLst>
          </p:cNvPr>
          <p:cNvSpPr txBox="1"/>
          <p:nvPr/>
        </p:nvSpPr>
        <p:spPr>
          <a:xfrm>
            <a:off x="6270183" y="5164719"/>
            <a:ext cx="6093372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pt-BR" sz="1600" b="1" dirty="0"/>
              <a:t>Comunicação / Marketing / Mídia</a:t>
            </a:r>
            <a:endParaRPr lang="pt-BR" sz="1600" dirty="0"/>
          </a:p>
          <a:p>
            <a:pPr>
              <a:buFont typeface="Arial" panose="020B0604020202020204" pitchFamily="34" charset="0"/>
              <a:buChar char="•"/>
            </a:pPr>
            <a:r>
              <a:rPr lang="pt-BR" sz="1600" dirty="0"/>
              <a:t>Comunicação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t-BR" sz="1600" dirty="0"/>
              <a:t>Publicidade e Propaganda</a:t>
            </a:r>
          </a:p>
        </p:txBody>
      </p:sp>
    </p:spTree>
    <p:extLst>
      <p:ext uri="{BB962C8B-B14F-4D97-AF65-F5344CB8AC3E}">
        <p14:creationId xmlns:p14="http://schemas.microsoft.com/office/powerpoint/2010/main" val="204352123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3F8B5E-4B68-EB73-B710-E962644C98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E607BE12-F289-ED09-2B3F-C43EB32CDBDE}"/>
              </a:ext>
            </a:extLst>
          </p:cNvPr>
          <p:cNvSpPr txBox="1">
            <a:spLocks/>
          </p:cNvSpPr>
          <p:nvPr/>
        </p:nvSpPr>
        <p:spPr>
          <a:xfrm>
            <a:off x="1164472" y="1993905"/>
            <a:ext cx="4248150" cy="55104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pt-BR" dirty="0">
                <a:latin typeface="Calibri" panose="020F0502020204030204" pitchFamily="34" charset="0"/>
                <a:ea typeface="Calibri" panose="020F0502020204030204" pitchFamily="34" charset="0"/>
              </a:rPr>
              <a:t>Pós-graduação:</a:t>
            </a:r>
          </a:p>
          <a:p>
            <a:pPr algn="just"/>
            <a:endParaRPr lang="pt-BR" dirty="0"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pPr algn="just"/>
            <a:endParaRPr lang="pt-BR" dirty="0"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pPr marL="0" indent="0" algn="just">
              <a:buFont typeface="Arial" panose="020B0604020202020204" pitchFamily="34" charset="0"/>
              <a:buNone/>
            </a:pPr>
            <a:endParaRPr lang="pt-BR" dirty="0"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pPr algn="just"/>
            <a:endParaRPr lang="pt-BR" dirty="0"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pt-BR" dirty="0"/>
          </a:p>
        </p:txBody>
      </p:sp>
      <p:sp>
        <p:nvSpPr>
          <p:cNvPr id="5" name="Chave Esquerda 4">
            <a:extLst>
              <a:ext uri="{FF2B5EF4-FFF2-40B4-BE49-F238E27FC236}">
                <a16:creationId xmlns:a16="http://schemas.microsoft.com/office/drawing/2014/main" id="{7763E6D4-AECF-AA37-24C6-397EA03C0951}"/>
              </a:ext>
            </a:extLst>
          </p:cNvPr>
          <p:cNvSpPr/>
          <p:nvPr/>
        </p:nvSpPr>
        <p:spPr>
          <a:xfrm>
            <a:off x="3778141" y="883139"/>
            <a:ext cx="2303942" cy="4747998"/>
          </a:xfrm>
          <a:prstGeom prst="lef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0A007921-010F-7D65-9020-F3B7CDAD48B7}"/>
              </a:ext>
            </a:extLst>
          </p:cNvPr>
          <p:cNvSpPr txBox="1"/>
          <p:nvPr/>
        </p:nvSpPr>
        <p:spPr>
          <a:xfrm>
            <a:off x="5135802" y="982937"/>
            <a:ext cx="6093372" cy="42780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pt-BR" sz="1600" b="1" dirty="0"/>
              <a:t>🎓 Doutorado: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t-BR" sz="1600" dirty="0"/>
              <a:t>UnB – Doutorando em Informática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t-BR" sz="1600" dirty="0"/>
              <a:t>UNR – Doutorado em Comunicação</a:t>
            </a:r>
          </a:p>
          <a:p>
            <a:pPr>
              <a:buNone/>
            </a:pPr>
            <a:endParaRPr lang="pt-BR" sz="1600" b="1" dirty="0"/>
          </a:p>
          <a:p>
            <a:pPr>
              <a:buNone/>
            </a:pPr>
            <a:r>
              <a:rPr lang="pt-BR" sz="1600" b="1" dirty="0"/>
              <a:t>🎓 Mestrado: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t-BR" sz="1600" dirty="0"/>
              <a:t>UnB – Mestrado em Informática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t-BR" sz="1600" dirty="0"/>
              <a:t>UCB – Mestrado em Comunicação</a:t>
            </a:r>
          </a:p>
          <a:p>
            <a:pPr>
              <a:buNone/>
            </a:pPr>
            <a:endParaRPr lang="pt-BR" sz="1600" b="1" dirty="0"/>
          </a:p>
          <a:p>
            <a:pPr>
              <a:buNone/>
            </a:pPr>
            <a:r>
              <a:rPr lang="pt-BR" sz="1600" b="1" dirty="0"/>
              <a:t>🎓 MBA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t-BR" sz="1600" dirty="0"/>
              <a:t>MBA em Engenharia de Software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t-BR" sz="1600" dirty="0"/>
              <a:t>MBA em Gestão de Projetos</a:t>
            </a:r>
          </a:p>
          <a:p>
            <a:pPr>
              <a:buFont typeface="Arial" panose="020B0604020202020204" pitchFamily="34" charset="0"/>
              <a:buChar char="•"/>
            </a:pPr>
            <a:endParaRPr lang="pt-BR" sz="1600" dirty="0"/>
          </a:p>
          <a:p>
            <a:pPr>
              <a:buNone/>
            </a:pPr>
            <a:r>
              <a:rPr lang="pt-BR" sz="1600" b="1" dirty="0"/>
              <a:t>🎓 Pós-graduação / Especialização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t-BR" sz="1600" dirty="0"/>
              <a:t>Especialização em Tecnologia da Informação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t-BR" sz="1600" dirty="0"/>
              <a:t>Especialização em Cloud </a:t>
            </a:r>
            <a:r>
              <a:rPr lang="pt-BR" sz="1600" dirty="0" err="1"/>
              <a:t>Computing</a:t>
            </a:r>
            <a:endParaRPr lang="pt-BR" sz="1600" dirty="0"/>
          </a:p>
          <a:p>
            <a:pPr>
              <a:buFont typeface="Arial" panose="020B0604020202020204" pitchFamily="34" charset="0"/>
              <a:buChar char="•"/>
            </a:pPr>
            <a:r>
              <a:rPr lang="pt-BR" sz="1600" dirty="0"/>
              <a:t>Especialização em Gestão Estratégica da Comunicação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t-BR" sz="1600" dirty="0"/>
              <a:t>Especialização em Gestão de Brand</a:t>
            </a:r>
          </a:p>
        </p:txBody>
      </p:sp>
    </p:spTree>
    <p:extLst>
      <p:ext uri="{BB962C8B-B14F-4D97-AF65-F5344CB8AC3E}">
        <p14:creationId xmlns:p14="http://schemas.microsoft.com/office/powerpoint/2010/main" val="361136264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382788-0FC3-E254-B2A7-06177B91BA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400D071-191C-C30E-6E58-14B514060C4B}"/>
              </a:ext>
            </a:extLst>
          </p:cNvPr>
          <p:cNvSpPr txBox="1">
            <a:spLocks/>
          </p:cNvSpPr>
          <p:nvPr/>
        </p:nvSpPr>
        <p:spPr>
          <a:xfrm>
            <a:off x="896458" y="2719117"/>
            <a:ext cx="4248150" cy="243073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pt-BR" dirty="0">
                <a:latin typeface="Calibri" panose="020F0502020204030204" pitchFamily="34" charset="0"/>
                <a:ea typeface="Calibri" panose="020F0502020204030204" pitchFamily="34" charset="0"/>
              </a:rPr>
              <a:t>Áreas de</a:t>
            </a:r>
          </a:p>
          <a:p>
            <a:pPr algn="just"/>
            <a:r>
              <a:rPr lang="pt-BR" dirty="0">
                <a:latin typeface="Calibri" panose="020F0502020204030204" pitchFamily="34" charset="0"/>
                <a:ea typeface="Calibri" panose="020F0502020204030204" pitchFamily="34" charset="0"/>
              </a:rPr>
              <a:t>Linhas de pesquisa:</a:t>
            </a:r>
          </a:p>
          <a:p>
            <a:pPr algn="just"/>
            <a:endParaRPr lang="pt-BR" dirty="0"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pPr algn="just"/>
            <a:endParaRPr lang="pt-BR" dirty="0"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pPr marL="0" indent="0" algn="just">
              <a:buFont typeface="Arial" panose="020B0604020202020204" pitchFamily="34" charset="0"/>
              <a:buNone/>
            </a:pPr>
            <a:endParaRPr lang="pt-BR" dirty="0"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pPr algn="just"/>
            <a:endParaRPr lang="pt-BR" dirty="0"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pt-BR" dirty="0"/>
          </a:p>
        </p:txBody>
      </p:sp>
      <p:sp>
        <p:nvSpPr>
          <p:cNvPr id="5" name="Chave Esquerda 4">
            <a:extLst>
              <a:ext uri="{FF2B5EF4-FFF2-40B4-BE49-F238E27FC236}">
                <a16:creationId xmlns:a16="http://schemas.microsoft.com/office/drawing/2014/main" id="{8F8923EB-A285-E7BD-A827-4923813348E7}"/>
              </a:ext>
            </a:extLst>
          </p:cNvPr>
          <p:cNvSpPr/>
          <p:nvPr/>
        </p:nvSpPr>
        <p:spPr>
          <a:xfrm>
            <a:off x="3510127" y="1608352"/>
            <a:ext cx="2303942" cy="2554545"/>
          </a:xfrm>
          <a:prstGeom prst="lef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BF5CA5C0-994D-AD87-304C-A1A4E39D6C1A}"/>
              </a:ext>
            </a:extLst>
          </p:cNvPr>
          <p:cNvSpPr txBox="1"/>
          <p:nvPr/>
        </p:nvSpPr>
        <p:spPr>
          <a:xfrm>
            <a:off x="4867788" y="1708150"/>
            <a:ext cx="6093372" cy="2554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1600" dirty="0"/>
              <a:t>Inteligência Artificial e documentação de software;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1600" dirty="0"/>
              <a:t>Manutenção de Software;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1600" dirty="0"/>
              <a:t>Bioinformática (Genética e </a:t>
            </a:r>
            <a:r>
              <a:rPr lang="pt-BR" sz="1600" dirty="0" err="1"/>
              <a:t>Algorítmos</a:t>
            </a:r>
            <a:r>
              <a:rPr lang="pt-BR" sz="1600" dirty="0"/>
              <a:t>);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1600" dirty="0"/>
              <a:t>Estudos da </a:t>
            </a:r>
            <a:r>
              <a:rPr lang="pt-BR" sz="1600" dirty="0" err="1"/>
              <a:t>EtnoMatemática</a:t>
            </a:r>
            <a:r>
              <a:rPr lang="pt-BR" sz="1600" dirty="0"/>
              <a:t> e </a:t>
            </a:r>
            <a:r>
              <a:rPr lang="pt-BR" sz="1600" dirty="0" err="1"/>
              <a:t>LLMs</a:t>
            </a:r>
            <a:r>
              <a:rPr lang="pt-BR" sz="1600" dirty="0"/>
              <a:t>;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1600" dirty="0"/>
              <a:t>Padrões genéticos e Machine Learning;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1600" dirty="0"/>
              <a:t>Física Computacional;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1600" dirty="0"/>
              <a:t>Química Computacional;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1600" dirty="0"/>
              <a:t>Padrões filosóficos e culturais – </a:t>
            </a:r>
            <a:r>
              <a:rPr lang="pt-BR" sz="1600" dirty="0" err="1"/>
              <a:t>Crosscultural</a:t>
            </a:r>
            <a:r>
              <a:rPr lang="pt-BR" sz="1600" dirty="0"/>
              <a:t>/Pensamento Computacional.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pt-BR" sz="1600" dirty="0"/>
          </a:p>
        </p:txBody>
      </p:sp>
    </p:spTree>
    <p:extLst>
      <p:ext uri="{BB962C8B-B14F-4D97-AF65-F5344CB8AC3E}">
        <p14:creationId xmlns:p14="http://schemas.microsoft.com/office/powerpoint/2010/main" val="397286729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99DA14-E61E-2FF9-12F4-102172748F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43DA0A96-57BF-75BE-FE57-F0806C0C792F}"/>
              </a:ext>
            </a:extLst>
          </p:cNvPr>
          <p:cNvSpPr txBox="1">
            <a:spLocks/>
          </p:cNvSpPr>
          <p:nvPr/>
        </p:nvSpPr>
        <p:spPr>
          <a:xfrm>
            <a:off x="896458" y="2719117"/>
            <a:ext cx="4248150" cy="243073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pt-BR" dirty="0">
                <a:latin typeface="Calibri" panose="020F0502020204030204" pitchFamily="34" charset="0"/>
                <a:ea typeface="Calibri" panose="020F0502020204030204" pitchFamily="34" charset="0"/>
              </a:rPr>
              <a:t>Grupo de Pesquisa</a:t>
            </a:r>
          </a:p>
          <a:p>
            <a:pPr algn="just"/>
            <a:r>
              <a:rPr lang="pt-BR" dirty="0">
                <a:latin typeface="Calibri" panose="020F0502020204030204" pitchFamily="34" charset="0"/>
                <a:ea typeface="Calibri" panose="020F0502020204030204" pitchFamily="34" charset="0"/>
              </a:rPr>
              <a:t>UFPE/UnB:</a:t>
            </a:r>
          </a:p>
          <a:p>
            <a:pPr algn="just"/>
            <a:endParaRPr lang="pt-BR" dirty="0"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pPr algn="just"/>
            <a:endParaRPr lang="pt-BR" dirty="0"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pPr marL="0" indent="0" algn="just">
              <a:buFont typeface="Arial" panose="020B0604020202020204" pitchFamily="34" charset="0"/>
              <a:buNone/>
            </a:pPr>
            <a:endParaRPr lang="pt-BR" dirty="0"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pPr algn="just"/>
            <a:endParaRPr lang="pt-BR" dirty="0"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pt-BR" dirty="0"/>
          </a:p>
        </p:txBody>
      </p:sp>
      <p:sp>
        <p:nvSpPr>
          <p:cNvPr id="5" name="Chave Esquerda 4">
            <a:extLst>
              <a:ext uri="{FF2B5EF4-FFF2-40B4-BE49-F238E27FC236}">
                <a16:creationId xmlns:a16="http://schemas.microsoft.com/office/drawing/2014/main" id="{824D089D-D3F7-7D84-0FCB-9A5DAA62091A}"/>
              </a:ext>
            </a:extLst>
          </p:cNvPr>
          <p:cNvSpPr/>
          <p:nvPr/>
        </p:nvSpPr>
        <p:spPr>
          <a:xfrm>
            <a:off x="3992637" y="1768278"/>
            <a:ext cx="2303942" cy="2554545"/>
          </a:xfrm>
          <a:prstGeom prst="lef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6975C023-1615-46B6-AE81-EF4558325590}"/>
              </a:ext>
            </a:extLst>
          </p:cNvPr>
          <p:cNvSpPr txBox="1"/>
          <p:nvPr/>
        </p:nvSpPr>
        <p:spPr>
          <a:xfrm>
            <a:off x="5339448" y="2897188"/>
            <a:ext cx="6093372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1600" dirty="0"/>
              <a:t>Inteligência Artificial e </a:t>
            </a:r>
            <a:r>
              <a:rPr lang="pt-BR" sz="1600" dirty="0" err="1"/>
              <a:t>Source</a:t>
            </a:r>
            <a:r>
              <a:rPr lang="pt-BR" sz="1600" dirty="0"/>
              <a:t> </a:t>
            </a:r>
            <a:r>
              <a:rPr lang="pt-BR" sz="1600" dirty="0" err="1"/>
              <a:t>Code</a:t>
            </a:r>
            <a:r>
              <a:rPr lang="pt-BR" sz="1600" dirty="0"/>
              <a:t> </a:t>
            </a:r>
            <a:r>
              <a:rPr lang="pt-BR" sz="1600" dirty="0" err="1"/>
              <a:t>Summarization</a:t>
            </a:r>
            <a:endParaRPr lang="pt-BR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pt-BR" sz="1600" dirty="0"/>
          </a:p>
        </p:txBody>
      </p:sp>
    </p:spTree>
    <p:extLst>
      <p:ext uri="{BB962C8B-B14F-4D97-AF65-F5344CB8AC3E}">
        <p14:creationId xmlns:p14="http://schemas.microsoft.com/office/powerpoint/2010/main" val="94926751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E89A48-A391-24D3-6572-131E4566CD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0907DE90-026D-1D63-018A-7E9903538FEF}"/>
              </a:ext>
            </a:extLst>
          </p:cNvPr>
          <p:cNvSpPr txBox="1">
            <a:spLocks/>
          </p:cNvSpPr>
          <p:nvPr/>
        </p:nvSpPr>
        <p:spPr>
          <a:xfrm>
            <a:off x="896458" y="2719117"/>
            <a:ext cx="4248150" cy="243073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pt-BR" dirty="0">
                <a:latin typeface="Calibri" panose="020F0502020204030204" pitchFamily="34" charset="0"/>
                <a:ea typeface="Calibri" panose="020F0502020204030204" pitchFamily="34" charset="0"/>
              </a:rPr>
              <a:t>Outras informações:</a:t>
            </a:r>
          </a:p>
          <a:p>
            <a:pPr algn="just"/>
            <a:endParaRPr lang="pt-BR" dirty="0"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pPr algn="just"/>
            <a:endParaRPr lang="pt-BR" dirty="0"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pPr marL="0" indent="0" algn="just">
              <a:buFont typeface="Arial" panose="020B0604020202020204" pitchFamily="34" charset="0"/>
              <a:buNone/>
            </a:pPr>
            <a:endParaRPr lang="pt-BR" dirty="0"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pPr algn="just"/>
            <a:endParaRPr lang="pt-BR" dirty="0"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pt-BR" dirty="0"/>
          </a:p>
        </p:txBody>
      </p:sp>
      <p:sp>
        <p:nvSpPr>
          <p:cNvPr id="5" name="Chave Esquerda 4">
            <a:extLst>
              <a:ext uri="{FF2B5EF4-FFF2-40B4-BE49-F238E27FC236}">
                <a16:creationId xmlns:a16="http://schemas.microsoft.com/office/drawing/2014/main" id="{60CAEE5A-4C71-EADC-00E8-C77E975C0C54}"/>
              </a:ext>
            </a:extLst>
          </p:cNvPr>
          <p:cNvSpPr/>
          <p:nvPr/>
        </p:nvSpPr>
        <p:spPr>
          <a:xfrm>
            <a:off x="4187477" y="1708150"/>
            <a:ext cx="2303942" cy="2554545"/>
          </a:xfrm>
          <a:prstGeom prst="lef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E022B3FE-C305-4EAD-BC71-F283A40A5E2B}"/>
              </a:ext>
            </a:extLst>
          </p:cNvPr>
          <p:cNvSpPr txBox="1"/>
          <p:nvPr/>
        </p:nvSpPr>
        <p:spPr>
          <a:xfrm>
            <a:off x="5339448" y="2260720"/>
            <a:ext cx="6093372" cy="16004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1600" dirty="0"/>
              <a:t>🥋⬛Faixa Preta em Jiu-Jitsu;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1600" dirty="0"/>
              <a:t>🥋⬛Faixa Preta em </a:t>
            </a:r>
            <a:r>
              <a:rPr lang="pt-BR" sz="1600" dirty="0" err="1"/>
              <a:t>Ju-Jitsu</a:t>
            </a:r>
            <a:r>
              <a:rPr lang="pt-BR" sz="1600" dirty="0"/>
              <a:t> tradicional (</a:t>
            </a:r>
            <a:r>
              <a:rPr lang="pt-BR" sz="1600" dirty="0" err="1"/>
              <a:t>Kobudo</a:t>
            </a:r>
            <a:r>
              <a:rPr lang="pt-BR" sz="1600" dirty="0"/>
              <a:t>);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1600" dirty="0"/>
              <a:t>🎵🎶Arranha uns 3 instrumentos musicais;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1600" dirty="0"/>
              <a:t>🌍🗣️Fala 3 idiomas;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1600" dirty="0"/>
              <a:t>🧩♾️TEA AH/SD.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pt-BR" sz="1600" dirty="0"/>
          </a:p>
        </p:txBody>
      </p:sp>
    </p:spTree>
    <p:extLst>
      <p:ext uri="{BB962C8B-B14F-4D97-AF65-F5344CB8AC3E}">
        <p14:creationId xmlns:p14="http://schemas.microsoft.com/office/powerpoint/2010/main" val="185500322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1A43EB-C005-470D-C566-6ABD66658C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DD3B546-A080-B8B4-89AF-BB369B8C2A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pt-BR" sz="3600" b="1" dirty="0"/>
              <a:t>Informação do Professor: </a:t>
            </a:r>
            <a:endParaRPr lang="pt-BR" sz="3600" dirty="0"/>
          </a:p>
        </p:txBody>
      </p:sp>
      <p:sp>
        <p:nvSpPr>
          <p:cNvPr id="4" name="Espaço Reservado para Conteúdo 2">
            <a:extLst>
              <a:ext uri="{FF2B5EF4-FFF2-40B4-BE49-F238E27FC236}">
                <a16:creationId xmlns:a16="http://schemas.microsoft.com/office/drawing/2014/main" id="{8F456208-F6C6-7D44-020C-1DAF4797835C}"/>
              </a:ext>
            </a:extLst>
          </p:cNvPr>
          <p:cNvSpPr txBox="1">
            <a:spLocks/>
          </p:cNvSpPr>
          <p:nvPr/>
        </p:nvSpPr>
        <p:spPr>
          <a:xfrm>
            <a:off x="859907" y="1899959"/>
            <a:ext cx="9150867" cy="4351338"/>
          </a:xfrm>
          <a:prstGeom prst="rect">
            <a:avLst/>
          </a:prstGeom>
        </p:spPr>
        <p:txBody>
          <a:bodyPr vert="horz" lIns="91440" tIns="45720" rIns="91440" bIns="45720">
            <a:normAutofit/>
          </a:bodyPr>
          <a:lstStyle>
            <a:lvl1pPr marL="0" indent="0" algn="l" defTabSz="914400">
              <a:lnSpc>
                <a:spcPct val="90000"/>
              </a:lnSpc>
              <a:spcBef>
                <a:spcPts val="1000"/>
              </a:spcBef>
              <a:buFont typeface="Arial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lt"/>
                <a:cs typeface="+mn-lt"/>
              </a:defRPr>
            </a:lvl1pPr>
            <a:lvl2pPr marL="457200" indent="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lt"/>
                <a:cs typeface="+mn-lt"/>
              </a:defRPr>
            </a:lvl2pPr>
            <a:lvl3pPr marL="914400" indent="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lt"/>
                <a:cs typeface="+mn-lt"/>
              </a:defRPr>
            </a:lvl3pPr>
            <a:lvl4pPr marL="1371600" indent="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lt"/>
                <a:cs typeface="+mn-lt"/>
              </a:defRPr>
            </a:lvl4pPr>
            <a:lvl5pPr marL="1828800" indent="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lt"/>
                <a:cs typeface="+mn-lt"/>
              </a:defRPr>
            </a:lvl5pPr>
            <a:lvl6pPr marL="2286000" indent="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lt"/>
                <a:cs typeface="+mn-lt"/>
              </a:defRPr>
            </a:lvl6pPr>
            <a:lvl7pPr marL="2743200" indent="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lt"/>
                <a:cs typeface="+mn-lt"/>
              </a:defRPr>
            </a:lvl7pPr>
            <a:lvl8pPr marL="3200400" indent="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lt"/>
                <a:cs typeface="+mn-lt"/>
              </a:defRPr>
            </a:lvl8pPr>
            <a:lvl9pPr marL="3657600" indent="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lt"/>
                <a:cs typeface="+mn-lt"/>
              </a:defRPr>
            </a:lvl9pPr>
          </a:lstStyle>
          <a:p>
            <a:pPr algn="just"/>
            <a:r>
              <a:rPr lang="pt-BR" dirty="0">
                <a:latin typeface="Calibri" panose="020F0502020204030204" pitchFamily="34" charset="0"/>
                <a:ea typeface="Calibri" panose="020F0502020204030204" pitchFamily="34" charset="0"/>
              </a:rPr>
              <a:t>Lattes: </a:t>
            </a:r>
            <a:r>
              <a:rPr lang="pt-BR" dirty="0">
                <a:latin typeface="-apple-system"/>
              </a:rPr>
              <a:t>https://lattes.cnpq.br/6892771602850311</a:t>
            </a:r>
          </a:p>
          <a:p>
            <a:pPr algn="just"/>
            <a:endParaRPr lang="pt-BR" dirty="0"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pPr latinLnBrk="1"/>
            <a:r>
              <a:rPr lang="pt-BR" dirty="0">
                <a:latin typeface="Calibri" panose="020F0502020204030204" pitchFamily="34" charset="0"/>
                <a:ea typeface="Calibri" panose="020F0502020204030204" pitchFamily="34" charset="0"/>
              </a:rPr>
              <a:t>Página </a:t>
            </a:r>
            <a:r>
              <a:rPr lang="pt-BR" dirty="0" err="1">
                <a:latin typeface="Calibri" panose="020F0502020204030204" pitchFamily="34" charset="0"/>
                <a:ea typeface="Calibri" panose="020F0502020204030204" pitchFamily="34" charset="0"/>
              </a:rPr>
              <a:t>Git</a:t>
            </a:r>
            <a:r>
              <a:rPr lang="pt-BR" dirty="0">
                <a:latin typeface="Calibri" panose="020F0502020204030204" pitchFamily="34" charset="0"/>
                <a:ea typeface="Calibri" panose="020F0502020204030204" pitchFamily="34" charset="0"/>
              </a:rPr>
              <a:t>: </a:t>
            </a:r>
            <a:r>
              <a:rPr lang="pt-BR" b="1" dirty="0">
                <a:hlinkClick r:id="rId3"/>
              </a:rPr>
              <a:t>murilloed.github.io</a:t>
            </a:r>
            <a:r>
              <a:rPr lang="pt-BR" b="1" dirty="0"/>
              <a:t> </a:t>
            </a:r>
          </a:p>
          <a:p>
            <a:pPr algn="just"/>
            <a:endParaRPr lang="pt-BR" dirty="0"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pPr algn="just"/>
            <a:r>
              <a:rPr lang="pt-BR" dirty="0">
                <a:latin typeface="Calibri" panose="020F0502020204030204" pitchFamily="34" charset="0"/>
                <a:ea typeface="Calibri" panose="020F0502020204030204" pitchFamily="34" charset="0"/>
              </a:rPr>
              <a:t>WhatsApp</a:t>
            </a:r>
            <a:r>
              <a:rPr lang="pt-BR" dirty="0">
                <a:latin typeface="Calibri" panose="020F0502020204030204" pitchFamily="34" charset="0"/>
                <a:ea typeface="Calibri" panose="020F0502020204030204" pitchFamily="34" charset="0"/>
                <a:sym typeface="Wingdings" panose="05000000000000000000" pitchFamily="2" charset="2"/>
              </a:rPr>
              <a:t>: (</a:t>
            </a:r>
            <a:r>
              <a:rPr lang="pt-BR" dirty="0">
                <a:latin typeface="Calibri" panose="020F0502020204030204" pitchFamily="34" charset="0"/>
                <a:ea typeface="Calibri" panose="020F0502020204030204" pitchFamily="34" charset="0"/>
              </a:rPr>
              <a:t>61)-999164353</a:t>
            </a:r>
          </a:p>
          <a:p>
            <a:pPr algn="just"/>
            <a:endParaRPr lang="pt-BR" dirty="0"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pPr algn="just"/>
            <a:r>
              <a:rPr lang="pt-BR" dirty="0">
                <a:latin typeface="Calibri" panose="020F0502020204030204" pitchFamily="34" charset="0"/>
                <a:ea typeface="Calibri" panose="020F0502020204030204" pitchFamily="34" charset="0"/>
              </a:rPr>
              <a:t> Email: murillo.souza@iesb.br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94907257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0F6A46-E476-6ED3-F78C-C292DC55BB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8D2211E-7F14-9107-EC42-EF27B14C96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pt-BR" sz="3600" b="1" dirty="0"/>
              <a:t>Informações dos alunos: </a:t>
            </a:r>
            <a:endParaRPr lang="pt-BR" sz="3600" dirty="0"/>
          </a:p>
        </p:txBody>
      </p:sp>
      <p:sp>
        <p:nvSpPr>
          <p:cNvPr id="4" name="Espaço Reservado para Conteúdo 2">
            <a:extLst>
              <a:ext uri="{FF2B5EF4-FFF2-40B4-BE49-F238E27FC236}">
                <a16:creationId xmlns:a16="http://schemas.microsoft.com/office/drawing/2014/main" id="{7ED646FF-59DE-8DA8-05FC-642453E072D3}"/>
              </a:ext>
            </a:extLst>
          </p:cNvPr>
          <p:cNvSpPr txBox="1">
            <a:spLocks/>
          </p:cNvSpPr>
          <p:nvPr/>
        </p:nvSpPr>
        <p:spPr>
          <a:xfrm>
            <a:off x="859907" y="1899959"/>
            <a:ext cx="10493893" cy="4351338"/>
          </a:xfrm>
          <a:prstGeom prst="rect">
            <a:avLst/>
          </a:prstGeom>
        </p:spPr>
        <p:txBody>
          <a:bodyPr vert="horz" lIns="91440" tIns="45720" rIns="91440" bIns="45720">
            <a:normAutofit/>
          </a:bodyPr>
          <a:lstStyle>
            <a:lvl1pPr marL="0" indent="0" algn="l" defTabSz="914400">
              <a:lnSpc>
                <a:spcPct val="90000"/>
              </a:lnSpc>
              <a:spcBef>
                <a:spcPts val="1000"/>
              </a:spcBef>
              <a:buFont typeface="Arial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lt"/>
                <a:cs typeface="+mn-lt"/>
              </a:defRPr>
            </a:lvl1pPr>
            <a:lvl2pPr marL="457200" indent="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lt"/>
                <a:cs typeface="+mn-lt"/>
              </a:defRPr>
            </a:lvl2pPr>
            <a:lvl3pPr marL="914400" indent="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lt"/>
                <a:cs typeface="+mn-lt"/>
              </a:defRPr>
            </a:lvl3pPr>
            <a:lvl4pPr marL="1371600" indent="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lt"/>
                <a:cs typeface="+mn-lt"/>
              </a:defRPr>
            </a:lvl4pPr>
            <a:lvl5pPr marL="1828800" indent="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lt"/>
                <a:cs typeface="+mn-lt"/>
              </a:defRPr>
            </a:lvl5pPr>
            <a:lvl6pPr marL="2286000" indent="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lt"/>
                <a:cs typeface="+mn-lt"/>
              </a:defRPr>
            </a:lvl6pPr>
            <a:lvl7pPr marL="2743200" indent="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lt"/>
                <a:cs typeface="+mn-lt"/>
              </a:defRPr>
            </a:lvl7pPr>
            <a:lvl8pPr marL="3200400" indent="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lt"/>
                <a:cs typeface="+mn-lt"/>
              </a:defRPr>
            </a:lvl8pPr>
            <a:lvl9pPr marL="3657600" indent="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lt"/>
                <a:cs typeface="+mn-lt"/>
              </a:defRPr>
            </a:lvl9pPr>
          </a:lstStyle>
          <a:p>
            <a:r>
              <a:rPr lang="pt-BR" dirty="0"/>
              <a:t>Nome</a:t>
            </a:r>
          </a:p>
          <a:p>
            <a:r>
              <a:rPr lang="pt-BR" dirty="0"/>
              <a:t>Idade:</a:t>
            </a:r>
          </a:p>
          <a:p>
            <a:r>
              <a:rPr lang="pt-BR" dirty="0"/>
              <a:t>Estágio:</a:t>
            </a:r>
          </a:p>
          <a:p>
            <a:r>
              <a:rPr lang="pt-BR" dirty="0"/>
              <a:t>Período:</a:t>
            </a:r>
          </a:p>
          <a:p>
            <a:r>
              <a:rPr lang="pt-BR" dirty="0"/>
              <a:t>Conhecimentos de LFA:</a:t>
            </a:r>
          </a:p>
          <a:p>
            <a:r>
              <a:rPr lang="pt-BR" dirty="0"/>
              <a:t>O que espera do curso:</a:t>
            </a:r>
          </a:p>
          <a:p>
            <a:r>
              <a:rPr lang="pt-BR" dirty="0"/>
              <a:t>Lazer: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82533198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87C08D-12D2-80D2-59DB-B2EDB3D504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aixaDeTexto 6">
            <a:extLst>
              <a:ext uri="{FF2B5EF4-FFF2-40B4-BE49-F238E27FC236}">
                <a16:creationId xmlns:a16="http://schemas.microsoft.com/office/drawing/2014/main" id="{3D6F01B9-D55E-CCB2-FE70-EFB05BE24B8C}"/>
              </a:ext>
            </a:extLst>
          </p:cNvPr>
          <p:cNvSpPr txBox="1"/>
          <p:nvPr/>
        </p:nvSpPr>
        <p:spPr>
          <a:xfrm>
            <a:off x="808639" y="1056910"/>
            <a:ext cx="10574721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pt-BR" sz="2800" b="1" dirty="0">
                <a:solidFill>
                  <a:srgbClr val="303030"/>
                </a:solidFill>
                <a:effectLst/>
              </a:rPr>
              <a:t>Introdução à Disciplina</a:t>
            </a:r>
          </a:p>
          <a:p>
            <a:pPr>
              <a:buNone/>
            </a:pPr>
            <a:endParaRPr lang="pt-BR" sz="2800" dirty="0">
              <a:solidFill>
                <a:srgbClr val="303030"/>
              </a:solidFill>
              <a:effectLst/>
            </a:endParaRPr>
          </a:p>
          <a:p>
            <a:pPr marL="342900" lvl="0" indent="-342900" algn="l">
              <a:buFont typeface="Arial" panose="020B0604020202020204" pitchFamily="34" charset="0"/>
              <a:buChar char="•"/>
            </a:pPr>
            <a:r>
              <a:rPr lang="pt-BR" sz="2800" b="1" i="0" dirty="0">
                <a:solidFill>
                  <a:srgbClr val="303030"/>
                </a:solidFill>
                <a:effectLst/>
                <a:latin typeface="Google Sans Text"/>
              </a:rPr>
              <a:t>Título:</a:t>
            </a:r>
            <a:r>
              <a:rPr lang="pt-BR" sz="2800" b="0" i="0" dirty="0">
                <a:solidFill>
                  <a:srgbClr val="303030"/>
                </a:solidFill>
                <a:effectLst/>
                <a:latin typeface="Google Sans Text"/>
              </a:rPr>
              <a:t> Linguagens Formais e Autômatos (LFA) – Aula 01</a:t>
            </a:r>
          </a:p>
          <a:p>
            <a:pPr marL="342900" lvl="0" indent="-342900" algn="l">
              <a:buFont typeface="Arial" panose="020B0604020202020204" pitchFamily="34" charset="0"/>
              <a:buChar char="•"/>
            </a:pPr>
            <a:r>
              <a:rPr lang="pt-BR" sz="2800" b="1" i="0" dirty="0">
                <a:solidFill>
                  <a:srgbClr val="303030"/>
                </a:solidFill>
                <a:effectLst/>
                <a:latin typeface="Google Sans Text"/>
              </a:rPr>
              <a:t>Objetivos da Aula:</a:t>
            </a:r>
            <a:endParaRPr lang="pt-BR" sz="2800" b="0" i="0" dirty="0">
              <a:solidFill>
                <a:srgbClr val="303030"/>
              </a:solidFill>
              <a:effectLst/>
              <a:latin typeface="Google Sans Text"/>
            </a:endParaRP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pt-BR" sz="2800" b="0" i="0" dirty="0">
                <a:solidFill>
                  <a:srgbClr val="303030"/>
                </a:solidFill>
                <a:effectLst/>
                <a:latin typeface="Google Sans Text"/>
              </a:rPr>
              <a:t>Conceitos de Sintaxe e Semântica.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pt-BR" sz="2800" b="0" i="0" dirty="0">
                <a:solidFill>
                  <a:srgbClr val="303030"/>
                </a:solidFill>
                <a:effectLst/>
                <a:latin typeface="Google Sans Text"/>
              </a:rPr>
              <a:t>Definição de Alfabeto, Palavra e Linguagem Formal.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pt-BR" sz="2800" b="0" i="0" dirty="0">
                <a:solidFill>
                  <a:srgbClr val="303030"/>
                </a:solidFill>
                <a:effectLst/>
                <a:latin typeface="Google Sans Text"/>
              </a:rPr>
              <a:t>Introdução a Gramática e Hierarquia de Chomsky.</a:t>
            </a:r>
          </a:p>
          <a:p>
            <a:pPr marL="342900" lvl="0" indent="-342900" algn="l">
              <a:buFont typeface="Arial" panose="020B0604020202020204" pitchFamily="34" charset="0"/>
              <a:buChar char="•"/>
            </a:pPr>
            <a:r>
              <a:rPr lang="pt-BR" sz="2800" b="1" i="0" dirty="0">
                <a:solidFill>
                  <a:srgbClr val="303030"/>
                </a:solidFill>
                <a:effectLst/>
                <a:latin typeface="Google Sans Text"/>
              </a:rPr>
              <a:t>Contexto:</a:t>
            </a:r>
            <a:r>
              <a:rPr lang="pt-BR" sz="2800" b="0" i="0" dirty="0">
                <a:solidFill>
                  <a:srgbClr val="303030"/>
                </a:solidFill>
                <a:effectLst/>
                <a:latin typeface="Google Sans Text"/>
              </a:rPr>
              <a:t> Linguagens artificiais e de programação (desenvolvidas desde a década de 50, </a:t>
            </a:r>
            <a:r>
              <a:rPr lang="pt-BR" sz="2800" b="0" i="0" dirty="0" err="1">
                <a:solidFill>
                  <a:srgbClr val="303030"/>
                </a:solidFill>
                <a:effectLst/>
                <a:latin typeface="Google Sans Text"/>
              </a:rPr>
              <a:t>ex</a:t>
            </a:r>
            <a:r>
              <a:rPr lang="pt-BR" sz="2800" b="0" i="0" dirty="0">
                <a:solidFill>
                  <a:srgbClr val="303030"/>
                </a:solidFill>
                <a:effectLst/>
                <a:latin typeface="Google Sans Text"/>
              </a:rPr>
              <a:t>: Fortran)</a:t>
            </a:r>
          </a:p>
        </p:txBody>
      </p:sp>
    </p:spTree>
    <p:extLst>
      <p:ext uri="{BB962C8B-B14F-4D97-AF65-F5344CB8AC3E}">
        <p14:creationId xmlns:p14="http://schemas.microsoft.com/office/powerpoint/2010/main" val="326770210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6E6137-5AFA-4C40-D5E3-4EFF5B06E4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aixaDeTexto 6">
            <a:extLst>
              <a:ext uri="{FF2B5EF4-FFF2-40B4-BE49-F238E27FC236}">
                <a16:creationId xmlns:a16="http://schemas.microsoft.com/office/drawing/2014/main" id="{7519DBE9-4262-8618-C8E1-AA3D0E997BB0}"/>
              </a:ext>
            </a:extLst>
          </p:cNvPr>
          <p:cNvSpPr txBox="1"/>
          <p:nvPr/>
        </p:nvSpPr>
        <p:spPr>
          <a:xfrm>
            <a:off x="808639" y="1056910"/>
            <a:ext cx="10574721" cy="34778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pt-BR" sz="2800" b="1" dirty="0">
                <a:solidFill>
                  <a:srgbClr val="303030"/>
                </a:solidFill>
                <a:effectLst/>
              </a:rPr>
              <a:t>Introdução à Disciplina</a:t>
            </a:r>
          </a:p>
          <a:p>
            <a:pPr>
              <a:buNone/>
            </a:pPr>
            <a:endParaRPr lang="pt-BR" sz="2800" dirty="0">
              <a:solidFill>
                <a:srgbClr val="303030"/>
              </a:solidFill>
              <a:effectLst/>
            </a:endParaRPr>
          </a:p>
          <a:p>
            <a:r>
              <a:rPr lang="pt-BR" dirty="0"/>
              <a:t>A disciplina </a:t>
            </a:r>
            <a:r>
              <a:rPr lang="pt-BR" b="1" dirty="0"/>
              <a:t>Linguagens Formais e Autômatos (LFA)</a:t>
            </a:r>
            <a:r>
              <a:rPr lang="pt-BR" dirty="0"/>
              <a:t> é a base matemática e teórica de toda a ciência da computação. Ela estuda o que os computadores podem e não podem calcular, definindo como linguagens são estruturadas e processadas</a:t>
            </a:r>
            <a:r>
              <a:rPr lang="pt-BR"/>
              <a:t>. </a:t>
            </a:r>
          </a:p>
          <a:p>
            <a:endParaRPr lang="pt-BR" dirty="0"/>
          </a:p>
          <a:p>
            <a:r>
              <a:rPr lang="pt-BR" dirty="0"/>
              <a:t>No mercado atual, na ciência e na Inteligência Artificial (IA), LFA deixou de ser apenas teoria e tornou-se uma ferramenta prática para resolver problemas complexos de engenharia e otimização.</a:t>
            </a:r>
          </a:p>
          <a:p>
            <a:br>
              <a:rPr lang="pt-BR" sz="2800" dirty="0"/>
            </a:br>
            <a:endParaRPr lang="pt-BR" sz="2800" dirty="0"/>
          </a:p>
        </p:txBody>
      </p:sp>
    </p:spTree>
    <p:extLst>
      <p:ext uri="{BB962C8B-B14F-4D97-AF65-F5344CB8AC3E}">
        <p14:creationId xmlns:p14="http://schemas.microsoft.com/office/powerpoint/2010/main" val="20286613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AF05B0-3378-C42F-2903-8BF4998083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aixaDeTexto 6">
            <a:extLst>
              <a:ext uri="{FF2B5EF4-FFF2-40B4-BE49-F238E27FC236}">
                <a16:creationId xmlns:a16="http://schemas.microsoft.com/office/drawing/2014/main" id="{3C560D39-A716-6580-EA81-9CD5B188E427}"/>
              </a:ext>
            </a:extLst>
          </p:cNvPr>
          <p:cNvSpPr txBox="1"/>
          <p:nvPr/>
        </p:nvSpPr>
        <p:spPr>
          <a:xfrm>
            <a:off x="808639" y="1056910"/>
            <a:ext cx="10574721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pt-BR" sz="2800" b="1" dirty="0">
                <a:solidFill>
                  <a:srgbClr val="303030"/>
                </a:solidFill>
                <a:effectLst/>
              </a:rPr>
              <a:t>Introdução à Disciplina</a:t>
            </a:r>
          </a:p>
          <a:p>
            <a:pPr>
              <a:buNone/>
            </a:pPr>
            <a:endParaRPr lang="pt-BR" sz="2800" dirty="0">
              <a:solidFill>
                <a:srgbClr val="303030"/>
              </a:solidFill>
              <a:effectLst/>
            </a:endParaRP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pt-BR" sz="2800" dirty="0"/>
              <a:t>O que é linguagens formais e não formais na computação ou na linguagem?</a:t>
            </a:r>
            <a:endParaRPr lang="pt-BR" sz="2800" b="0" i="0" dirty="0">
              <a:solidFill>
                <a:srgbClr val="303030"/>
              </a:solidFill>
              <a:effectLst/>
              <a:latin typeface="Google Sans Text"/>
            </a:endParaRPr>
          </a:p>
        </p:txBody>
      </p:sp>
      <p:pic>
        <p:nvPicPr>
          <p:cNvPr id="2" name="Imagem 1" descr="Linguagens Formais, Autômatos e Computabilidade - Ciência da Computação -  Resumo da Prova PosComp">
            <a:extLst>
              <a:ext uri="{FF2B5EF4-FFF2-40B4-BE49-F238E27FC236}">
                <a16:creationId xmlns:a16="http://schemas.microsoft.com/office/drawing/2014/main" id="{AF095ACC-95B2-F20A-19AC-1D73955C69F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72995" y="4177862"/>
            <a:ext cx="2810365" cy="1623228"/>
          </a:xfrm>
          <a:prstGeom prst="rect">
            <a:avLst/>
          </a:prstGeom>
        </p:spPr>
      </p:pic>
      <p:pic>
        <p:nvPicPr>
          <p:cNvPr id="3" name="Imagem 2" descr="Grátis: linguagem formal e informal - Material Claro e Objetivo em PDF para  Estudo Rápido">
            <a:extLst>
              <a:ext uri="{FF2B5EF4-FFF2-40B4-BE49-F238E27FC236}">
                <a16:creationId xmlns:a16="http://schemas.microsoft.com/office/drawing/2014/main" id="{50D08DD6-7A9D-042C-1C96-137CCF2DB56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62036" y="3059003"/>
            <a:ext cx="3978165" cy="2237718"/>
          </a:xfrm>
          <a:prstGeom prst="rect">
            <a:avLst/>
          </a:prstGeom>
        </p:spPr>
      </p:pic>
      <p:pic>
        <p:nvPicPr>
          <p:cNvPr id="6" name="Imagem 5">
            <a:extLst>
              <a:ext uri="{FF2B5EF4-FFF2-40B4-BE49-F238E27FC236}">
                <a16:creationId xmlns:a16="http://schemas.microsoft.com/office/drawing/2014/main" id="{94A2E82D-AFE7-E9F1-54BD-590D95A8CA9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29704" y="2872792"/>
            <a:ext cx="3204498" cy="18158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529306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FE28B3-5149-EE5B-F3F3-5566754EC7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aixaDeTexto 6">
            <a:extLst>
              <a:ext uri="{FF2B5EF4-FFF2-40B4-BE49-F238E27FC236}">
                <a16:creationId xmlns:a16="http://schemas.microsoft.com/office/drawing/2014/main" id="{32B09C87-E0F6-B529-DF88-DBA6042BDEF8}"/>
              </a:ext>
            </a:extLst>
          </p:cNvPr>
          <p:cNvSpPr txBox="1"/>
          <p:nvPr/>
        </p:nvSpPr>
        <p:spPr>
          <a:xfrm>
            <a:off x="808639" y="457820"/>
            <a:ext cx="10574721" cy="59400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pt-BR" sz="2800" b="1" dirty="0">
                <a:solidFill>
                  <a:srgbClr val="303030"/>
                </a:solidFill>
                <a:effectLst/>
              </a:rPr>
              <a:t>Introdução à Disciplina</a:t>
            </a:r>
          </a:p>
          <a:p>
            <a:pPr>
              <a:buNone/>
            </a:pPr>
            <a:endParaRPr lang="pt-BR" sz="2800" dirty="0">
              <a:solidFill>
                <a:srgbClr val="303030"/>
              </a:solidFill>
              <a:effectLst/>
            </a:endParaRPr>
          </a:p>
          <a:p>
            <a:r>
              <a:rPr lang="pt-BR" b="1" dirty="0"/>
              <a:t>Na Computação</a:t>
            </a:r>
          </a:p>
          <a:p>
            <a:pPr lvl="0"/>
            <a:r>
              <a:rPr lang="pt-BR" b="1" dirty="0"/>
              <a:t>Linguagens Formais:</a:t>
            </a:r>
            <a:r>
              <a:rPr lang="pt-BR" dirty="0"/>
              <a:t> São conjuntos de cadeias de símbolos definidos por regras gramaticais matemáticas precisas. Não permitem dupla interpretação. Exemplos incluem </a:t>
            </a:r>
            <a:r>
              <a:rPr lang="pt-BR" b="1" dirty="0"/>
              <a:t>linguagens de programação</a:t>
            </a:r>
            <a:r>
              <a:rPr lang="pt-BR" dirty="0"/>
              <a:t> (como Python e C++), </a:t>
            </a:r>
            <a:r>
              <a:rPr lang="pt-BR" b="1" dirty="0"/>
              <a:t>código HTML</a:t>
            </a:r>
            <a:r>
              <a:rPr lang="pt-BR" dirty="0"/>
              <a:t>, expressões regulares e lógica matemática. Se uma regra for quebrada, o computador apresenta um erro de sintaxe.  </a:t>
            </a:r>
          </a:p>
          <a:p>
            <a:pPr lvl="0"/>
            <a:r>
              <a:rPr lang="pt-BR" b="1" dirty="0"/>
              <a:t>Linguagens Não Formais:</a:t>
            </a:r>
            <a:r>
              <a:rPr lang="pt-BR" dirty="0"/>
              <a:t> Não existem nativamente na execução de códigos, pois computadores exigem instruções exatas. No entanto, elas aparecem na computação através do </a:t>
            </a:r>
            <a:r>
              <a:rPr lang="pt-BR" b="1" dirty="0"/>
              <a:t>Processamento de Linguagem Natural (PLN)</a:t>
            </a:r>
            <a:r>
              <a:rPr lang="pt-BR" dirty="0"/>
              <a:t>, área da inteligência artificial que tenta fazer com que computadores entendam, traduzam e respondam à fala e escrita humana. </a:t>
            </a:r>
          </a:p>
          <a:p>
            <a:pPr lvl="0"/>
            <a:endParaRPr lang="pt-BR" dirty="0"/>
          </a:p>
          <a:p>
            <a:r>
              <a:rPr lang="pt-BR" b="1" dirty="0"/>
              <a:t>🗣️ Na Língua (Linguística)</a:t>
            </a:r>
          </a:p>
          <a:p>
            <a:pPr lvl="0"/>
            <a:r>
              <a:rPr lang="pt-BR" b="1" dirty="0"/>
              <a:t>Linguagens Formais:</a:t>
            </a:r>
            <a:r>
              <a:rPr lang="pt-BR" dirty="0"/>
              <a:t> Refere-se à </a:t>
            </a:r>
            <a:r>
              <a:rPr lang="pt-BR" b="1" dirty="0"/>
              <a:t>norma-padrão</a:t>
            </a:r>
            <a:r>
              <a:rPr lang="pt-BR" dirty="0"/>
              <a:t> ou culta de um idioma. É o registro utilizado em documentos oficiais, artigos científicos, discursos públicos e entrevistas de emprego. Segue rigidamente as regras gramaticais prescritivas de ortografia, concordância e regência.  </a:t>
            </a:r>
          </a:p>
          <a:p>
            <a:pPr lvl="0"/>
            <a:r>
              <a:rPr lang="pt-BR" b="1" dirty="0"/>
              <a:t>Linguagens Não Formais:</a:t>
            </a:r>
            <a:r>
              <a:rPr lang="pt-BR" dirty="0"/>
              <a:t> Também chamada de </a:t>
            </a:r>
            <a:r>
              <a:rPr lang="pt-BR" b="1" dirty="0"/>
              <a:t>linguagem coloquial</a:t>
            </a:r>
            <a:r>
              <a:rPr lang="pt-BR" dirty="0"/>
              <a:t> ou informal. É a língua falada no cotidiano, em conversas com amigos, redes sociais e ambiente familiar. Ela aceita variações linguísticas, gírias, abreviações (como "</a:t>
            </a:r>
            <a:r>
              <a:rPr lang="pt-BR" dirty="0" err="1"/>
              <a:t>vc</a:t>
            </a:r>
            <a:r>
              <a:rPr lang="pt-BR" dirty="0"/>
              <a:t>" ou "tá") e desvios da gramática normativa sem que a comunicação seja necessariamente prejudicada.</a:t>
            </a:r>
          </a:p>
        </p:txBody>
      </p:sp>
    </p:spTree>
    <p:extLst>
      <p:ext uri="{BB962C8B-B14F-4D97-AF65-F5344CB8AC3E}">
        <p14:creationId xmlns:p14="http://schemas.microsoft.com/office/powerpoint/2010/main" val="365717014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09533F-C661-4FBF-8393-9D3462AF2C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aixaDeTexto 6">
            <a:extLst>
              <a:ext uri="{FF2B5EF4-FFF2-40B4-BE49-F238E27FC236}">
                <a16:creationId xmlns:a16="http://schemas.microsoft.com/office/drawing/2014/main" id="{DFE84062-D32A-5D8E-5BBA-A734D1ED3893}"/>
              </a:ext>
            </a:extLst>
          </p:cNvPr>
          <p:cNvSpPr txBox="1"/>
          <p:nvPr/>
        </p:nvSpPr>
        <p:spPr>
          <a:xfrm>
            <a:off x="808639" y="457820"/>
            <a:ext cx="10574721" cy="49552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pt-BR" sz="2800" b="1" dirty="0">
                <a:solidFill>
                  <a:srgbClr val="303030"/>
                </a:solidFill>
                <a:effectLst/>
              </a:rPr>
              <a:t>Introdução à Disciplina</a:t>
            </a:r>
          </a:p>
          <a:p>
            <a:pPr>
              <a:buNone/>
            </a:pPr>
            <a:endParaRPr lang="pt-BR" sz="1600" dirty="0">
              <a:solidFill>
                <a:srgbClr val="303030"/>
              </a:solidFill>
              <a:effectLst/>
            </a:endParaRPr>
          </a:p>
          <a:p>
            <a:r>
              <a:rPr lang="pt-BR" sz="1600" b="1" dirty="0"/>
              <a:t>Um autômato </a:t>
            </a:r>
            <a:r>
              <a:rPr lang="pt-BR" sz="1600" dirty="0"/>
              <a:t>em computação é um modelo matemático abstrato de uma máquina que processa entradas de dados seguindo regras e transições predeterminadas.</a:t>
            </a:r>
          </a:p>
          <a:p>
            <a:endParaRPr lang="pt-BR" sz="1600" dirty="0"/>
          </a:p>
          <a:p>
            <a:r>
              <a:rPr lang="pt-BR" sz="1600" b="1" dirty="0"/>
              <a:t>Como funciona</a:t>
            </a:r>
          </a:p>
          <a:p>
            <a:pPr lvl="0"/>
            <a:r>
              <a:rPr lang="pt-BR" sz="1600" b="1" dirty="0"/>
              <a:t>Estados:</a:t>
            </a:r>
            <a:r>
              <a:rPr lang="pt-BR" sz="1600" dirty="0"/>
              <a:t> Representam as condições ou situações em que o autômato pode se encontrar (como os círculos em um diagrama).</a:t>
            </a:r>
          </a:p>
          <a:p>
            <a:pPr lvl="0"/>
            <a:r>
              <a:rPr lang="pt-BR" sz="1600" b="1" dirty="0"/>
              <a:t>Transições:</a:t>
            </a:r>
            <a:r>
              <a:rPr lang="pt-BR" sz="1600" dirty="0"/>
              <a:t> Indicam a mudança de um estado para outro, acionada pela leitura de um símbolo de entrada (representadas por setas).</a:t>
            </a:r>
          </a:p>
          <a:p>
            <a:pPr lvl="0"/>
            <a:r>
              <a:rPr lang="pt-BR" sz="1600" b="1" dirty="0"/>
              <a:t>Aceitação:</a:t>
            </a:r>
            <a:r>
              <a:rPr lang="pt-BR" sz="1600" dirty="0"/>
              <a:t> Se o autômato chega a um estado final específico após ler toda a entrada, a sequência de dados é aceita; caso contrário, é rejeitada.</a:t>
            </a:r>
          </a:p>
          <a:p>
            <a:endParaRPr lang="pt-BR" sz="1600" dirty="0"/>
          </a:p>
          <a:p>
            <a:r>
              <a:rPr lang="pt-BR" sz="1600" b="1" dirty="0"/>
              <a:t>Principais tipos</a:t>
            </a:r>
          </a:p>
          <a:p>
            <a:pPr lvl="0"/>
            <a:r>
              <a:rPr lang="pt-BR" sz="1600" b="1" dirty="0"/>
              <a:t>Autômato Finito (AF):</a:t>
            </a:r>
            <a:r>
              <a:rPr lang="pt-BR" sz="1600" dirty="0"/>
              <a:t> O modelo mais simples, que possui uma memória limitada restrita aos seus estados atuais. É muito usado em reconhecimento de padrões e expressões regulares. </a:t>
            </a:r>
          </a:p>
          <a:p>
            <a:pPr lvl="0"/>
            <a:r>
              <a:rPr lang="pt-BR" sz="1600" b="1" dirty="0"/>
              <a:t>Autômato com Pilha:</a:t>
            </a:r>
            <a:r>
              <a:rPr lang="pt-BR" sz="1600" dirty="0"/>
              <a:t> Possui uma memória auxiliar em formato de pilha (estilo LIFO — o último a entrar é o primeiro a sair), utilizado para analisar estruturas mais complexas como a sintaxe de linguagens de programação. </a:t>
            </a:r>
          </a:p>
          <a:p>
            <a:pPr lvl="0"/>
            <a:r>
              <a:rPr lang="pt-BR" sz="1600" b="1" dirty="0"/>
              <a:t>Máquina de Turing:</a:t>
            </a:r>
            <a:r>
              <a:rPr lang="pt-BR" sz="1600" dirty="0"/>
              <a:t> O modelo mais poderoso e abstrato, criado por Alan Turing, que simula qualquer computador moderno e define os limites teóricos do que pode ou não ser calculado. </a:t>
            </a:r>
          </a:p>
        </p:txBody>
      </p:sp>
    </p:spTree>
    <p:extLst>
      <p:ext uri="{BB962C8B-B14F-4D97-AF65-F5344CB8AC3E}">
        <p14:creationId xmlns:p14="http://schemas.microsoft.com/office/powerpoint/2010/main" val="16502393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F8DEF5-4FA4-DD81-8FF5-687F18E8A5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aixaDeTexto 6">
            <a:extLst>
              <a:ext uri="{FF2B5EF4-FFF2-40B4-BE49-F238E27FC236}">
                <a16:creationId xmlns:a16="http://schemas.microsoft.com/office/drawing/2014/main" id="{9B21097B-9EC6-6ADB-C8CD-33A6E5B29DB8}"/>
              </a:ext>
            </a:extLst>
          </p:cNvPr>
          <p:cNvSpPr txBox="1"/>
          <p:nvPr/>
        </p:nvSpPr>
        <p:spPr>
          <a:xfrm>
            <a:off x="808639" y="457820"/>
            <a:ext cx="10574721" cy="21544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pt-BR" sz="2800" b="1" dirty="0">
                <a:solidFill>
                  <a:srgbClr val="303030"/>
                </a:solidFill>
                <a:effectLst/>
              </a:rPr>
              <a:t>Introdução à Disciplina</a:t>
            </a:r>
          </a:p>
          <a:p>
            <a:pPr>
              <a:buNone/>
            </a:pPr>
            <a:endParaRPr lang="pt-BR" sz="1600" dirty="0">
              <a:solidFill>
                <a:srgbClr val="303030"/>
              </a:solidFill>
              <a:effectLst/>
            </a:endParaRPr>
          </a:p>
          <a:p>
            <a:r>
              <a:rPr lang="pt-BR" b="1" dirty="0"/>
              <a:t>Onde é aplicado</a:t>
            </a:r>
          </a:p>
          <a:p>
            <a:pPr lvl="0"/>
            <a:r>
              <a:rPr lang="pt-BR" b="1" dirty="0"/>
              <a:t>Compiladores:</a:t>
            </a:r>
            <a:r>
              <a:rPr lang="pt-BR" dirty="0"/>
              <a:t> Na leitura e tradução do código de linguagens de programação.</a:t>
            </a:r>
          </a:p>
          <a:p>
            <a:pPr lvl="0"/>
            <a:r>
              <a:rPr lang="pt-BR" b="1" dirty="0"/>
              <a:t>Validação de dados:</a:t>
            </a:r>
            <a:r>
              <a:rPr lang="pt-BR" dirty="0"/>
              <a:t> Em buscas por padrões em textos (como </a:t>
            </a:r>
            <a:r>
              <a:rPr lang="pt-BR" i="1" dirty="0" err="1"/>
              <a:t>Regex</a:t>
            </a:r>
            <a:r>
              <a:rPr lang="pt-BR" dirty="0"/>
              <a:t>).</a:t>
            </a:r>
          </a:p>
          <a:p>
            <a:pPr lvl="0"/>
            <a:r>
              <a:rPr lang="pt-BR" b="1" dirty="0"/>
              <a:t>Sistemas de controle:</a:t>
            </a:r>
            <a:r>
              <a:rPr lang="pt-BR" dirty="0"/>
              <a:t> Na modelagem de fluxos e comportamentos reativos em jogos, circuitos eletrônicos e protocolos de comunicação</a:t>
            </a:r>
          </a:p>
        </p:txBody>
      </p:sp>
    </p:spTree>
    <p:extLst>
      <p:ext uri="{BB962C8B-B14F-4D97-AF65-F5344CB8AC3E}">
        <p14:creationId xmlns:p14="http://schemas.microsoft.com/office/powerpoint/2010/main" val="343402392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CAA0A1-70F2-5B22-E8CD-03890411E4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 descr="SISTEMAS DIGITAIS - Apresentando as Leis da Álgebra de Boole (Álgebra  Booleana).">
            <a:extLst>
              <a:ext uri="{FF2B5EF4-FFF2-40B4-BE49-F238E27FC236}">
                <a16:creationId xmlns:a16="http://schemas.microsoft.com/office/drawing/2014/main" id="{46464D34-1DEC-FC68-8687-2B76821209F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84778" y="2128344"/>
            <a:ext cx="7022443" cy="3950124"/>
          </a:xfrm>
          <a:prstGeom prst="rect">
            <a:avLst/>
          </a:prstGeom>
        </p:spPr>
      </p:pic>
      <p:sp>
        <p:nvSpPr>
          <p:cNvPr id="4" name="CaixaDeTexto 3">
            <a:extLst>
              <a:ext uri="{FF2B5EF4-FFF2-40B4-BE49-F238E27FC236}">
                <a16:creationId xmlns:a16="http://schemas.microsoft.com/office/drawing/2014/main" id="{9CB0367C-5FC4-87D4-1CE9-8531DEEC6D63}"/>
              </a:ext>
            </a:extLst>
          </p:cNvPr>
          <p:cNvSpPr txBox="1"/>
          <p:nvPr/>
        </p:nvSpPr>
        <p:spPr>
          <a:xfrm>
            <a:off x="2869325" y="1362856"/>
            <a:ext cx="818832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2800" dirty="0"/>
              <a:t>Circuitos digitais e expressões matemáticas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40528628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2A431A-E3B7-DCC9-C1EB-31AF2C493D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ixaDeTexto 3">
            <a:extLst>
              <a:ext uri="{FF2B5EF4-FFF2-40B4-BE49-F238E27FC236}">
                <a16:creationId xmlns:a16="http://schemas.microsoft.com/office/drawing/2014/main" id="{57A85CFA-3F9A-E5FA-2455-4F47918E9345}"/>
              </a:ext>
            </a:extLst>
          </p:cNvPr>
          <p:cNvSpPr txBox="1"/>
          <p:nvPr/>
        </p:nvSpPr>
        <p:spPr>
          <a:xfrm>
            <a:off x="2203925" y="1331325"/>
            <a:ext cx="818832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2800" dirty="0"/>
              <a:t>Linguagens e Compiladores</a:t>
            </a:r>
            <a:endParaRPr lang="pt-BR" dirty="0"/>
          </a:p>
        </p:txBody>
      </p:sp>
      <p:pic>
        <p:nvPicPr>
          <p:cNvPr id="3" name="Imagem 2" descr="c:compiladores [Wiki Computação]">
            <a:extLst>
              <a:ext uri="{FF2B5EF4-FFF2-40B4-BE49-F238E27FC236}">
                <a16:creationId xmlns:a16="http://schemas.microsoft.com/office/drawing/2014/main" id="{EF84E86E-EC72-4798-72AE-A7A608B1B24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87875" y="2635961"/>
            <a:ext cx="7220424" cy="24620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697951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9A8590-26A5-B6CE-9714-3096578850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ixaDeTexto 3">
            <a:extLst>
              <a:ext uri="{FF2B5EF4-FFF2-40B4-BE49-F238E27FC236}">
                <a16:creationId xmlns:a16="http://schemas.microsoft.com/office/drawing/2014/main" id="{913288B3-BD3D-FF2E-A35C-F5A06393BE86}"/>
              </a:ext>
            </a:extLst>
          </p:cNvPr>
          <p:cNvSpPr txBox="1"/>
          <p:nvPr/>
        </p:nvSpPr>
        <p:spPr>
          <a:xfrm>
            <a:off x="2001838" y="432691"/>
            <a:ext cx="818832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2800" dirty="0"/>
              <a:t>Linguagens e Compiladores</a:t>
            </a:r>
            <a:endParaRPr lang="pt-BR" dirty="0"/>
          </a:p>
        </p:txBody>
      </p:sp>
      <p:pic>
        <p:nvPicPr>
          <p:cNvPr id="2" name="Imagem 1" descr="🐉 Introdução a Compiladores: Como o Código Vira Programa?">
            <a:extLst>
              <a:ext uri="{FF2B5EF4-FFF2-40B4-BE49-F238E27FC236}">
                <a16:creationId xmlns:a16="http://schemas.microsoft.com/office/drawing/2014/main" id="{3D82EFAE-3A64-170B-5DE0-37318DD7EDB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09548" y="955911"/>
            <a:ext cx="3429000" cy="5143500"/>
          </a:xfrm>
          <a:prstGeom prst="rect">
            <a:avLst/>
          </a:prstGeom>
        </p:spPr>
      </p:pic>
      <p:pic>
        <p:nvPicPr>
          <p:cNvPr id="6" name="Imagem 5">
            <a:extLst>
              <a:ext uri="{FF2B5EF4-FFF2-40B4-BE49-F238E27FC236}">
                <a16:creationId xmlns:a16="http://schemas.microsoft.com/office/drawing/2014/main" id="{4D10FF48-D833-B1F7-E1D3-D8E80182474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39522" y="1970691"/>
            <a:ext cx="5242930" cy="34084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686448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AEF74F-54D0-B1DA-9F91-9EC72D8A2C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aixaDeTexto 6">
            <a:extLst>
              <a:ext uri="{FF2B5EF4-FFF2-40B4-BE49-F238E27FC236}">
                <a16:creationId xmlns:a16="http://schemas.microsoft.com/office/drawing/2014/main" id="{5A81EAD5-D87F-A657-BCBB-1A0144D52667}"/>
              </a:ext>
            </a:extLst>
          </p:cNvPr>
          <p:cNvSpPr txBox="1"/>
          <p:nvPr/>
        </p:nvSpPr>
        <p:spPr>
          <a:xfrm>
            <a:off x="808639" y="1056910"/>
            <a:ext cx="10574721" cy="35394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2800" b="1" dirty="0"/>
              <a:t>Aplicações e Próximos Passos</a:t>
            </a:r>
          </a:p>
          <a:p>
            <a:endParaRPr lang="pt-BR" sz="2800" dirty="0"/>
          </a:p>
          <a:p>
            <a:pPr lvl="0"/>
            <a:r>
              <a:rPr lang="pt-BR" sz="2800" b="1" dirty="0"/>
              <a:t>Onde se aplica LFA?</a:t>
            </a:r>
            <a:endParaRPr lang="pt-BR" sz="2800" dirty="0"/>
          </a:p>
          <a:p>
            <a:pPr lvl="1"/>
            <a:r>
              <a:rPr lang="pt-BR" sz="2800" dirty="0"/>
              <a:t>Linguagens de programação (Pascal, C++, Java).</a:t>
            </a:r>
          </a:p>
          <a:p>
            <a:pPr lvl="1"/>
            <a:r>
              <a:rPr lang="pt-BR" sz="2800" dirty="0"/>
              <a:t>Circuitos digitais e expressões matemáticas.</a:t>
            </a:r>
          </a:p>
          <a:p>
            <a:pPr lvl="0"/>
            <a:r>
              <a:rPr lang="pt-BR" sz="2800" b="1" dirty="0"/>
              <a:t>Conexão com Compiladores:</a:t>
            </a:r>
            <a:endParaRPr lang="pt-BR" sz="2800" dirty="0"/>
          </a:p>
          <a:p>
            <a:pPr lvl="1"/>
            <a:r>
              <a:rPr lang="pt-BR" sz="2800" dirty="0"/>
              <a:t>Base para construir sua própria linguagem no futuro.</a:t>
            </a:r>
          </a:p>
          <a:p>
            <a:pPr lvl="1"/>
            <a:r>
              <a:rPr lang="pt-BR" sz="2800" dirty="0"/>
              <a:t>Foco em Análise Léxica (</a:t>
            </a:r>
            <a:r>
              <a:rPr lang="pt-BR" sz="2800" i="1" dirty="0"/>
              <a:t>scanner</a:t>
            </a:r>
            <a:r>
              <a:rPr lang="pt-BR" sz="2800" dirty="0"/>
              <a:t>) e Análise Sintática (</a:t>
            </a:r>
            <a:r>
              <a:rPr lang="pt-BR" sz="2800" i="1" dirty="0"/>
              <a:t>parser</a:t>
            </a:r>
            <a:r>
              <a:rPr lang="pt-BR" sz="2800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91244161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22B52D-AEEE-F1CF-3DF5-71F5ABF468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ixaDeTexto 2">
            <a:extLst>
              <a:ext uri="{FF2B5EF4-FFF2-40B4-BE49-F238E27FC236}">
                <a16:creationId xmlns:a16="http://schemas.microsoft.com/office/drawing/2014/main" id="{B31E7756-C140-7244-C60E-36B6808354EC}"/>
              </a:ext>
            </a:extLst>
          </p:cNvPr>
          <p:cNvSpPr txBox="1"/>
          <p:nvPr/>
        </p:nvSpPr>
        <p:spPr>
          <a:xfrm>
            <a:off x="1312480" y="855354"/>
            <a:ext cx="10007162" cy="44012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pt-BR" sz="2800" b="1" dirty="0">
                <a:solidFill>
                  <a:srgbClr val="303030"/>
                </a:solidFill>
                <a:effectLst/>
              </a:rPr>
              <a:t>O que é Sintaxe?</a:t>
            </a:r>
          </a:p>
          <a:p>
            <a:pPr>
              <a:buNone/>
            </a:pPr>
            <a:endParaRPr lang="pt-BR" sz="2800" dirty="0">
              <a:solidFill>
                <a:srgbClr val="303030"/>
              </a:solidFill>
              <a:effectLst/>
            </a:endParaRPr>
          </a:p>
          <a:p>
            <a:pPr marL="342900" lvl="0" indent="-342900" algn="l">
              <a:buFont typeface="Arial" panose="020B0604020202020204" pitchFamily="34" charset="0"/>
              <a:buChar char="•"/>
            </a:pPr>
            <a:r>
              <a:rPr lang="pt-BR" sz="2800" b="1" i="0" dirty="0">
                <a:solidFill>
                  <a:srgbClr val="303030"/>
                </a:solidFill>
                <a:effectLst/>
                <a:latin typeface="Google Sans Text"/>
              </a:rPr>
              <a:t>Definição:</a:t>
            </a:r>
            <a:r>
              <a:rPr lang="pt-BR" sz="2800" b="0" i="0" dirty="0">
                <a:solidFill>
                  <a:srgbClr val="303030"/>
                </a:solidFill>
                <a:effectLst/>
                <a:latin typeface="Google Sans Text"/>
              </a:rPr>
              <a:t> Parte da gramática que estuda a disposição das palavras na frase e a relação lógica entre elas.</a:t>
            </a:r>
          </a:p>
          <a:p>
            <a:pPr marL="342900" lvl="0" indent="-342900" algn="l">
              <a:buFont typeface="Arial" panose="020B0604020202020204" pitchFamily="34" charset="0"/>
              <a:buChar char="•"/>
            </a:pPr>
            <a:r>
              <a:rPr lang="pt-BR" sz="2800" b="1" i="0" dirty="0">
                <a:solidFill>
                  <a:srgbClr val="303030"/>
                </a:solidFill>
                <a:effectLst/>
                <a:latin typeface="Google Sans Text"/>
              </a:rPr>
              <a:t>Exemplos (Linguagem Natural):</a:t>
            </a:r>
            <a:endParaRPr lang="pt-BR" sz="2800" b="0" i="0" dirty="0">
              <a:solidFill>
                <a:srgbClr val="303030"/>
              </a:solidFill>
              <a:effectLst/>
              <a:latin typeface="Google Sans Text"/>
            </a:endParaRP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pt-BR" sz="2800" b="1" i="0" dirty="0">
                <a:solidFill>
                  <a:srgbClr val="303030"/>
                </a:solidFill>
                <a:effectLst/>
                <a:latin typeface="Google Sans Text"/>
              </a:rPr>
              <a:t>Correto:</a:t>
            </a:r>
            <a:r>
              <a:rPr lang="pt-BR" sz="2800" b="0" i="0" dirty="0">
                <a:solidFill>
                  <a:srgbClr val="303030"/>
                </a:solidFill>
                <a:effectLst/>
                <a:latin typeface="Google Sans Text"/>
              </a:rPr>
              <a:t> "José bebeu água" ou "As flores são belas".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pt-BR" sz="2800" b="1" i="0" dirty="0">
                <a:solidFill>
                  <a:srgbClr val="303030"/>
                </a:solidFill>
                <a:effectLst/>
                <a:latin typeface="Google Sans Text"/>
              </a:rPr>
              <a:t>Erro Sintático (Ordem):</a:t>
            </a:r>
            <a:r>
              <a:rPr lang="pt-BR" sz="2800" b="0" i="0" dirty="0">
                <a:solidFill>
                  <a:srgbClr val="303030"/>
                </a:solidFill>
                <a:effectLst/>
                <a:latin typeface="Google Sans Text"/>
              </a:rPr>
              <a:t> "Água bebeu José" (a menos que seja sentido figurado).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pt-BR" sz="2800" b="1" i="0" dirty="0">
                <a:solidFill>
                  <a:srgbClr val="303030"/>
                </a:solidFill>
                <a:effectLst/>
                <a:latin typeface="Google Sans Text"/>
              </a:rPr>
              <a:t>Erro de Concordância:</a:t>
            </a:r>
            <a:r>
              <a:rPr lang="pt-BR" sz="2800" b="0" i="0" dirty="0">
                <a:solidFill>
                  <a:srgbClr val="303030"/>
                </a:solidFill>
                <a:effectLst/>
                <a:latin typeface="Google Sans Text"/>
              </a:rPr>
              <a:t> "As flores é bela".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pt-BR" sz="2800" b="1" i="0" dirty="0">
                <a:solidFill>
                  <a:srgbClr val="303030"/>
                </a:solidFill>
                <a:effectLst/>
                <a:latin typeface="Google Sans Text"/>
              </a:rPr>
              <a:t>Erro Léxico (Escrita):</a:t>
            </a:r>
            <a:r>
              <a:rPr lang="pt-BR" sz="2800" b="0" i="0" dirty="0">
                <a:solidFill>
                  <a:srgbClr val="303030"/>
                </a:solidFill>
                <a:effectLst/>
                <a:latin typeface="Google Sans Text"/>
              </a:rPr>
              <a:t> "Vou correr" (escrito sem o 'r' final).</a:t>
            </a:r>
          </a:p>
        </p:txBody>
      </p:sp>
    </p:spTree>
    <p:extLst>
      <p:ext uri="{BB962C8B-B14F-4D97-AF65-F5344CB8AC3E}">
        <p14:creationId xmlns:p14="http://schemas.microsoft.com/office/powerpoint/2010/main" val="231713143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D7ACBC-AFB7-F122-DC8F-D93273EE1C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ixaDeTexto 2">
            <a:extLst>
              <a:ext uri="{FF2B5EF4-FFF2-40B4-BE49-F238E27FC236}">
                <a16:creationId xmlns:a16="http://schemas.microsoft.com/office/drawing/2014/main" id="{F04059B6-9DA9-55BD-1E96-6E50696C0299}"/>
              </a:ext>
            </a:extLst>
          </p:cNvPr>
          <p:cNvSpPr txBox="1"/>
          <p:nvPr/>
        </p:nvSpPr>
        <p:spPr>
          <a:xfrm>
            <a:off x="1312480" y="855354"/>
            <a:ext cx="1000716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pt-BR" sz="2800" b="1" dirty="0">
                <a:solidFill>
                  <a:srgbClr val="303030"/>
                </a:solidFill>
                <a:effectLst/>
              </a:rPr>
              <a:t>Análise Morfológica</a:t>
            </a:r>
            <a:endParaRPr lang="pt-BR" sz="2800" b="0" i="0" dirty="0">
              <a:solidFill>
                <a:srgbClr val="303030"/>
              </a:solidFill>
              <a:effectLst/>
              <a:latin typeface="Google Sans Text"/>
            </a:endParaRP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D70B9569-424F-9730-B752-58192D2C9F2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26980" y="1988271"/>
            <a:ext cx="6705940" cy="28814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662493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A7A7B6-0EF6-8B58-E07E-AEE69C3080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ixaDeTexto 2">
            <a:extLst>
              <a:ext uri="{FF2B5EF4-FFF2-40B4-BE49-F238E27FC236}">
                <a16:creationId xmlns:a16="http://schemas.microsoft.com/office/drawing/2014/main" id="{363F4381-F005-8F87-5B25-6BCB93821DE0}"/>
              </a:ext>
            </a:extLst>
          </p:cNvPr>
          <p:cNvSpPr txBox="1"/>
          <p:nvPr/>
        </p:nvSpPr>
        <p:spPr>
          <a:xfrm>
            <a:off x="1312480" y="855354"/>
            <a:ext cx="1000716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pt-BR" sz="2800" b="1" dirty="0">
                <a:solidFill>
                  <a:srgbClr val="303030"/>
                </a:solidFill>
                <a:effectLst/>
              </a:rPr>
              <a:t>Análise Morfológica</a:t>
            </a:r>
            <a:endParaRPr lang="pt-BR" sz="2800" b="0" i="0" dirty="0">
              <a:solidFill>
                <a:srgbClr val="303030"/>
              </a:solidFill>
              <a:effectLst/>
              <a:latin typeface="Google Sans Text"/>
            </a:endParaRP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642EB434-40EF-4043-7BDF-0A5A1E04362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89075" y="626944"/>
            <a:ext cx="3720663" cy="1598722"/>
          </a:xfrm>
          <a:prstGeom prst="rect">
            <a:avLst/>
          </a:prstGeom>
        </p:spPr>
      </p:pic>
      <p:sp>
        <p:nvSpPr>
          <p:cNvPr id="7" name="CaixaDeTexto 6">
            <a:extLst>
              <a:ext uri="{FF2B5EF4-FFF2-40B4-BE49-F238E27FC236}">
                <a16:creationId xmlns:a16="http://schemas.microsoft.com/office/drawing/2014/main" id="{A50B3AF3-C1B0-E036-5210-085C37E9A349}"/>
              </a:ext>
            </a:extLst>
          </p:cNvPr>
          <p:cNvSpPr txBox="1"/>
          <p:nvPr/>
        </p:nvSpPr>
        <p:spPr>
          <a:xfrm>
            <a:off x="1438604" y="1906795"/>
            <a:ext cx="9471134" cy="43242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spcBef>
                <a:spcPts val="1800"/>
              </a:spcBef>
              <a:spcAft>
                <a:spcPts val="900"/>
              </a:spcAft>
              <a:buNone/>
            </a:pPr>
            <a:r>
              <a:rPr lang="pt-BR" b="1" u="none" strike="noStrike" dirty="0">
                <a:effectLst/>
                <a:latin typeface="Google Sans"/>
              </a:rPr>
              <a:t>O que é Morfema?</a:t>
            </a:r>
          </a:p>
          <a:p>
            <a:pPr marL="0" marR="0">
              <a:spcBef>
                <a:spcPts val="900"/>
              </a:spcBef>
              <a:spcAft>
                <a:spcPts val="1200"/>
              </a:spcAft>
              <a:buNone/>
            </a:pPr>
            <a:r>
              <a:rPr lang="pt-BR" b="0" u="none" strike="noStrike" dirty="0">
                <a:effectLst/>
                <a:latin typeface="Google Sans"/>
              </a:rPr>
              <a:t>O </a:t>
            </a:r>
            <a:r>
              <a:rPr lang="pt-BR" b="1" u="none" strike="noStrike" dirty="0">
                <a:effectLst/>
                <a:latin typeface="Google Sans"/>
              </a:rPr>
              <a:t>morfema</a:t>
            </a:r>
            <a:r>
              <a:rPr lang="pt-BR" b="0" u="none" strike="noStrike" dirty="0">
                <a:effectLst/>
                <a:latin typeface="Google Sans"/>
              </a:rPr>
              <a:t> é a menor unidade de significado que existe em uma língua. Ele é um "pedaço" de palavra que carrega um sentido próprio e não pode ser dividido em partes menores sem perder esse significado. </a:t>
            </a:r>
          </a:p>
          <a:p>
            <a:pPr marL="0" marR="0">
              <a:spcBef>
                <a:spcPts val="900"/>
              </a:spcBef>
              <a:spcAft>
                <a:spcPts val="1200"/>
              </a:spcAft>
              <a:buNone/>
            </a:pPr>
            <a:r>
              <a:rPr lang="pt-BR" b="0" u="none" strike="noStrike" dirty="0">
                <a:effectLst/>
                <a:latin typeface="Google Sans"/>
              </a:rPr>
              <a:t>As palavras são formadas pela combinação de um ou mais morfemas. Veja o exemplo da palavra </a:t>
            </a:r>
            <a:r>
              <a:rPr lang="pt-BR" b="1" u="none" strike="noStrike" dirty="0">
                <a:effectLst/>
                <a:latin typeface="Google Sans"/>
              </a:rPr>
              <a:t>"infelizes"</a:t>
            </a:r>
            <a:r>
              <a:rPr lang="pt-BR" b="0" u="none" strike="noStrike" dirty="0">
                <a:effectLst/>
                <a:latin typeface="Google Sans"/>
              </a:rPr>
              <a:t>:</a:t>
            </a:r>
          </a:p>
          <a:p>
            <a:pPr marL="342900" marR="0" lvl="0" indent="-342900">
              <a:spcBef>
                <a:spcPts val="900"/>
              </a:spcBef>
              <a:spcAft>
                <a:spcPts val="900"/>
              </a:spcAft>
              <a:buFont typeface="Arial" panose="020B0604020202020204" pitchFamily="34" charset="0"/>
              <a:buChar char="•"/>
            </a:pPr>
            <a:r>
              <a:rPr lang="pt-BR" b="1" u="none" strike="noStrike" dirty="0">
                <a:effectLst/>
                <a:latin typeface="Google Sans"/>
              </a:rPr>
              <a:t>in-</a:t>
            </a:r>
            <a:r>
              <a:rPr lang="pt-BR" b="0" u="none" strike="noStrike" dirty="0">
                <a:effectLst/>
                <a:latin typeface="Google Sans"/>
              </a:rPr>
              <a:t> (Morfema que indica negação ou oposição)</a:t>
            </a:r>
          </a:p>
          <a:p>
            <a:pPr marL="342900" marR="0" lvl="0" indent="-342900">
              <a:spcBef>
                <a:spcPts val="900"/>
              </a:spcBef>
              <a:spcAft>
                <a:spcPts val="900"/>
              </a:spcAft>
              <a:buFont typeface="Arial" panose="020B0604020202020204" pitchFamily="34" charset="0"/>
              <a:buChar char="•"/>
            </a:pPr>
            <a:r>
              <a:rPr lang="pt-BR" b="1" u="none" strike="noStrike" dirty="0">
                <a:effectLst/>
                <a:latin typeface="Google Sans"/>
              </a:rPr>
              <a:t>-feliz-</a:t>
            </a:r>
            <a:r>
              <a:rPr lang="pt-BR" b="0" u="none" strike="noStrike" dirty="0">
                <a:effectLst/>
                <a:latin typeface="Google Sans"/>
              </a:rPr>
              <a:t> (Morfema principal, chamado de </a:t>
            </a:r>
            <a:r>
              <a:rPr lang="pt-BR" b="1" u="none" strike="noStrike" dirty="0">
                <a:effectLst/>
                <a:latin typeface="Google Sans"/>
              </a:rPr>
              <a:t>radical</a:t>
            </a:r>
            <a:r>
              <a:rPr lang="pt-BR" b="0" u="none" strike="noStrike" dirty="0">
                <a:effectLst/>
                <a:latin typeface="Google Sans"/>
              </a:rPr>
              <a:t>, que carrega o significado base)</a:t>
            </a:r>
          </a:p>
          <a:p>
            <a:pPr marL="342900" marR="0" lvl="0" indent="-342900">
              <a:spcBef>
                <a:spcPts val="900"/>
              </a:spcBef>
              <a:spcAft>
                <a:spcPts val="900"/>
              </a:spcAft>
              <a:buFont typeface="Arial" panose="020B0604020202020204" pitchFamily="34" charset="0"/>
              <a:buChar char="•"/>
            </a:pPr>
            <a:r>
              <a:rPr lang="pt-BR" b="1" u="none" strike="noStrike" dirty="0">
                <a:effectLst/>
                <a:latin typeface="Google Sans"/>
              </a:rPr>
              <a:t>-es</a:t>
            </a:r>
            <a:r>
              <a:rPr lang="pt-BR" b="0" u="none" strike="noStrike" dirty="0">
                <a:effectLst/>
                <a:latin typeface="Google Sans"/>
              </a:rPr>
              <a:t> (Morfema que indica o plural) </a:t>
            </a:r>
          </a:p>
          <a:p>
            <a:pPr marL="0" marR="0">
              <a:spcBef>
                <a:spcPts val="900"/>
              </a:spcBef>
              <a:spcAft>
                <a:spcPts val="1200"/>
              </a:spcAft>
              <a:buNone/>
            </a:pPr>
            <a:r>
              <a:rPr lang="pt-BR" b="0" u="none" strike="noStrike" dirty="0">
                <a:effectLst/>
                <a:latin typeface="Google Sans"/>
              </a:rPr>
              <a:t>Cada um desses pedaços é um morfema porque possui uma função e um significado claros.</a:t>
            </a:r>
          </a:p>
        </p:txBody>
      </p:sp>
    </p:spTree>
    <p:extLst>
      <p:ext uri="{BB962C8B-B14F-4D97-AF65-F5344CB8AC3E}">
        <p14:creationId xmlns:p14="http://schemas.microsoft.com/office/powerpoint/2010/main" val="199597372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A0551D-B934-1834-7A77-930162D767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ixaDeTexto 2">
            <a:extLst>
              <a:ext uri="{FF2B5EF4-FFF2-40B4-BE49-F238E27FC236}">
                <a16:creationId xmlns:a16="http://schemas.microsoft.com/office/drawing/2014/main" id="{408B3FD4-2509-29D7-8C16-740C6C626EB3}"/>
              </a:ext>
            </a:extLst>
          </p:cNvPr>
          <p:cNvSpPr txBox="1"/>
          <p:nvPr/>
        </p:nvSpPr>
        <p:spPr>
          <a:xfrm>
            <a:off x="1312480" y="855354"/>
            <a:ext cx="1000716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pt-BR" sz="2800" b="1" dirty="0">
                <a:solidFill>
                  <a:srgbClr val="303030"/>
                </a:solidFill>
                <a:effectLst/>
              </a:rPr>
              <a:t>Análise Sintática e Morfológica</a:t>
            </a:r>
            <a:endParaRPr lang="pt-BR" sz="2800" b="0" i="0" dirty="0">
              <a:solidFill>
                <a:srgbClr val="303030"/>
              </a:solidFill>
              <a:effectLst/>
              <a:latin typeface="Google Sans Text"/>
            </a:endParaRP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DDEA3E76-1522-F1A3-FAFD-505EB53C601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55729" y="4048536"/>
            <a:ext cx="3720663" cy="1598722"/>
          </a:xfrm>
          <a:prstGeom prst="rect">
            <a:avLst/>
          </a:prstGeom>
        </p:spPr>
      </p:pic>
      <p:sp>
        <p:nvSpPr>
          <p:cNvPr id="5" name="CaixaDeTexto 4">
            <a:extLst>
              <a:ext uri="{FF2B5EF4-FFF2-40B4-BE49-F238E27FC236}">
                <a16:creationId xmlns:a16="http://schemas.microsoft.com/office/drawing/2014/main" id="{117AAE07-80F4-4A2B-D654-C5CAEEEC6030}"/>
              </a:ext>
            </a:extLst>
          </p:cNvPr>
          <p:cNvSpPr txBox="1"/>
          <p:nvPr/>
        </p:nvSpPr>
        <p:spPr>
          <a:xfrm>
            <a:off x="1312480" y="1844649"/>
            <a:ext cx="6093372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2000" b="1" u="none" strike="noStrike" dirty="0">
                <a:effectLst/>
                <a:latin typeface="Google Sans"/>
              </a:rPr>
              <a:t>Sintaxe</a:t>
            </a:r>
            <a:r>
              <a:rPr lang="pt-BR" sz="2000" dirty="0"/>
              <a:t> é a parte da gramática que estuda as regras que regem a </a:t>
            </a:r>
            <a:r>
              <a:rPr lang="pt-BR" sz="2000" b="1" u="none" strike="noStrike" dirty="0">
                <a:effectLst/>
                <a:latin typeface="Google Sans"/>
              </a:rPr>
              <a:t>relação entre as palavras</a:t>
            </a:r>
            <a:r>
              <a:rPr lang="pt-BR" sz="2000" dirty="0"/>
              <a:t> dentro de uma frase, oração ou período. Enquanto a </a:t>
            </a:r>
            <a:r>
              <a:rPr lang="pt-BR" sz="2000" b="1" dirty="0"/>
              <a:t>morfologia</a:t>
            </a:r>
            <a:r>
              <a:rPr lang="pt-BR" sz="2000" dirty="0"/>
              <a:t> estuda a palavra isolada, a sintaxe estuda a palavra em conjunto, analisando a função que ela desempenha em relação às outras termos</a:t>
            </a:r>
          </a:p>
        </p:txBody>
      </p:sp>
    </p:spTree>
    <p:extLst>
      <p:ext uri="{BB962C8B-B14F-4D97-AF65-F5344CB8AC3E}">
        <p14:creationId xmlns:p14="http://schemas.microsoft.com/office/powerpoint/2010/main" val="69552221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488B52-112A-7C99-419E-30006B5AD2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ixaDeTexto 2">
            <a:extLst>
              <a:ext uri="{FF2B5EF4-FFF2-40B4-BE49-F238E27FC236}">
                <a16:creationId xmlns:a16="http://schemas.microsoft.com/office/drawing/2014/main" id="{5A7C21FF-AF57-13D2-4076-3B62BB69D5E0}"/>
              </a:ext>
            </a:extLst>
          </p:cNvPr>
          <p:cNvSpPr txBox="1"/>
          <p:nvPr/>
        </p:nvSpPr>
        <p:spPr>
          <a:xfrm>
            <a:off x="997167" y="1056910"/>
            <a:ext cx="10385535" cy="35394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pt-BR" sz="2800" b="1" dirty="0">
                <a:solidFill>
                  <a:srgbClr val="303030"/>
                </a:solidFill>
                <a:effectLst/>
              </a:rPr>
              <a:t>Sintaxe nas Linguagens de Programação</a:t>
            </a:r>
          </a:p>
          <a:p>
            <a:pPr>
              <a:buNone/>
            </a:pPr>
            <a:endParaRPr lang="pt-BR" sz="2800" dirty="0">
              <a:solidFill>
                <a:srgbClr val="303030"/>
              </a:solidFill>
              <a:effectLst/>
            </a:endParaRPr>
          </a:p>
          <a:p>
            <a:pPr marL="342900" lvl="0" indent="-342900" algn="l">
              <a:buFont typeface="Arial" panose="020B0604020202020204" pitchFamily="34" charset="0"/>
              <a:buChar char="•"/>
            </a:pPr>
            <a:r>
              <a:rPr lang="pt-BR" sz="2800" b="1" i="0" dirty="0">
                <a:solidFill>
                  <a:srgbClr val="303030"/>
                </a:solidFill>
                <a:effectLst/>
                <a:latin typeface="Google Sans Text"/>
              </a:rPr>
              <a:t>Exemplos de correção sintática:</a:t>
            </a:r>
            <a:endParaRPr lang="pt-BR" sz="2800" b="0" i="0" dirty="0">
              <a:solidFill>
                <a:srgbClr val="303030"/>
              </a:solidFill>
              <a:effectLst/>
              <a:latin typeface="Google Sans Text"/>
            </a:endParaRP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pt-BR" sz="2800" b="0" i="0" dirty="0" err="1">
                <a:solidFill>
                  <a:srgbClr val="303030"/>
                </a:solidFill>
                <a:effectLst/>
                <a:latin typeface="Google Sans Code"/>
              </a:rPr>
              <a:t>if</a:t>
            </a:r>
            <a:r>
              <a:rPr lang="pt-BR" sz="2800" b="0" i="0" dirty="0">
                <a:solidFill>
                  <a:srgbClr val="303030"/>
                </a:solidFill>
                <a:effectLst/>
                <a:latin typeface="Google Sans Code"/>
              </a:rPr>
              <a:t> a &lt; 10 </a:t>
            </a:r>
            <a:r>
              <a:rPr lang="pt-BR" sz="2800" b="0" i="0" dirty="0" err="1">
                <a:solidFill>
                  <a:srgbClr val="303030"/>
                </a:solidFill>
                <a:effectLst/>
                <a:latin typeface="Google Sans Code"/>
              </a:rPr>
              <a:t>then</a:t>
            </a:r>
            <a:r>
              <a:rPr lang="pt-BR" sz="2800" b="0" i="0" dirty="0">
                <a:solidFill>
                  <a:srgbClr val="303030"/>
                </a:solidFill>
                <a:effectLst/>
                <a:latin typeface="Google Sans Text"/>
              </a:rPr>
              <a:t> (Pascal/Delphi).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pt-BR" sz="2800" b="0" i="0" dirty="0">
                <a:solidFill>
                  <a:srgbClr val="303030"/>
                </a:solidFill>
                <a:effectLst/>
                <a:latin typeface="Google Sans Code"/>
              </a:rPr>
              <a:t>a := 45</a:t>
            </a:r>
            <a:r>
              <a:rPr lang="pt-BR" sz="2800" b="0" i="0" dirty="0">
                <a:solidFill>
                  <a:srgbClr val="303030"/>
                </a:solidFill>
                <a:effectLst/>
                <a:latin typeface="Google Sans Text"/>
              </a:rPr>
              <a:t> (Atribuição de valor a uma variável).</a:t>
            </a:r>
          </a:p>
          <a:p>
            <a:pPr marL="342900" lvl="0" indent="-342900" algn="l">
              <a:buFont typeface="Arial" panose="020B0604020202020204" pitchFamily="34" charset="0"/>
              <a:buChar char="•"/>
            </a:pPr>
            <a:r>
              <a:rPr lang="pt-BR" sz="2800" b="1" i="0" dirty="0">
                <a:solidFill>
                  <a:srgbClr val="303030"/>
                </a:solidFill>
                <a:effectLst/>
                <a:latin typeface="Google Sans Text"/>
              </a:rPr>
              <a:t>Exemplos de erros sintáticos:</a:t>
            </a:r>
            <a:endParaRPr lang="pt-BR" sz="2800" b="0" i="0" dirty="0">
              <a:solidFill>
                <a:srgbClr val="303030"/>
              </a:solidFill>
              <a:effectLst/>
              <a:latin typeface="Google Sans Text"/>
            </a:endParaRP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pt-BR" sz="2800" b="0" i="0" dirty="0" err="1">
                <a:solidFill>
                  <a:srgbClr val="303030"/>
                </a:solidFill>
                <a:effectLst/>
                <a:latin typeface="Google Sans Code"/>
              </a:rPr>
              <a:t>then</a:t>
            </a:r>
            <a:r>
              <a:rPr lang="pt-BR" sz="2800" b="0" i="0" dirty="0">
                <a:solidFill>
                  <a:srgbClr val="303030"/>
                </a:solidFill>
                <a:effectLst/>
                <a:latin typeface="Google Sans Code"/>
              </a:rPr>
              <a:t> (a &lt; 10) </a:t>
            </a:r>
            <a:r>
              <a:rPr lang="pt-BR" sz="2800" b="0" i="0" dirty="0" err="1">
                <a:solidFill>
                  <a:srgbClr val="303030"/>
                </a:solidFill>
                <a:effectLst/>
                <a:latin typeface="Google Sans Code"/>
              </a:rPr>
              <a:t>if</a:t>
            </a:r>
            <a:r>
              <a:rPr lang="pt-BR" sz="2800" b="0" i="0" dirty="0">
                <a:solidFill>
                  <a:srgbClr val="303030"/>
                </a:solidFill>
                <a:effectLst/>
                <a:latin typeface="Google Sans Text"/>
              </a:rPr>
              <a:t> (Ordem invertida).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pt-BR" sz="2800" b="0" i="0" dirty="0">
                <a:solidFill>
                  <a:srgbClr val="303030"/>
                </a:solidFill>
                <a:effectLst/>
                <a:latin typeface="Google Sans Code"/>
              </a:rPr>
              <a:t>45 := a</a:t>
            </a:r>
            <a:r>
              <a:rPr lang="pt-BR" sz="2800" b="0" i="0" dirty="0">
                <a:solidFill>
                  <a:srgbClr val="303030"/>
                </a:solidFill>
                <a:effectLst/>
                <a:latin typeface="Google Sans Text"/>
              </a:rPr>
              <a:t> (Tentativa de atribuir valor a um literal numérico)</a:t>
            </a:r>
          </a:p>
        </p:txBody>
      </p:sp>
    </p:spTree>
    <p:extLst>
      <p:ext uri="{BB962C8B-B14F-4D97-AF65-F5344CB8AC3E}">
        <p14:creationId xmlns:p14="http://schemas.microsoft.com/office/powerpoint/2010/main" val="53721745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A7A302-5B6C-1EDD-BB7E-D4A9E1FF67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ixaDeTexto 2">
            <a:extLst>
              <a:ext uri="{FF2B5EF4-FFF2-40B4-BE49-F238E27FC236}">
                <a16:creationId xmlns:a16="http://schemas.microsoft.com/office/drawing/2014/main" id="{03305EDF-5737-C076-C4DF-89F8A34E7376}"/>
              </a:ext>
            </a:extLst>
          </p:cNvPr>
          <p:cNvSpPr txBox="1"/>
          <p:nvPr/>
        </p:nvSpPr>
        <p:spPr>
          <a:xfrm>
            <a:off x="934107" y="797510"/>
            <a:ext cx="10448596" cy="44012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pt-BR" sz="2800" b="1" dirty="0">
                <a:solidFill>
                  <a:srgbClr val="303030"/>
                </a:solidFill>
                <a:effectLst/>
              </a:rPr>
              <a:t>O que é Semântica?</a:t>
            </a:r>
          </a:p>
          <a:p>
            <a:pPr>
              <a:buNone/>
            </a:pPr>
            <a:endParaRPr lang="pt-BR" sz="2800" dirty="0">
              <a:solidFill>
                <a:srgbClr val="303030"/>
              </a:solidFill>
              <a:effectLst/>
            </a:endParaRPr>
          </a:p>
          <a:p>
            <a:pPr marL="342900" lvl="0" indent="-342900" algn="l">
              <a:buFont typeface="Arial" panose="020B0604020202020204" pitchFamily="34" charset="0"/>
              <a:buChar char="•"/>
            </a:pPr>
            <a:r>
              <a:rPr lang="pt-BR" sz="2800" b="1" i="0" dirty="0">
                <a:solidFill>
                  <a:srgbClr val="303030"/>
                </a:solidFill>
                <a:effectLst/>
                <a:latin typeface="Google Sans Text"/>
              </a:rPr>
              <a:t>Definição:</a:t>
            </a:r>
            <a:r>
              <a:rPr lang="pt-BR" sz="2800" b="0" i="0" dirty="0">
                <a:solidFill>
                  <a:srgbClr val="303030"/>
                </a:solidFill>
                <a:effectLst/>
                <a:latin typeface="Google Sans Text"/>
              </a:rPr>
              <a:t> Estudo do significado das palavras dentro de um contexto.</a:t>
            </a:r>
          </a:p>
          <a:p>
            <a:pPr marL="342900" lvl="0" indent="-342900" algn="l">
              <a:buFont typeface="Arial" panose="020B0604020202020204" pitchFamily="34" charset="0"/>
              <a:buChar char="•"/>
            </a:pPr>
            <a:r>
              <a:rPr lang="pt-BR" sz="2800" b="1" i="0" dirty="0">
                <a:solidFill>
                  <a:srgbClr val="303030"/>
                </a:solidFill>
                <a:effectLst/>
                <a:latin typeface="Google Sans Text"/>
              </a:rPr>
              <a:t>A complexidade do contexto:</a:t>
            </a:r>
            <a:r>
              <a:rPr lang="pt-BR" sz="2800" b="0" i="0" dirty="0">
                <a:solidFill>
                  <a:srgbClr val="303030"/>
                </a:solidFill>
                <a:effectLst/>
                <a:latin typeface="Google Sans Text"/>
              </a:rPr>
              <a:t> Um erro semântico pode mudar totalmente o sentido de uma frase.</a:t>
            </a:r>
          </a:p>
          <a:p>
            <a:pPr marL="342900" lvl="0" indent="-342900" algn="l">
              <a:buFont typeface="Arial" panose="020B0604020202020204" pitchFamily="34" charset="0"/>
              <a:buChar char="•"/>
            </a:pPr>
            <a:r>
              <a:rPr lang="pt-BR" sz="2800" b="1" i="0" dirty="0">
                <a:solidFill>
                  <a:srgbClr val="303030"/>
                </a:solidFill>
                <a:effectLst/>
                <a:latin typeface="Google Sans Text"/>
              </a:rPr>
              <a:t>Exemplos de Ambiguidade:</a:t>
            </a:r>
            <a:endParaRPr lang="pt-BR" sz="2800" b="0" i="0" dirty="0">
              <a:solidFill>
                <a:srgbClr val="303030"/>
              </a:solidFill>
              <a:effectLst/>
              <a:latin typeface="Google Sans Text"/>
            </a:endParaRP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pt-BR" sz="2800" b="0" i="0" dirty="0">
                <a:solidFill>
                  <a:srgbClr val="303030"/>
                </a:solidFill>
                <a:effectLst/>
                <a:latin typeface="Google Sans Text"/>
              </a:rPr>
              <a:t>"Eu </a:t>
            </a:r>
            <a:r>
              <a:rPr lang="pt-BR" sz="2800" b="1" i="0" dirty="0">
                <a:solidFill>
                  <a:srgbClr val="303030"/>
                </a:solidFill>
                <a:effectLst/>
                <a:latin typeface="Google Sans Text"/>
              </a:rPr>
              <a:t>caminho</a:t>
            </a:r>
            <a:r>
              <a:rPr lang="pt-BR" sz="2800" b="0" i="0" dirty="0">
                <a:solidFill>
                  <a:srgbClr val="303030"/>
                </a:solidFill>
                <a:effectLst/>
                <a:latin typeface="Google Sans Text"/>
              </a:rPr>
              <a:t> todos os dias" (Verbo).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pt-BR" sz="2800" b="0" i="0" dirty="0">
                <a:solidFill>
                  <a:srgbClr val="303030"/>
                </a:solidFill>
                <a:effectLst/>
                <a:latin typeface="Google Sans Text"/>
              </a:rPr>
              <a:t>"O </a:t>
            </a:r>
            <a:r>
              <a:rPr lang="pt-BR" sz="2800" b="1" i="0" dirty="0">
                <a:solidFill>
                  <a:srgbClr val="303030"/>
                </a:solidFill>
                <a:effectLst/>
                <a:latin typeface="Google Sans Text"/>
              </a:rPr>
              <a:t>caminho</a:t>
            </a:r>
            <a:r>
              <a:rPr lang="pt-BR" sz="2800" b="0" i="0" dirty="0">
                <a:solidFill>
                  <a:srgbClr val="303030"/>
                </a:solidFill>
                <a:effectLst/>
                <a:latin typeface="Google Sans Text"/>
              </a:rPr>
              <a:t> é longo" (Substantivo).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pt-BR" sz="2800" b="0" i="0" dirty="0">
                <a:solidFill>
                  <a:srgbClr val="303030"/>
                </a:solidFill>
                <a:effectLst/>
                <a:latin typeface="Google Sans Text"/>
              </a:rPr>
              <a:t>"Vou </a:t>
            </a:r>
            <a:r>
              <a:rPr lang="pt-BR" sz="2800" b="1" i="0" dirty="0">
                <a:solidFill>
                  <a:srgbClr val="303030"/>
                </a:solidFill>
                <a:effectLst/>
                <a:latin typeface="Google Sans Text"/>
              </a:rPr>
              <a:t>colher</a:t>
            </a:r>
            <a:r>
              <a:rPr lang="pt-BR" sz="2800" b="0" i="0" dirty="0">
                <a:solidFill>
                  <a:srgbClr val="303030"/>
                </a:solidFill>
                <a:effectLst/>
                <a:latin typeface="Google Sans Text"/>
              </a:rPr>
              <a:t> flores" (Verbo/Ação) vs. "A </a:t>
            </a:r>
            <a:r>
              <a:rPr lang="pt-BR" sz="2800" b="1" i="0" dirty="0">
                <a:solidFill>
                  <a:srgbClr val="303030"/>
                </a:solidFill>
                <a:effectLst/>
                <a:latin typeface="Google Sans Text"/>
              </a:rPr>
              <a:t>colher</a:t>
            </a:r>
            <a:r>
              <a:rPr lang="pt-BR" sz="2800" b="0" i="0" dirty="0">
                <a:solidFill>
                  <a:srgbClr val="303030"/>
                </a:solidFill>
                <a:effectLst/>
                <a:latin typeface="Google Sans Text"/>
              </a:rPr>
              <a:t> caiu" (Objeto)</a:t>
            </a:r>
          </a:p>
        </p:txBody>
      </p:sp>
    </p:spTree>
    <p:extLst>
      <p:ext uri="{BB962C8B-B14F-4D97-AF65-F5344CB8AC3E}">
        <p14:creationId xmlns:p14="http://schemas.microsoft.com/office/powerpoint/2010/main" val="11357010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908E7F-0272-F4EE-18C8-8DF6D03D4D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ixaDeTexto 2">
            <a:extLst>
              <a:ext uri="{FF2B5EF4-FFF2-40B4-BE49-F238E27FC236}">
                <a16:creationId xmlns:a16="http://schemas.microsoft.com/office/drawing/2014/main" id="{B67D0A2A-AD56-4776-CDB5-112C00327C04}"/>
              </a:ext>
            </a:extLst>
          </p:cNvPr>
          <p:cNvSpPr txBox="1"/>
          <p:nvPr/>
        </p:nvSpPr>
        <p:spPr>
          <a:xfrm>
            <a:off x="965638" y="797510"/>
            <a:ext cx="10212114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pt-BR" sz="2800" b="1" dirty="0">
                <a:solidFill>
                  <a:srgbClr val="303030"/>
                </a:solidFill>
                <a:effectLst/>
              </a:rPr>
              <a:t>Semântica e Ortografia</a:t>
            </a:r>
          </a:p>
          <a:p>
            <a:pPr>
              <a:buNone/>
            </a:pPr>
            <a:endParaRPr lang="pt-BR" sz="2800" dirty="0">
              <a:solidFill>
                <a:srgbClr val="303030"/>
              </a:solidFill>
              <a:effectLst/>
            </a:endParaRPr>
          </a:p>
          <a:p>
            <a:pPr marL="342900" lvl="0" indent="-342900" algn="l">
              <a:buFont typeface="Arial" panose="020B0604020202020204" pitchFamily="34" charset="0"/>
              <a:buChar char="•"/>
            </a:pPr>
            <a:r>
              <a:rPr lang="pt-BR" sz="2800" b="1" i="0" dirty="0">
                <a:solidFill>
                  <a:srgbClr val="303030"/>
                </a:solidFill>
                <a:effectLst/>
                <a:latin typeface="Google Sans Text"/>
              </a:rPr>
              <a:t>Palavras homófonas com sentidos diferentes:</a:t>
            </a:r>
            <a:endParaRPr lang="pt-BR" sz="2800" b="0" i="0" dirty="0">
              <a:solidFill>
                <a:srgbClr val="303030"/>
              </a:solidFill>
              <a:effectLst/>
              <a:latin typeface="Google Sans Text"/>
            </a:endParaRP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pt-BR" sz="2800" b="1" i="0" dirty="0">
                <a:solidFill>
                  <a:srgbClr val="303030"/>
                </a:solidFill>
                <a:effectLst/>
                <a:latin typeface="Google Sans Text"/>
              </a:rPr>
              <a:t>Cheque</a:t>
            </a:r>
            <a:r>
              <a:rPr lang="pt-BR" sz="2800" b="0" i="0" dirty="0">
                <a:solidFill>
                  <a:srgbClr val="303030"/>
                </a:solidFill>
                <a:effectLst/>
                <a:latin typeface="Google Sans Text"/>
              </a:rPr>
              <a:t> (Papel-moeda) vs. </a:t>
            </a:r>
            <a:r>
              <a:rPr lang="pt-BR" sz="2800" b="1" i="0" dirty="0">
                <a:solidFill>
                  <a:srgbClr val="303030"/>
                </a:solidFill>
                <a:effectLst/>
                <a:latin typeface="Google Sans Text"/>
              </a:rPr>
              <a:t>Xeque</a:t>
            </a:r>
            <a:r>
              <a:rPr lang="pt-BR" sz="2800" b="0" i="0" dirty="0">
                <a:solidFill>
                  <a:srgbClr val="303030"/>
                </a:solidFill>
                <a:effectLst/>
                <a:latin typeface="Google Sans Text"/>
              </a:rPr>
              <a:t> (Jogada de xadrez).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pt-BR" sz="2800" b="1" i="0" dirty="0">
                <a:solidFill>
                  <a:srgbClr val="303030"/>
                </a:solidFill>
                <a:effectLst/>
                <a:latin typeface="Google Sans Text"/>
              </a:rPr>
              <a:t>Sessão</a:t>
            </a:r>
            <a:r>
              <a:rPr lang="pt-BR" sz="2800" b="0" i="0" dirty="0">
                <a:solidFill>
                  <a:srgbClr val="303030"/>
                </a:solidFill>
                <a:effectLst/>
                <a:latin typeface="Google Sans Text"/>
              </a:rPr>
              <a:t> (Reunião/Encontro) vs. </a:t>
            </a:r>
            <a:r>
              <a:rPr lang="pt-BR" sz="2800" b="1" i="0" dirty="0">
                <a:solidFill>
                  <a:srgbClr val="303030"/>
                </a:solidFill>
                <a:effectLst/>
                <a:latin typeface="Google Sans Text"/>
              </a:rPr>
              <a:t>Seção</a:t>
            </a:r>
            <a:r>
              <a:rPr lang="pt-BR" sz="2800" b="0" i="0" dirty="0">
                <a:solidFill>
                  <a:srgbClr val="303030"/>
                </a:solidFill>
                <a:effectLst/>
                <a:latin typeface="Google Sans Text"/>
              </a:rPr>
              <a:t> (Divisão/Repartição).</a:t>
            </a:r>
          </a:p>
          <a:p>
            <a:pPr marL="342900" lvl="0" indent="-342900" algn="l">
              <a:buFont typeface="Arial" panose="020B0604020202020204" pitchFamily="34" charset="0"/>
              <a:buChar char="•"/>
            </a:pPr>
            <a:r>
              <a:rPr lang="pt-BR" sz="2800" b="1" i="0" dirty="0">
                <a:solidFill>
                  <a:srgbClr val="303030"/>
                </a:solidFill>
                <a:effectLst/>
                <a:latin typeface="Google Sans Text"/>
              </a:rPr>
              <a:t>Impacto no Compilador:</a:t>
            </a:r>
            <a:r>
              <a:rPr lang="pt-BR" sz="2800" b="0" i="0" dirty="0">
                <a:solidFill>
                  <a:srgbClr val="303030"/>
                </a:solidFill>
                <a:effectLst/>
                <a:latin typeface="Google Sans Text"/>
              </a:rPr>
              <a:t> O sistema precisa analisar o todo para entender se a palavra faz sentido naquele local</a:t>
            </a:r>
          </a:p>
          <a:p>
            <a:pPr>
              <a:buNone/>
            </a:pPr>
            <a:br>
              <a:rPr lang="pt-BR" sz="2800" dirty="0"/>
            </a:br>
            <a:endParaRPr lang="pt-BR" sz="2800" dirty="0"/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0F249245-7335-106C-C9DA-49E7CE781DE1}"/>
              </a:ext>
            </a:extLst>
          </p:cNvPr>
          <p:cNvSpPr txBox="1"/>
          <p:nvPr/>
        </p:nvSpPr>
        <p:spPr>
          <a:xfrm>
            <a:off x="1233652" y="4144580"/>
            <a:ext cx="6093372" cy="12464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marR="0" lvl="0" indent="-342900">
              <a:spcAft>
                <a:spcPts val="900"/>
              </a:spcAft>
              <a:buFont typeface="Arial" panose="020B0604020202020204" pitchFamily="34" charset="0"/>
              <a:buChar char="•"/>
            </a:pPr>
            <a:r>
              <a:rPr lang="pt-BR" sz="1200" b="1" u="none" strike="noStrike" dirty="0">
                <a:effectLst/>
                <a:latin typeface="Google Sans"/>
              </a:rPr>
              <a:t>Homônimos perfeitos</a:t>
            </a:r>
            <a:r>
              <a:rPr lang="pt-BR" sz="1200" b="0" u="none" strike="noStrike" dirty="0">
                <a:effectLst/>
                <a:latin typeface="Google Sans"/>
              </a:rPr>
              <a:t>: Mesma grafia e mesmo som (</a:t>
            </a:r>
            <a:r>
              <a:rPr lang="pt-BR" sz="1200" b="0" u="none" strike="noStrike" dirty="0" err="1">
                <a:effectLst/>
                <a:latin typeface="Google Sans"/>
              </a:rPr>
              <a:t>Ex</a:t>
            </a:r>
            <a:r>
              <a:rPr lang="pt-BR" sz="1200" b="0" u="none" strike="noStrike" dirty="0">
                <a:effectLst/>
                <a:latin typeface="Google Sans"/>
              </a:rPr>
              <a:t>: </a:t>
            </a:r>
            <a:r>
              <a:rPr lang="pt-BR" sz="1200" b="0" i="1" u="none" strike="noStrike" dirty="0">
                <a:effectLst/>
                <a:latin typeface="Google Sans"/>
              </a:rPr>
              <a:t>Caminho</a:t>
            </a:r>
            <a:r>
              <a:rPr lang="pt-BR" sz="1200" b="0" u="none" strike="noStrike" dirty="0">
                <a:effectLst/>
                <a:latin typeface="Google Sans"/>
              </a:rPr>
              <a:t> [substantivo] e </a:t>
            </a:r>
            <a:r>
              <a:rPr lang="pt-BR" sz="1200" b="0" i="1" u="none" strike="noStrike" dirty="0">
                <a:effectLst/>
                <a:latin typeface="Google Sans"/>
              </a:rPr>
              <a:t>Caminho</a:t>
            </a:r>
            <a:r>
              <a:rPr lang="pt-BR" sz="1200" b="0" u="none" strike="noStrike" dirty="0">
                <a:effectLst/>
                <a:latin typeface="Google Sans"/>
              </a:rPr>
              <a:t> [verbo]).</a:t>
            </a:r>
          </a:p>
          <a:p>
            <a:pPr marL="342900" marR="0" lvl="0" indent="-342900">
              <a:spcAft>
                <a:spcPts val="900"/>
              </a:spcAft>
              <a:buFont typeface="Arial" panose="020B0604020202020204" pitchFamily="34" charset="0"/>
              <a:buChar char="•"/>
            </a:pPr>
            <a:r>
              <a:rPr lang="pt-BR" sz="1200" b="1" u="none" strike="noStrike" dirty="0">
                <a:effectLst/>
                <a:latin typeface="Google Sans"/>
              </a:rPr>
              <a:t>Parônimos</a:t>
            </a:r>
            <a:r>
              <a:rPr lang="pt-BR" sz="1200" b="0" u="none" strike="noStrike" dirty="0">
                <a:effectLst/>
                <a:latin typeface="Google Sans"/>
              </a:rPr>
              <a:t>: Palavras parecidas no som e na escrita, mas não iguais (</a:t>
            </a:r>
            <a:r>
              <a:rPr lang="pt-BR" sz="1200" b="0" u="none" strike="noStrike" dirty="0" err="1">
                <a:effectLst/>
                <a:latin typeface="Google Sans"/>
              </a:rPr>
              <a:t>Ex</a:t>
            </a:r>
            <a:r>
              <a:rPr lang="pt-BR" sz="1200" b="0" u="none" strike="noStrike" dirty="0">
                <a:effectLst/>
                <a:latin typeface="Google Sans"/>
              </a:rPr>
              <a:t>: </a:t>
            </a:r>
            <a:r>
              <a:rPr lang="pt-BR" sz="1200" b="0" i="1" u="none" strike="noStrike" dirty="0">
                <a:effectLst/>
                <a:latin typeface="Google Sans"/>
              </a:rPr>
              <a:t>Cumprimento</a:t>
            </a:r>
            <a:r>
              <a:rPr lang="pt-BR" sz="1200" b="0" u="none" strike="noStrike" dirty="0">
                <a:effectLst/>
                <a:latin typeface="Google Sans"/>
              </a:rPr>
              <a:t> e </a:t>
            </a:r>
            <a:r>
              <a:rPr lang="pt-BR" sz="1200" b="0" i="1" u="none" strike="noStrike" dirty="0">
                <a:effectLst/>
                <a:latin typeface="Google Sans"/>
              </a:rPr>
              <a:t>Comprimento</a:t>
            </a:r>
            <a:r>
              <a:rPr lang="pt-BR" sz="1200" b="0" u="none" strike="noStrike" dirty="0">
                <a:effectLst/>
                <a:latin typeface="Google Sans"/>
              </a:rPr>
              <a:t>).</a:t>
            </a:r>
          </a:p>
          <a:p>
            <a:pPr marL="342900" indent="-342900">
              <a:spcAft>
                <a:spcPts val="900"/>
              </a:spcAft>
              <a:buFont typeface="Arial" panose="020B0604020202020204" pitchFamily="34" charset="0"/>
              <a:buChar char="•"/>
            </a:pPr>
            <a:r>
              <a:rPr lang="pt-BR" sz="1200" dirty="0"/>
              <a:t>homônimas homófonas</a:t>
            </a:r>
            <a:endParaRPr lang="pt-BR" sz="1200" b="0" u="none" strike="noStrike" dirty="0">
              <a:effectLst/>
              <a:latin typeface="Google Sans"/>
            </a:endParaRPr>
          </a:p>
        </p:txBody>
      </p:sp>
    </p:spTree>
    <p:extLst>
      <p:ext uri="{BB962C8B-B14F-4D97-AF65-F5344CB8AC3E}">
        <p14:creationId xmlns:p14="http://schemas.microsoft.com/office/powerpoint/2010/main" val="13112262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B89971-46E0-7C33-166E-481E023677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ixaDeTexto 2">
            <a:extLst>
              <a:ext uri="{FF2B5EF4-FFF2-40B4-BE49-F238E27FC236}">
                <a16:creationId xmlns:a16="http://schemas.microsoft.com/office/drawing/2014/main" id="{1CF14777-E014-C587-6E7F-D28397ADD4B8}"/>
              </a:ext>
            </a:extLst>
          </p:cNvPr>
          <p:cNvSpPr txBox="1"/>
          <p:nvPr/>
        </p:nvSpPr>
        <p:spPr>
          <a:xfrm>
            <a:off x="1454367" y="634095"/>
            <a:ext cx="9944101" cy="52629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pt-BR" sz="2800" b="1" dirty="0">
                <a:solidFill>
                  <a:srgbClr val="303030"/>
                </a:solidFill>
                <a:effectLst/>
              </a:rPr>
              <a:t>Semântica na Programação</a:t>
            </a:r>
          </a:p>
          <a:p>
            <a:pPr>
              <a:buNone/>
            </a:pPr>
            <a:endParaRPr lang="pt-BR" sz="2800" dirty="0">
              <a:solidFill>
                <a:srgbClr val="303030"/>
              </a:solidFill>
              <a:effectLst/>
            </a:endParaRPr>
          </a:p>
          <a:p>
            <a:pPr marL="342900" lvl="0" indent="-342900" algn="l">
              <a:buFont typeface="Arial" panose="020B0604020202020204" pitchFamily="34" charset="0"/>
              <a:buChar char="•"/>
            </a:pPr>
            <a:r>
              <a:rPr lang="pt-BR" sz="2800" b="1" i="0" dirty="0">
                <a:solidFill>
                  <a:srgbClr val="303030"/>
                </a:solidFill>
                <a:effectLst/>
                <a:latin typeface="Google Sans Text"/>
              </a:rPr>
              <a:t>Tipagem e Memória:</a:t>
            </a:r>
            <a:endParaRPr lang="pt-BR" sz="2800" b="0" i="0" dirty="0">
              <a:solidFill>
                <a:srgbClr val="303030"/>
              </a:solidFill>
              <a:effectLst/>
              <a:latin typeface="Google Sans Text"/>
            </a:endParaRP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pt-BR" sz="2800" b="0" i="0" dirty="0" err="1">
                <a:solidFill>
                  <a:srgbClr val="303030"/>
                </a:solidFill>
                <a:effectLst/>
                <a:latin typeface="Google Sans Code"/>
              </a:rPr>
              <a:t>int</a:t>
            </a:r>
            <a:r>
              <a:rPr lang="pt-BR" sz="2800" b="0" i="0" dirty="0">
                <a:solidFill>
                  <a:srgbClr val="303030"/>
                </a:solidFill>
                <a:effectLst/>
                <a:latin typeface="Google Sans Code"/>
              </a:rPr>
              <a:t> soma</a:t>
            </a:r>
            <a:r>
              <a:rPr lang="pt-BR" sz="2800" b="0" i="0" dirty="0">
                <a:solidFill>
                  <a:srgbClr val="303030"/>
                </a:solidFill>
                <a:effectLst/>
                <a:latin typeface="Google Sans Text"/>
              </a:rPr>
              <a:t> vs. </a:t>
            </a:r>
            <a:r>
              <a:rPr lang="pt-BR" sz="2800" b="0" i="0" dirty="0" err="1">
                <a:solidFill>
                  <a:srgbClr val="303030"/>
                </a:solidFill>
                <a:effectLst/>
                <a:latin typeface="Google Sans Code"/>
              </a:rPr>
              <a:t>float</a:t>
            </a:r>
            <a:r>
              <a:rPr lang="pt-BR" sz="2800" b="0" i="0" dirty="0">
                <a:solidFill>
                  <a:srgbClr val="303030"/>
                </a:solidFill>
                <a:effectLst/>
                <a:latin typeface="Google Sans Code"/>
              </a:rPr>
              <a:t> soma</a:t>
            </a:r>
            <a:r>
              <a:rPr lang="pt-BR" sz="2800" b="0" i="0" dirty="0">
                <a:solidFill>
                  <a:srgbClr val="303030"/>
                </a:solidFill>
                <a:effectLst/>
                <a:latin typeface="Google Sans Text"/>
              </a:rPr>
              <a:t> vs. </a:t>
            </a:r>
            <a:r>
              <a:rPr lang="pt-BR" sz="2800" b="0" i="0" dirty="0" err="1">
                <a:solidFill>
                  <a:srgbClr val="303030"/>
                </a:solidFill>
                <a:effectLst/>
                <a:latin typeface="Google Sans Code"/>
              </a:rPr>
              <a:t>class</a:t>
            </a:r>
            <a:r>
              <a:rPr lang="pt-BR" sz="2800" b="0" i="0" dirty="0">
                <a:solidFill>
                  <a:srgbClr val="303030"/>
                </a:solidFill>
                <a:effectLst/>
                <a:latin typeface="Google Sans Code"/>
              </a:rPr>
              <a:t> soma</a:t>
            </a:r>
            <a:r>
              <a:rPr lang="pt-BR" sz="2800" b="0" i="0" dirty="0">
                <a:solidFill>
                  <a:srgbClr val="303030"/>
                </a:solidFill>
                <a:effectLst/>
                <a:latin typeface="Google Sans Text"/>
              </a:rPr>
              <a:t>. O significado da palavra "soma" depende da declaração anterior.</a:t>
            </a:r>
          </a:p>
          <a:p>
            <a:pPr marL="342900" lvl="0" indent="-342900" algn="l">
              <a:buFont typeface="Arial" panose="020B0604020202020204" pitchFamily="34" charset="0"/>
              <a:buChar char="•"/>
            </a:pPr>
            <a:r>
              <a:rPr lang="pt-BR" sz="2800" b="1" i="0" dirty="0">
                <a:solidFill>
                  <a:srgbClr val="303030"/>
                </a:solidFill>
                <a:effectLst/>
                <a:latin typeface="Google Sans Text"/>
              </a:rPr>
              <a:t>Erros Semânticos Comuns:</a:t>
            </a:r>
            <a:endParaRPr lang="pt-BR" sz="2800" b="0" i="0" dirty="0">
              <a:solidFill>
                <a:srgbClr val="303030"/>
              </a:solidFill>
              <a:effectLst/>
              <a:latin typeface="Google Sans Text"/>
            </a:endParaRP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pt-BR" sz="2800" b="1" i="0" dirty="0">
                <a:solidFill>
                  <a:srgbClr val="303030"/>
                </a:solidFill>
                <a:effectLst/>
                <a:latin typeface="Google Sans Text"/>
              </a:rPr>
              <a:t>Tipos Incompatíveis:</a:t>
            </a:r>
            <a:r>
              <a:rPr lang="pt-BR" sz="2800" b="0" i="0" dirty="0">
                <a:solidFill>
                  <a:srgbClr val="303030"/>
                </a:solidFill>
                <a:effectLst/>
                <a:latin typeface="Google Sans Text"/>
              </a:rPr>
              <a:t> Tentar colocar um valor real (</a:t>
            </a:r>
            <a:r>
              <a:rPr lang="pt-BR" sz="2800" b="0" i="0" dirty="0">
                <a:solidFill>
                  <a:srgbClr val="303030"/>
                </a:solidFill>
                <a:effectLst/>
                <a:latin typeface="Google Sans Code"/>
              </a:rPr>
              <a:t>4.5</a:t>
            </a:r>
            <a:r>
              <a:rPr lang="pt-BR" sz="2800" b="0" i="0" dirty="0">
                <a:solidFill>
                  <a:srgbClr val="303030"/>
                </a:solidFill>
                <a:effectLst/>
                <a:latin typeface="Google Sans Text"/>
              </a:rPr>
              <a:t>) em uma variável declarada como inteira (</a:t>
            </a:r>
            <a:r>
              <a:rPr lang="pt-BR" sz="2800" b="0" i="0" dirty="0" err="1">
                <a:solidFill>
                  <a:srgbClr val="303030"/>
                </a:solidFill>
                <a:effectLst/>
                <a:latin typeface="Google Sans Code"/>
              </a:rPr>
              <a:t>int</a:t>
            </a:r>
            <a:r>
              <a:rPr lang="pt-BR" sz="2800" b="0" i="0" dirty="0">
                <a:solidFill>
                  <a:srgbClr val="303030"/>
                </a:solidFill>
                <a:effectLst/>
                <a:latin typeface="Google Sans Text"/>
              </a:rPr>
              <a:t>).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pt-BR" sz="2800" b="1" i="0" dirty="0">
                <a:solidFill>
                  <a:srgbClr val="303030"/>
                </a:solidFill>
                <a:effectLst/>
                <a:latin typeface="Google Sans Text"/>
              </a:rPr>
              <a:t>Variável não Definida:</a:t>
            </a:r>
            <a:r>
              <a:rPr lang="pt-BR" sz="2800" b="0" i="0" dirty="0">
                <a:solidFill>
                  <a:srgbClr val="303030"/>
                </a:solidFill>
                <a:effectLst/>
                <a:latin typeface="Google Sans Text"/>
              </a:rPr>
              <a:t> Tentar usar uma variável (</a:t>
            </a:r>
            <a:r>
              <a:rPr lang="pt-BR" sz="2800" b="0" i="0" dirty="0" err="1">
                <a:solidFill>
                  <a:srgbClr val="303030"/>
                </a:solidFill>
                <a:effectLst/>
                <a:latin typeface="Google Sans Text"/>
              </a:rPr>
              <a:t>ex</a:t>
            </a:r>
            <a:r>
              <a:rPr lang="pt-BR" sz="2800" b="0" i="0" dirty="0">
                <a:solidFill>
                  <a:srgbClr val="303030"/>
                </a:solidFill>
                <a:effectLst/>
                <a:latin typeface="Google Sans Text"/>
              </a:rPr>
              <a:t>: </a:t>
            </a:r>
            <a:r>
              <a:rPr lang="pt-BR" sz="2800" b="0" i="0" dirty="0">
                <a:solidFill>
                  <a:srgbClr val="303030"/>
                </a:solidFill>
                <a:effectLst/>
                <a:latin typeface="Google Sans Code"/>
              </a:rPr>
              <a:t>média := 52.1</a:t>
            </a:r>
            <a:r>
              <a:rPr lang="pt-BR" sz="2800" b="0" i="0" dirty="0">
                <a:solidFill>
                  <a:srgbClr val="303030"/>
                </a:solidFill>
                <a:effectLst/>
                <a:latin typeface="Google Sans Text"/>
              </a:rPr>
              <a:t>) sem tê-la declarado previamente</a:t>
            </a:r>
          </a:p>
          <a:p>
            <a:pPr>
              <a:buNone/>
            </a:pPr>
            <a:br>
              <a:rPr lang="pt-BR" sz="2800" dirty="0"/>
            </a:br>
            <a:endParaRPr lang="pt-BR" sz="2800" dirty="0"/>
          </a:p>
        </p:txBody>
      </p:sp>
    </p:spTree>
    <p:extLst>
      <p:ext uri="{BB962C8B-B14F-4D97-AF65-F5344CB8AC3E}">
        <p14:creationId xmlns:p14="http://schemas.microsoft.com/office/powerpoint/2010/main" val="8259762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2240BF-612F-F18C-165E-E18F7EF9E9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ela 1">
            <a:extLst>
              <a:ext uri="{FF2B5EF4-FFF2-40B4-BE49-F238E27FC236}">
                <a16:creationId xmlns:a16="http://schemas.microsoft.com/office/drawing/2014/main" id="{2A470B9F-0AFF-F5AE-F3C1-7A44B195BD5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53686840"/>
              </p:ext>
            </p:extLst>
          </p:nvPr>
        </p:nvGraphicFramePr>
        <p:xfrm>
          <a:off x="1869527" y="2492534"/>
          <a:ext cx="8819493" cy="2103120"/>
        </p:xfrm>
        <a:graphic>
          <a:graphicData uri="http://schemas.openxmlformats.org/drawingml/2006/table">
            <a:tbl>
              <a:tblPr/>
              <a:tblGrid>
                <a:gridCol w="2056147">
                  <a:extLst>
                    <a:ext uri="{9D8B030D-6E8A-4147-A177-3AD203B41FA5}">
                      <a16:colId xmlns:a16="http://schemas.microsoft.com/office/drawing/2014/main" val="3195064410"/>
                    </a:ext>
                  </a:extLst>
                </a:gridCol>
                <a:gridCol w="3823515">
                  <a:extLst>
                    <a:ext uri="{9D8B030D-6E8A-4147-A177-3AD203B41FA5}">
                      <a16:colId xmlns:a16="http://schemas.microsoft.com/office/drawing/2014/main" val="1583718224"/>
                    </a:ext>
                  </a:extLst>
                </a:gridCol>
                <a:gridCol w="2939831">
                  <a:extLst>
                    <a:ext uri="{9D8B030D-6E8A-4147-A177-3AD203B41FA5}">
                      <a16:colId xmlns:a16="http://schemas.microsoft.com/office/drawing/2014/main" val="262639298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pt-BR" b="1">
                          <a:solidFill>
                            <a:srgbClr val="303030"/>
                          </a:solidFill>
                          <a:effectLst/>
                        </a:rPr>
                        <a:t>Característica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 cap="flat" cmpd="sng" algn="ctr">
                      <a:solidFill>
                        <a:srgbClr val="9191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pt-BR" b="1">
                          <a:solidFill>
                            <a:srgbClr val="303030"/>
                          </a:solidFill>
                          <a:effectLst/>
                        </a:rPr>
                        <a:t>Sintaxe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 cap="flat" cmpd="sng" algn="ctr">
                      <a:solidFill>
                        <a:srgbClr val="9191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pt-BR" b="1" dirty="0">
                          <a:solidFill>
                            <a:srgbClr val="303030"/>
                          </a:solidFill>
                          <a:effectLst/>
                        </a:rPr>
                        <a:t>Semântica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 cap="flat" cmpd="sng" algn="ctr">
                      <a:solidFill>
                        <a:srgbClr val="9191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6678739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pt-BR" b="1">
                          <a:solidFill>
                            <a:srgbClr val="303030"/>
                          </a:solidFill>
                          <a:effectLst/>
                        </a:rPr>
                        <a:t>Ordem de análise</a:t>
                      </a:r>
                      <a:endParaRPr lang="pt-BR">
                        <a:solidFill>
                          <a:srgbClr val="303030"/>
                        </a:solidFill>
                        <a:effectLst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9191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pt-BR">
                          <a:solidFill>
                            <a:srgbClr val="303030"/>
                          </a:solidFill>
                          <a:effectLst/>
                        </a:rPr>
                        <a:t>Reconhecida antes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9191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pt-BR">
                          <a:solidFill>
                            <a:srgbClr val="303030"/>
                          </a:solidFill>
                          <a:effectLst/>
                        </a:rPr>
                        <a:t>Analisada depois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9191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386409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pt-BR" b="1">
                          <a:solidFill>
                            <a:srgbClr val="303030"/>
                          </a:solidFill>
                          <a:effectLst/>
                        </a:rPr>
                        <a:t>Complexidade</a:t>
                      </a:r>
                      <a:endParaRPr lang="pt-BR">
                        <a:solidFill>
                          <a:srgbClr val="303030"/>
                        </a:solidFill>
                        <a:effectLst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pt-BR" dirty="0">
                          <a:solidFill>
                            <a:srgbClr val="303030"/>
                          </a:solidFill>
                          <a:effectLst/>
                        </a:rPr>
                        <a:t>Mais simples de tratar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pt-BR">
                          <a:solidFill>
                            <a:srgbClr val="303030"/>
                          </a:solidFill>
                          <a:effectLst/>
                        </a:rPr>
                        <a:t>Tratamento mais elaborado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8534108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pt-BR" b="1">
                          <a:solidFill>
                            <a:srgbClr val="303030"/>
                          </a:solidFill>
                          <a:effectLst/>
                        </a:rPr>
                        <a:t>Base</a:t>
                      </a:r>
                      <a:endParaRPr lang="pt-BR">
                        <a:solidFill>
                          <a:srgbClr val="303030"/>
                        </a:solidFill>
                        <a:effectLst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pt-BR">
                          <a:solidFill>
                            <a:srgbClr val="303030"/>
                          </a:solidFill>
                          <a:effectLst/>
                        </a:rPr>
                        <a:t>Construções matemáticas (Chomsky)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pt-BR">
                          <a:solidFill>
                            <a:srgbClr val="303030"/>
                          </a:solidFill>
                          <a:effectLst/>
                        </a:rPr>
                        <a:t>Interpretação e contexto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4964188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pt-BR" b="1">
                          <a:solidFill>
                            <a:srgbClr val="303030"/>
                          </a:solidFill>
                          <a:effectLst/>
                        </a:rPr>
                        <a:t>Significado</a:t>
                      </a:r>
                      <a:endParaRPr lang="pt-BR">
                        <a:solidFill>
                          <a:srgbClr val="303030"/>
                        </a:solidFill>
                        <a:effectLst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pt-BR">
                          <a:solidFill>
                            <a:srgbClr val="303030"/>
                          </a:solidFill>
                          <a:effectLst/>
                        </a:rPr>
                        <a:t>Livre de significado associado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pt-BR" dirty="0">
                          <a:solidFill>
                            <a:srgbClr val="303030"/>
                          </a:solidFill>
                          <a:effectLst/>
                        </a:rPr>
                        <a:t>Totalmente dependente do sentido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59076804"/>
                  </a:ext>
                </a:extLst>
              </a:tr>
            </a:tbl>
          </a:graphicData>
        </a:graphic>
      </p:graphicFrame>
      <p:sp>
        <p:nvSpPr>
          <p:cNvPr id="4" name="CaixaDeTexto 3">
            <a:extLst>
              <a:ext uri="{FF2B5EF4-FFF2-40B4-BE49-F238E27FC236}">
                <a16:creationId xmlns:a16="http://schemas.microsoft.com/office/drawing/2014/main" id="{EF07A953-2C45-BAD9-F7D3-60010E63A130}"/>
              </a:ext>
            </a:extLst>
          </p:cNvPr>
          <p:cNvSpPr txBox="1"/>
          <p:nvPr/>
        </p:nvSpPr>
        <p:spPr>
          <a:xfrm>
            <a:off x="1869527" y="1762375"/>
            <a:ext cx="609337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pt-BR" b="1" dirty="0">
                <a:solidFill>
                  <a:srgbClr val="303030"/>
                </a:solidFill>
                <a:effectLst/>
              </a:rPr>
              <a:t>Comparativo: Sintaxe vs. Semântica</a:t>
            </a:r>
            <a:endParaRPr lang="pt-BR" dirty="0">
              <a:solidFill>
                <a:srgbClr val="303030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175841005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F120D3-35E6-C310-9094-6A9684C5A4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ixaDeTexto 2">
            <a:extLst>
              <a:ext uri="{FF2B5EF4-FFF2-40B4-BE49-F238E27FC236}">
                <a16:creationId xmlns:a16="http://schemas.microsoft.com/office/drawing/2014/main" id="{3152B5ED-ECF4-BC43-3635-60759297F4CF}"/>
              </a:ext>
            </a:extLst>
          </p:cNvPr>
          <p:cNvSpPr txBox="1"/>
          <p:nvPr/>
        </p:nvSpPr>
        <p:spPr>
          <a:xfrm>
            <a:off x="1119351" y="799660"/>
            <a:ext cx="9821917" cy="48320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pt-BR" sz="2800" b="1" dirty="0">
                <a:solidFill>
                  <a:srgbClr val="303030"/>
                </a:solidFill>
                <a:effectLst/>
              </a:rPr>
              <a:t>Vocabulário Técnico da Disciplina</a:t>
            </a:r>
          </a:p>
          <a:p>
            <a:pPr>
              <a:buNone/>
            </a:pPr>
            <a:endParaRPr lang="pt-BR" sz="2800" dirty="0">
              <a:solidFill>
                <a:srgbClr val="303030"/>
              </a:solidFill>
              <a:effectLst/>
            </a:endParaRPr>
          </a:p>
          <a:p>
            <a:pPr marL="342900" lvl="0" indent="-342900" algn="l">
              <a:buFont typeface="Arial" panose="020B0604020202020204" pitchFamily="34" charset="0"/>
              <a:buChar char="•"/>
            </a:pPr>
            <a:r>
              <a:rPr lang="pt-BR" sz="2800" b="1" i="0" dirty="0">
                <a:solidFill>
                  <a:srgbClr val="303030"/>
                </a:solidFill>
                <a:effectLst/>
                <a:latin typeface="Google Sans Text"/>
              </a:rPr>
              <a:t>Sintaticamente Errado:</a:t>
            </a:r>
            <a:r>
              <a:rPr lang="pt-BR" sz="2800" b="0" i="0" dirty="0">
                <a:solidFill>
                  <a:srgbClr val="303030"/>
                </a:solidFill>
                <a:effectLst/>
                <a:latin typeface="Google Sans Text"/>
              </a:rPr>
              <a:t> O texto escrito não é aceito pela linguagem formal.</a:t>
            </a:r>
          </a:p>
          <a:p>
            <a:pPr marL="342900" lvl="0" indent="-342900" algn="l">
              <a:buFont typeface="Arial" panose="020B0604020202020204" pitchFamily="34" charset="0"/>
              <a:buChar char="•"/>
            </a:pPr>
            <a:r>
              <a:rPr lang="pt-BR" sz="2800" b="1" i="0" dirty="0">
                <a:solidFill>
                  <a:srgbClr val="303030"/>
                </a:solidFill>
                <a:effectLst/>
                <a:latin typeface="Google Sans Text"/>
              </a:rPr>
              <a:t>Sintática e Semanticamente Correto:</a:t>
            </a:r>
            <a:r>
              <a:rPr lang="pt-BR" sz="2800" b="0" i="0" dirty="0">
                <a:solidFill>
                  <a:srgbClr val="303030"/>
                </a:solidFill>
                <a:effectLst/>
                <a:latin typeface="Google Sans Text"/>
              </a:rPr>
              <a:t> Texto aceito e com comportamento desejado.</a:t>
            </a:r>
          </a:p>
          <a:p>
            <a:pPr marL="342900" lvl="0" indent="-342900" algn="l">
              <a:buFont typeface="Arial" panose="020B0604020202020204" pitchFamily="34" charset="0"/>
              <a:buChar char="•"/>
            </a:pPr>
            <a:r>
              <a:rPr lang="pt-BR" sz="2800" b="1" i="0" dirty="0">
                <a:solidFill>
                  <a:srgbClr val="303030"/>
                </a:solidFill>
                <a:effectLst/>
                <a:latin typeface="Google Sans Text"/>
              </a:rPr>
              <a:t>Sintaticamente Inválido (Erro de Lógica/Bug):</a:t>
            </a:r>
            <a:r>
              <a:rPr lang="pt-BR" sz="2800" b="0" i="0" dirty="0">
                <a:solidFill>
                  <a:srgbClr val="303030"/>
                </a:solidFill>
                <a:effectLst/>
                <a:latin typeface="Google Sans Text"/>
              </a:rPr>
              <a:t> O programa compila e roda (é aceito pela linguagem), mas o resultado está errado (</a:t>
            </a:r>
            <a:r>
              <a:rPr lang="pt-BR" sz="2800" b="0" i="0" dirty="0" err="1">
                <a:solidFill>
                  <a:srgbClr val="303030"/>
                </a:solidFill>
                <a:effectLst/>
                <a:latin typeface="Google Sans Text"/>
              </a:rPr>
              <a:t>ex</a:t>
            </a:r>
            <a:r>
              <a:rPr lang="pt-BR" sz="2800" b="0" i="0" dirty="0">
                <a:solidFill>
                  <a:srgbClr val="303030"/>
                </a:solidFill>
                <a:effectLst/>
                <a:latin typeface="Google Sans Text"/>
              </a:rPr>
              <a:t>: multiplicar por 4 quando deveria ser por 3)</a:t>
            </a:r>
          </a:p>
          <a:p>
            <a:pPr>
              <a:buNone/>
            </a:pPr>
            <a:br>
              <a:rPr lang="pt-BR" sz="2800" dirty="0"/>
            </a:br>
            <a:endParaRPr lang="pt-BR" sz="2800" dirty="0"/>
          </a:p>
        </p:txBody>
      </p:sp>
    </p:spTree>
    <p:extLst>
      <p:ext uri="{BB962C8B-B14F-4D97-AF65-F5344CB8AC3E}">
        <p14:creationId xmlns:p14="http://schemas.microsoft.com/office/powerpoint/2010/main" val="116694723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D7A3B9-29FE-E9C6-68D8-8A10141ECB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ixaDeTexto 2">
            <a:extLst>
              <a:ext uri="{FF2B5EF4-FFF2-40B4-BE49-F238E27FC236}">
                <a16:creationId xmlns:a16="http://schemas.microsoft.com/office/drawing/2014/main" id="{ACF1D78A-3090-6B05-B6F6-0843A812E385}"/>
              </a:ext>
            </a:extLst>
          </p:cNvPr>
          <p:cNvSpPr txBox="1"/>
          <p:nvPr/>
        </p:nvSpPr>
        <p:spPr>
          <a:xfrm>
            <a:off x="1517431" y="887472"/>
            <a:ext cx="9281948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pt-BR" sz="2800" b="1" dirty="0">
                <a:solidFill>
                  <a:srgbClr val="303030"/>
                </a:solidFill>
                <a:effectLst/>
              </a:rPr>
              <a:t>Conclusão e Próximos Passos</a:t>
            </a:r>
          </a:p>
          <a:p>
            <a:pPr>
              <a:buNone/>
            </a:pPr>
            <a:endParaRPr lang="pt-BR" sz="2800" dirty="0">
              <a:solidFill>
                <a:srgbClr val="303030"/>
              </a:solidFill>
              <a:effectLst/>
            </a:endParaRPr>
          </a:p>
          <a:p>
            <a:pPr marL="342900" lvl="0" indent="-342900" algn="l">
              <a:buFont typeface="Arial" panose="020B0604020202020204" pitchFamily="34" charset="0"/>
              <a:buChar char="•"/>
            </a:pPr>
            <a:r>
              <a:rPr lang="pt-BR" sz="2800" b="1" i="0" dirty="0">
                <a:solidFill>
                  <a:srgbClr val="303030"/>
                </a:solidFill>
                <a:effectLst/>
                <a:latin typeface="Google Sans Text"/>
              </a:rPr>
              <a:t>A Fronteira Tênue:</a:t>
            </a:r>
            <a:r>
              <a:rPr lang="pt-BR" sz="2800" b="0" i="0" dirty="0">
                <a:solidFill>
                  <a:srgbClr val="303030"/>
                </a:solidFill>
                <a:effectLst/>
                <a:latin typeface="Google Sans Text"/>
              </a:rPr>
              <a:t> Na prática, definir onde termina a sintaxe e começa a semântica nem sempre é fácil (como uma divisa de estados em um mapa).</a:t>
            </a:r>
          </a:p>
          <a:p>
            <a:pPr marL="342900" lvl="0" indent="-342900" algn="l">
              <a:buFont typeface="Arial" panose="020B0604020202020204" pitchFamily="34" charset="0"/>
              <a:buChar char="•"/>
            </a:pPr>
            <a:r>
              <a:rPr lang="pt-BR" sz="2800" b="1" i="0" dirty="0">
                <a:solidFill>
                  <a:srgbClr val="303030"/>
                </a:solidFill>
                <a:effectLst/>
                <a:latin typeface="Google Sans Text"/>
              </a:rPr>
              <a:t>Foco da Disciplina:</a:t>
            </a:r>
            <a:r>
              <a:rPr lang="pt-BR" sz="2800" b="0" i="0" dirty="0">
                <a:solidFill>
                  <a:srgbClr val="303030"/>
                </a:solidFill>
                <a:effectLst/>
                <a:latin typeface="Google Sans Text"/>
              </a:rPr>
              <a:t> Concentraremos esforços nas </a:t>
            </a:r>
            <a:r>
              <a:rPr lang="pt-BR" sz="2800" b="1" i="0" dirty="0">
                <a:solidFill>
                  <a:srgbClr val="303030"/>
                </a:solidFill>
                <a:effectLst/>
                <a:latin typeface="Google Sans Text"/>
              </a:rPr>
              <a:t>análises sintáticas</a:t>
            </a:r>
            <a:r>
              <a:rPr lang="pt-BR" sz="2800" b="0" i="0" dirty="0">
                <a:solidFill>
                  <a:srgbClr val="303030"/>
                </a:solidFill>
                <a:effectLst/>
                <a:latin typeface="Google Sans Text"/>
              </a:rPr>
              <a:t>.</a:t>
            </a:r>
          </a:p>
          <a:p>
            <a:pPr marL="342900" lvl="0" indent="-342900" algn="l">
              <a:buFont typeface="Arial" panose="020B0604020202020204" pitchFamily="34" charset="0"/>
              <a:buChar char="•"/>
            </a:pPr>
            <a:r>
              <a:rPr lang="pt-BR" sz="2800" b="1" i="0" dirty="0">
                <a:solidFill>
                  <a:srgbClr val="303030"/>
                </a:solidFill>
                <a:effectLst/>
                <a:latin typeface="Google Sans Text"/>
              </a:rPr>
              <a:t>Próxima Aula:</a:t>
            </a:r>
            <a:r>
              <a:rPr lang="pt-BR" sz="2800" b="0" i="0" dirty="0">
                <a:solidFill>
                  <a:srgbClr val="303030"/>
                </a:solidFill>
                <a:effectLst/>
                <a:latin typeface="Google Sans Text"/>
              </a:rPr>
              <a:t> Introdução aos conceitos iniciais de Alfabeto e Linguagem.</a:t>
            </a:r>
          </a:p>
        </p:txBody>
      </p:sp>
    </p:spTree>
    <p:extLst>
      <p:ext uri="{BB962C8B-B14F-4D97-AF65-F5344CB8AC3E}">
        <p14:creationId xmlns:p14="http://schemas.microsoft.com/office/powerpoint/2010/main" val="17278643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331AB4-F9B2-C196-2B38-1ACE664FE9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ixaDeTexto 2">
            <a:extLst>
              <a:ext uri="{FF2B5EF4-FFF2-40B4-BE49-F238E27FC236}">
                <a16:creationId xmlns:a16="http://schemas.microsoft.com/office/drawing/2014/main" id="{116A79B9-6582-134A-68A5-974F6DDC5820}"/>
              </a:ext>
            </a:extLst>
          </p:cNvPr>
          <p:cNvSpPr txBox="1"/>
          <p:nvPr/>
        </p:nvSpPr>
        <p:spPr>
          <a:xfrm>
            <a:off x="1580494" y="818328"/>
            <a:ext cx="8540968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pt-BR" sz="2800" b="1" dirty="0">
                <a:solidFill>
                  <a:srgbClr val="303030"/>
                </a:solidFill>
                <a:effectLst/>
              </a:rPr>
              <a:t>Faça a Lista 01 da disciplina disponível no </a:t>
            </a:r>
            <a:r>
              <a:rPr lang="pt-BR" sz="2800" b="1" dirty="0" err="1">
                <a:solidFill>
                  <a:srgbClr val="303030"/>
                </a:solidFill>
                <a:effectLst/>
              </a:rPr>
              <a:t>git</a:t>
            </a:r>
            <a:r>
              <a:rPr lang="pt-BR" sz="2800" b="1" dirty="0">
                <a:solidFill>
                  <a:srgbClr val="303030"/>
                </a:solidFill>
                <a:effectLst/>
              </a:rPr>
              <a:t> do professor:</a:t>
            </a:r>
          </a:p>
          <a:p>
            <a:pPr>
              <a:buNone/>
            </a:pPr>
            <a:br>
              <a:rPr lang="pt-BR" sz="2800" b="1" dirty="0">
                <a:solidFill>
                  <a:srgbClr val="303030"/>
                </a:solidFill>
                <a:effectLst/>
              </a:rPr>
            </a:br>
            <a:r>
              <a:rPr lang="pt-BR" sz="2800" b="1" dirty="0">
                <a:solidFill>
                  <a:srgbClr val="303030"/>
                </a:solidFill>
                <a:effectLst/>
              </a:rPr>
              <a:t>Orientações:</a:t>
            </a:r>
          </a:p>
          <a:p>
            <a:pPr marL="457200" indent="-457200">
              <a:buFontTx/>
              <a:buChar char="-"/>
            </a:pPr>
            <a:r>
              <a:rPr lang="pt-BR" sz="2800" b="1" dirty="0">
                <a:solidFill>
                  <a:srgbClr val="303030"/>
                </a:solidFill>
              </a:rPr>
              <a:t>Faça o </a:t>
            </a:r>
            <a:r>
              <a:rPr lang="pt-BR" sz="2800" b="1" dirty="0" err="1">
                <a:solidFill>
                  <a:srgbClr val="303030"/>
                </a:solidFill>
              </a:rPr>
              <a:t>fork</a:t>
            </a:r>
            <a:r>
              <a:rPr lang="pt-BR" sz="2800" b="1" dirty="0">
                <a:solidFill>
                  <a:srgbClr val="303030"/>
                </a:solidFill>
              </a:rPr>
              <a:t> do repositório:</a:t>
            </a:r>
          </a:p>
          <a:p>
            <a:pPr marL="457200" indent="-457200">
              <a:buFontTx/>
              <a:buChar char="-"/>
            </a:pPr>
            <a:r>
              <a:rPr lang="pt-BR" sz="2800" b="1" dirty="0">
                <a:solidFill>
                  <a:srgbClr val="303030"/>
                </a:solidFill>
                <a:hlinkClick r:id="rId3"/>
              </a:rPr>
              <a:t>https://github.com/murilloed/linguagens_formais_e_automatos/tree/main</a:t>
            </a:r>
            <a:endParaRPr lang="pt-BR" sz="2800" b="1" dirty="0">
              <a:solidFill>
                <a:srgbClr val="303030"/>
              </a:solidFill>
            </a:endParaRPr>
          </a:p>
          <a:p>
            <a:pPr marL="457200" indent="-457200">
              <a:buFontTx/>
              <a:buChar char="-"/>
            </a:pPr>
            <a:r>
              <a:rPr lang="pt-BR" sz="2800" b="1" dirty="0">
                <a:solidFill>
                  <a:srgbClr val="303030"/>
                </a:solidFill>
                <a:effectLst/>
              </a:rPr>
              <a:t>Dê um estrela de favorit</a:t>
            </a:r>
            <a:r>
              <a:rPr lang="pt-BR" sz="2800" b="1" dirty="0">
                <a:solidFill>
                  <a:srgbClr val="303030"/>
                </a:solidFill>
              </a:rPr>
              <a:t>o</a:t>
            </a:r>
          </a:p>
          <a:p>
            <a:pPr marL="457200" indent="-457200">
              <a:buFontTx/>
              <a:buChar char="-"/>
            </a:pPr>
            <a:r>
              <a:rPr lang="pt-BR" sz="2800" b="1" dirty="0">
                <a:solidFill>
                  <a:srgbClr val="303030"/>
                </a:solidFill>
                <a:effectLst/>
              </a:rPr>
              <a:t>Resolva as </a:t>
            </a:r>
            <a:r>
              <a:rPr lang="pt-BR" sz="2800" b="1" dirty="0">
                <a:solidFill>
                  <a:srgbClr val="303030"/>
                </a:solidFill>
              </a:rPr>
              <a:t>questões e envie um PR no </a:t>
            </a:r>
            <a:r>
              <a:rPr lang="pt-BR" sz="2800" b="1" dirty="0" err="1">
                <a:solidFill>
                  <a:srgbClr val="303030"/>
                </a:solidFill>
              </a:rPr>
              <a:t>Git</a:t>
            </a:r>
            <a:r>
              <a:rPr lang="pt-BR" sz="2800" b="1" dirty="0">
                <a:solidFill>
                  <a:srgbClr val="303030"/>
                </a:solidFill>
              </a:rPr>
              <a:t>.</a:t>
            </a:r>
            <a:endParaRPr lang="pt-BR" sz="2800" b="1" dirty="0">
              <a:solidFill>
                <a:srgbClr val="303030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164073738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7668DD-F9EA-944B-8752-BDBCD13F0D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>
            <a:extLst>
              <a:ext uri="{FF2B5EF4-FFF2-40B4-BE49-F238E27FC236}">
                <a16:creationId xmlns:a16="http://schemas.microsoft.com/office/drawing/2014/main" id="{B41A913F-DDDC-B039-ECA7-F51E967199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DA INTUIÇÃO À FORMALIZAÇÃO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8A486616-5922-EDF8-E600-390915B652A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/>
              <a:t>Como </a:t>
            </a:r>
            <a:r>
              <a:rPr dirty="0" err="1"/>
              <a:t>descrever</a:t>
            </a:r>
            <a:r>
              <a:rPr dirty="0"/>
              <a:t>, com </a:t>
            </a:r>
            <a:r>
              <a:rPr dirty="0" err="1"/>
              <a:t>precisão</a:t>
            </a:r>
            <a:r>
              <a:rPr dirty="0"/>
              <a:t>, conjuntos de </a:t>
            </a:r>
            <a:r>
              <a:rPr dirty="0" err="1"/>
              <a:t>palavras</a:t>
            </a:r>
            <a:r>
              <a:rPr dirty="0"/>
              <a:t> e </a:t>
            </a:r>
            <a:r>
              <a:rPr dirty="0" err="1"/>
              <a:t>regras</a:t>
            </a:r>
            <a:r>
              <a:rPr dirty="0"/>
              <a:t> de </a:t>
            </a:r>
            <a:r>
              <a:rPr dirty="0" err="1"/>
              <a:t>formação</a:t>
            </a:r>
            <a:r>
              <a:rPr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39972658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83CC57-1877-0132-0AF8-2FE539CC3F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>
            <a:extLst>
              <a:ext uri="{FF2B5EF4-FFF2-40B4-BE49-F238E27FC236}">
                <a16:creationId xmlns:a16="http://schemas.microsoft.com/office/drawing/2014/main" id="{6DA4D0FE-881C-5F3B-7489-A11494296C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DA INTUIÇÃO À FORMALIZAÇÃO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F47FE041-0706-CBBA-F4D3-3F897F35CF0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/>
              <a:t>Como </a:t>
            </a:r>
            <a:r>
              <a:rPr dirty="0" err="1"/>
              <a:t>descrever</a:t>
            </a:r>
            <a:r>
              <a:rPr dirty="0"/>
              <a:t>, com </a:t>
            </a:r>
            <a:r>
              <a:rPr dirty="0" err="1"/>
              <a:t>precisão</a:t>
            </a:r>
            <a:r>
              <a:rPr dirty="0"/>
              <a:t>, conjuntos de </a:t>
            </a:r>
            <a:r>
              <a:rPr dirty="0" err="1"/>
              <a:t>palavras</a:t>
            </a:r>
            <a:r>
              <a:rPr dirty="0"/>
              <a:t> e </a:t>
            </a:r>
            <a:r>
              <a:rPr dirty="0" err="1"/>
              <a:t>regras</a:t>
            </a:r>
            <a:r>
              <a:rPr dirty="0"/>
              <a:t> de </a:t>
            </a:r>
            <a:r>
              <a:rPr dirty="0" err="1"/>
              <a:t>formação</a:t>
            </a:r>
            <a:r>
              <a:rPr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02593641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CCB00D9-1AE3-D260-EF6F-56D329965E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Por que estudar linguagens formais?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23FF91B0-B5DC-458A-642E-7D35529EFDB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dirty="0" err="1"/>
              <a:t>Especificar</a:t>
            </a:r>
            <a:r>
              <a:rPr dirty="0"/>
              <a:t> </a:t>
            </a:r>
            <a:r>
              <a:rPr dirty="0" err="1"/>
              <a:t>padrões</a:t>
            </a:r>
            <a:r>
              <a:rPr dirty="0"/>
              <a:t> </a:t>
            </a:r>
            <a:r>
              <a:rPr dirty="0" err="1"/>
              <a:t>sem</a:t>
            </a:r>
            <a:r>
              <a:rPr dirty="0"/>
              <a:t> </a:t>
            </a:r>
            <a:r>
              <a:rPr dirty="0" err="1"/>
              <a:t>ambiguidade</a:t>
            </a:r>
            <a:endParaRPr dirty="0"/>
          </a:p>
          <a:p>
            <a:r>
              <a:rPr dirty="0" err="1"/>
              <a:t>Compreender</a:t>
            </a:r>
            <a:r>
              <a:rPr dirty="0"/>
              <a:t> </a:t>
            </a:r>
            <a:r>
              <a:rPr dirty="0" err="1"/>
              <a:t>compiladores</a:t>
            </a:r>
            <a:r>
              <a:rPr dirty="0"/>
              <a:t> e </a:t>
            </a:r>
            <a:r>
              <a:rPr dirty="0" err="1"/>
              <a:t>validadores</a:t>
            </a:r>
            <a:endParaRPr dirty="0"/>
          </a:p>
          <a:p>
            <a:r>
              <a:rPr dirty="0" err="1"/>
              <a:t>Modelar</a:t>
            </a:r>
            <a:r>
              <a:rPr dirty="0"/>
              <a:t> entradas </a:t>
            </a:r>
            <a:r>
              <a:rPr dirty="0" err="1"/>
              <a:t>aceitas</a:t>
            </a:r>
            <a:r>
              <a:rPr dirty="0"/>
              <a:t> </a:t>
            </a:r>
            <a:r>
              <a:rPr dirty="0" err="1"/>
              <a:t>por</a:t>
            </a:r>
            <a:r>
              <a:rPr dirty="0"/>
              <a:t> </a:t>
            </a:r>
            <a:r>
              <a:rPr dirty="0" err="1"/>
              <a:t>sistemas</a:t>
            </a:r>
            <a:endParaRPr dirty="0"/>
          </a:p>
          <a:p>
            <a:r>
              <a:rPr dirty="0" err="1"/>
              <a:t>Desenvolver</a:t>
            </a:r>
            <a:r>
              <a:rPr dirty="0"/>
              <a:t> </a:t>
            </a:r>
            <a:r>
              <a:rPr dirty="0" err="1"/>
              <a:t>raciocínio</a:t>
            </a:r>
            <a:r>
              <a:rPr dirty="0"/>
              <a:t> </a:t>
            </a:r>
            <a:r>
              <a:rPr dirty="0" err="1"/>
              <a:t>lógico</a:t>
            </a:r>
            <a:r>
              <a:rPr dirty="0"/>
              <a:t> e </a:t>
            </a:r>
            <a:r>
              <a:rPr dirty="0" err="1"/>
              <a:t>algorítmico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310152805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C0CF012-B9B8-2A31-148F-26EB5CDF49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 anchor="ctr">
            <a:normAutofit/>
          </a:bodyPr>
          <a:lstStyle/>
          <a:p>
            <a:r>
              <a:t>Símbolos formam palavras; palavras formam linguagens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2F791C41-4357-FD22-DE98-24F640698C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r>
              <a:t>Alfabeto Σ: conjunto finito de símbolos</a:t>
            </a:r>
          </a:p>
          <a:p>
            <a:r>
              <a:t>Palavra: sequência finita sobre Σ</a:t>
            </a:r>
          </a:p>
          <a:p>
            <a:r>
              <a:t>ε: palavra vazia, de comprimento zero</a:t>
            </a:r>
          </a:p>
          <a:p>
            <a:r>
              <a:t>Linguagem: conjunto de palavras</a:t>
            </a:r>
          </a:p>
        </p:txBody>
      </p:sp>
      <p:pic>
        <p:nvPicPr>
          <p:cNvPr id="22" name="Imagem 4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6587331" y="1825625"/>
            <a:ext cx="4351338" cy="4351338"/>
          </a:xfrm>
          <a:prstGeom prst="rect">
            <a:avLst/>
          </a:prstGeom>
        </p:spPr>
      </p:pic>
      <p:sp>
        <p:nvSpPr>
          <p:cNvPr id="12" name="Seta: para a Direita 11">
            <a:extLst>
              <a:ext uri="{FF2B5EF4-FFF2-40B4-BE49-F238E27FC236}">
                <a16:creationId xmlns:a16="http://schemas.microsoft.com/office/drawing/2014/main" id="{74C2662F-4204-417F-B190-D888B1FA3A20}"/>
              </a:ext>
            </a:extLst>
          </p:cNvPr>
          <p:cNvSpPr>
            <a:spLocks noGrp="1"/>
          </p:cNvSpPr>
          <p:nvPr/>
        </p:nvSpPr>
        <p:spPr>
          <a:xfrm>
            <a:off x="7829550" y="3571875"/>
            <a:ext cx="266700" cy="266700"/>
          </a:xfrm>
          <a:prstGeom prst="rightArrow">
            <a:avLst/>
          </a:prstGeom>
          <a:solidFill>
            <a:srgbClr val="D63C3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3" name="Seta: para a Direita 12">
            <a:extLst>
              <a:ext uri="{FF2B5EF4-FFF2-40B4-BE49-F238E27FC236}">
                <a16:creationId xmlns:a16="http://schemas.microsoft.com/office/drawing/2014/main" id="{3C4AB28C-D1C9-46AE-B728-40503BED2C6B}"/>
              </a:ext>
            </a:extLst>
          </p:cNvPr>
          <p:cNvSpPr>
            <a:spLocks noGrp="1"/>
          </p:cNvSpPr>
          <p:nvPr/>
        </p:nvSpPr>
        <p:spPr>
          <a:xfrm>
            <a:off x="9239250" y="3571875"/>
            <a:ext cx="266700" cy="266700"/>
          </a:xfrm>
          <a:prstGeom prst="rightArrow">
            <a:avLst/>
          </a:prstGeom>
          <a:solidFill>
            <a:srgbClr val="D63C3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4" name="Retângulo: Cantos Arredondados 13">
            <a:extLst>
              <a:ext uri="{FF2B5EF4-FFF2-40B4-BE49-F238E27FC236}">
                <a16:creationId xmlns:a16="http://schemas.microsoft.com/office/drawing/2014/main" id="{92940D29-ECCC-4120-BF1C-92D94A7F6D75}"/>
              </a:ext>
            </a:extLst>
          </p:cNvPr>
          <p:cNvSpPr>
            <a:spLocks noGrp="1"/>
          </p:cNvSpPr>
          <p:nvPr/>
        </p:nvSpPr>
        <p:spPr>
          <a:xfrm>
            <a:off x="6734175" y="3286125"/>
            <a:ext cx="1047750" cy="857250"/>
          </a:xfrm>
          <a:prstGeom prst="roundRect">
            <a:avLst>
              <a:gd name="adj" fmla="val 8889"/>
            </a:avLst>
          </a:prstGeom>
          <a:solidFill>
            <a:srgbClr val="F5F5F5"/>
          </a:solidFill>
          <a:ln w="9525">
            <a:solidFill>
              <a:srgbClr val="BBBBB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5" name="Retângulo 14">
            <a:extLst>
              <a:ext uri="{FF2B5EF4-FFF2-40B4-BE49-F238E27FC236}">
                <a16:creationId xmlns:a16="http://schemas.microsoft.com/office/drawing/2014/main" id="{6EB2821C-F142-4F4F-8735-1E5078ED5336}"/>
              </a:ext>
            </a:extLst>
          </p:cNvPr>
          <p:cNvSpPr>
            <a:spLocks noGrp="1"/>
          </p:cNvSpPr>
          <p:nvPr/>
        </p:nvSpPr>
        <p:spPr>
          <a:xfrm>
            <a:off x="6772275" y="3371850"/>
            <a:ext cx="971550" cy="685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38100" tIns="19050" rIns="38100" bIns="19050" anchor="ctr"/>
          <a:lstStyle/>
          <a:p>
            <a:pPr algn="ctr">
              <a:defRPr sz="1125" b="1">
                <a:solidFill>
                  <a:srgbClr val="222222"/>
                </a:solidFill>
                <a:latin typeface="Calibri Light"/>
                <a:ea typeface="Calibri Light"/>
                <a:cs typeface="Calibri Light"/>
              </a:defRPr>
            </a:pPr>
            <a:r>
              <a:rPr sz="1125" b="1">
                <a:solidFill>
                  <a:srgbClr val="222222"/>
                </a:solidFill>
                <a:latin typeface="Calibri Light"/>
                <a:ea typeface="Calibri Light"/>
                <a:cs typeface="Calibri Light"/>
              </a:rPr>
              <a:t>Σ = {0,1}</a:t>
            </a:r>
          </a:p>
        </p:txBody>
      </p:sp>
      <p:sp>
        <p:nvSpPr>
          <p:cNvPr id="16" name="Retângulo: Cantos Arredondados 15">
            <a:extLst>
              <a:ext uri="{FF2B5EF4-FFF2-40B4-BE49-F238E27FC236}">
                <a16:creationId xmlns:a16="http://schemas.microsoft.com/office/drawing/2014/main" id="{4255BD2E-FCA9-41BE-9B94-1C31275D5CBA}"/>
              </a:ext>
            </a:extLst>
          </p:cNvPr>
          <p:cNvSpPr>
            <a:spLocks noGrp="1"/>
          </p:cNvSpPr>
          <p:nvPr/>
        </p:nvSpPr>
        <p:spPr>
          <a:xfrm>
            <a:off x="8143875" y="3286125"/>
            <a:ext cx="1047750" cy="857250"/>
          </a:xfrm>
          <a:prstGeom prst="roundRect">
            <a:avLst>
              <a:gd name="adj" fmla="val 8889"/>
            </a:avLst>
          </a:prstGeom>
          <a:solidFill>
            <a:srgbClr val="F5F5F5"/>
          </a:solidFill>
          <a:ln w="9525">
            <a:solidFill>
              <a:srgbClr val="BBBBB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7" name="Retângulo 16">
            <a:extLst>
              <a:ext uri="{FF2B5EF4-FFF2-40B4-BE49-F238E27FC236}">
                <a16:creationId xmlns:a16="http://schemas.microsoft.com/office/drawing/2014/main" id="{4F794722-59AC-461E-ABE2-65B5053F3615}"/>
              </a:ext>
            </a:extLst>
          </p:cNvPr>
          <p:cNvSpPr>
            <a:spLocks noGrp="1"/>
          </p:cNvSpPr>
          <p:nvPr/>
        </p:nvSpPr>
        <p:spPr>
          <a:xfrm>
            <a:off x="8181975" y="3371850"/>
            <a:ext cx="971550" cy="685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38100" tIns="19050" rIns="38100" bIns="19050" anchor="ctr"/>
          <a:lstStyle/>
          <a:p>
            <a:pPr algn="ctr">
              <a:defRPr sz="1125" b="1">
                <a:solidFill>
                  <a:srgbClr val="222222"/>
                </a:solidFill>
                <a:latin typeface="Calibri Light"/>
                <a:ea typeface="Calibri Light"/>
                <a:cs typeface="Calibri Light"/>
              </a:defRPr>
            </a:pPr>
            <a:r>
              <a:rPr sz="1125" b="1">
                <a:solidFill>
                  <a:srgbClr val="222222"/>
                </a:solidFill>
                <a:latin typeface="Calibri Light"/>
                <a:ea typeface="Calibri Light"/>
                <a:cs typeface="Calibri Light"/>
              </a:rPr>
              <a:t>0101</a:t>
            </a:r>
          </a:p>
        </p:txBody>
      </p:sp>
      <p:sp>
        <p:nvSpPr>
          <p:cNvPr id="18" name="Retângulo: Cantos Arredondados 17">
            <a:extLst>
              <a:ext uri="{FF2B5EF4-FFF2-40B4-BE49-F238E27FC236}">
                <a16:creationId xmlns:a16="http://schemas.microsoft.com/office/drawing/2014/main" id="{3D268FEB-0697-47CC-B89B-39A783133CA2}"/>
              </a:ext>
            </a:extLst>
          </p:cNvPr>
          <p:cNvSpPr>
            <a:spLocks noGrp="1"/>
          </p:cNvSpPr>
          <p:nvPr/>
        </p:nvSpPr>
        <p:spPr>
          <a:xfrm>
            <a:off x="9553575" y="3286125"/>
            <a:ext cx="1047750" cy="857250"/>
          </a:xfrm>
          <a:prstGeom prst="roundRect">
            <a:avLst>
              <a:gd name="adj" fmla="val 8889"/>
            </a:avLst>
          </a:prstGeom>
          <a:solidFill>
            <a:srgbClr val="D63C3C"/>
          </a:solidFill>
          <a:ln w="9525">
            <a:solidFill>
              <a:srgbClr val="D63C3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9" name="Retângulo 18">
            <a:extLst>
              <a:ext uri="{FF2B5EF4-FFF2-40B4-BE49-F238E27FC236}">
                <a16:creationId xmlns:a16="http://schemas.microsoft.com/office/drawing/2014/main" id="{36EB4D9C-9D1F-404E-BB0C-0B7BBA19009C}"/>
              </a:ext>
            </a:extLst>
          </p:cNvPr>
          <p:cNvSpPr>
            <a:spLocks noGrp="1"/>
          </p:cNvSpPr>
          <p:nvPr/>
        </p:nvSpPr>
        <p:spPr>
          <a:xfrm>
            <a:off x="9591675" y="3371850"/>
            <a:ext cx="971550" cy="685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38100" tIns="19050" rIns="38100" bIns="19050" anchor="ctr"/>
          <a:lstStyle/>
          <a:p>
            <a:pPr algn="ctr">
              <a:defRPr sz="1125" b="1">
                <a:solidFill>
                  <a:srgbClr val="FFFFFF"/>
                </a:solidFill>
                <a:latin typeface="Calibri Light"/>
                <a:ea typeface="Calibri Light"/>
                <a:cs typeface="Calibri Light"/>
              </a:defRPr>
            </a:pPr>
            <a:r>
              <a:rPr sz="1125" b="1">
                <a:solidFill>
                  <a:srgbClr val="FFFFFF"/>
                </a:solidFill>
                <a:latin typeface="Calibri Light"/>
                <a:ea typeface="Calibri Light"/>
                <a:cs typeface="Calibri Light"/>
              </a:rPr>
              <a:t>L ⊆ Σ*</a:t>
            </a:r>
          </a:p>
        </p:txBody>
      </p:sp>
    </p:spTree>
    <p:extLst>
      <p:ext uri="{BB962C8B-B14F-4D97-AF65-F5344CB8AC3E}">
        <p14:creationId xmlns:p14="http://schemas.microsoft.com/office/powerpoint/2010/main" val="463854184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CCB00D9-1AE3-D260-EF6F-56D329965E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Conjuntos fundamentais de palavras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23FF91B0-B5DC-458A-642E-7D35529EFDB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t>Σ⁰ = {ε}</a:t>
            </a:r>
          </a:p>
          <a:p>
            <a:r>
              <a:t>Σ¹ = Σ</a:t>
            </a:r>
          </a:p>
          <a:p>
            <a:r>
              <a:t>Σ² contém palavras de comprimento 2</a:t>
            </a:r>
          </a:p>
          <a:p>
            <a:r>
              <a:t>Σ* reúne todas as palavras finitas</a:t>
            </a:r>
          </a:p>
          <a:p>
            <a:r>
              <a:t>Σ⁺ = Σ* − {ε}</a:t>
            </a:r>
          </a:p>
        </p:txBody>
      </p:sp>
    </p:spTree>
    <p:extLst>
      <p:ext uri="{BB962C8B-B14F-4D97-AF65-F5344CB8AC3E}">
        <p14:creationId xmlns:p14="http://schemas.microsoft.com/office/powerpoint/2010/main" val="3310152805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B2C9579-1061-567F-47A6-EFCE263930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Palavra vazia não é conjunto vazio</a:t>
            </a:r>
          </a:p>
        </p:txBody>
      </p:sp>
      <p:sp>
        <p:nvSpPr>
          <p:cNvPr id="4" name="Text Box 5">
            <a:extLst>
              <a:ext uri="{FF2B5EF4-FFF2-40B4-BE49-F238E27FC236}">
                <a16:creationId xmlns:a16="http://schemas.microsoft.com/office/drawing/2014/main" id="{4F234831-4A4D-0707-F1B7-20AB09BD4A91}"/>
              </a:ext>
            </a:extLst>
          </p:cNvPr>
          <p:cNvSpPr>
            <a:spLocks noGrp="1"/>
          </p:cNvSpPr>
          <p:nvPr/>
        </p:nvSpPr>
        <p:spPr>
          <a:xfrm>
            <a:off x="2546350" y="3864142"/>
            <a:ext cx="3549650" cy="915988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 algn="l">
              <a:spcBef>
                <a:spcPct val="0"/>
              </a:spcBef>
              <a:spcAft>
                <a:spcPct val="0"/>
              </a:spcAft>
              <a:buNone/>
              <a:defRPr kern="1200">
                <a:solidFill>
                  <a:schemeClr val="tx1"/>
                </a:solidFill>
                <a:latin typeface="Verdana"/>
                <a:ea typeface="Verdana"/>
                <a:cs typeface="Verdana"/>
              </a:defRPr>
            </a:lvl1pPr>
            <a:lvl2pPr marL="742950" indent="-285750" algn="l">
              <a:spcBef>
                <a:spcPct val="0"/>
              </a:spcBef>
              <a:spcAft>
                <a:spcPct val="0"/>
              </a:spcAft>
              <a:buNone/>
              <a:defRPr kern="1200">
                <a:solidFill>
                  <a:schemeClr val="tx1"/>
                </a:solidFill>
                <a:latin typeface="Verdana"/>
                <a:ea typeface="Verdana"/>
                <a:cs typeface="Verdana"/>
              </a:defRPr>
            </a:lvl2pPr>
            <a:lvl3pPr marL="1143000" indent="-228600" algn="l">
              <a:spcBef>
                <a:spcPct val="0"/>
              </a:spcBef>
              <a:spcAft>
                <a:spcPct val="0"/>
              </a:spcAft>
              <a:buNone/>
              <a:defRPr kern="1200">
                <a:solidFill>
                  <a:schemeClr val="tx1"/>
                </a:solidFill>
                <a:latin typeface="Verdana"/>
                <a:ea typeface="Verdana"/>
                <a:cs typeface="Verdana"/>
              </a:defRPr>
            </a:lvl3pPr>
            <a:lvl4pPr marL="1600200" indent="-228600" algn="l">
              <a:spcBef>
                <a:spcPct val="0"/>
              </a:spcBef>
              <a:spcAft>
                <a:spcPct val="0"/>
              </a:spcAft>
              <a:buNone/>
              <a:defRPr kern="1200">
                <a:solidFill>
                  <a:schemeClr val="tx1"/>
                </a:solidFill>
                <a:latin typeface="Verdana"/>
                <a:ea typeface="Verdana"/>
                <a:cs typeface="Verdana"/>
              </a:defRPr>
            </a:lvl4pPr>
            <a:lvl5pPr marL="2057400" indent="-228600" algn="l">
              <a:spcBef>
                <a:spcPct val="0"/>
              </a:spcBef>
              <a:spcAft>
                <a:spcPct val="0"/>
              </a:spcAft>
              <a:buNone/>
              <a:defRPr kern="1200">
                <a:solidFill>
                  <a:schemeClr val="tx1"/>
                </a:solidFill>
                <a:latin typeface="Verdana"/>
                <a:ea typeface="Verdana"/>
                <a:cs typeface="Verdana"/>
              </a:defRPr>
            </a:lvl5pPr>
            <a:lvl6pPr marL="2514600" indent="-228600" algn="l" defTabSz="914400">
              <a:spcBef>
                <a:spcPct val="0"/>
              </a:spcBef>
              <a:spcAft>
                <a:spcPct val="0"/>
              </a:spcAft>
              <a:buNone/>
              <a:defRPr kern="1200">
                <a:solidFill>
                  <a:schemeClr val="tx1"/>
                </a:solidFill>
                <a:latin typeface="Verdana"/>
                <a:ea typeface="Verdana"/>
                <a:cs typeface="Verdana"/>
              </a:defRPr>
            </a:lvl6pPr>
            <a:lvl7pPr marL="2971800" indent="-228600" algn="l" defTabSz="914400">
              <a:spcBef>
                <a:spcPct val="0"/>
              </a:spcBef>
              <a:spcAft>
                <a:spcPct val="0"/>
              </a:spcAft>
              <a:buNone/>
              <a:defRPr kern="1200">
                <a:solidFill>
                  <a:schemeClr val="tx1"/>
                </a:solidFill>
                <a:latin typeface="Verdana"/>
                <a:ea typeface="Verdana"/>
                <a:cs typeface="Verdana"/>
              </a:defRPr>
            </a:lvl7pPr>
            <a:lvl8pPr marL="3429000" indent="-228600" algn="l" defTabSz="914400">
              <a:spcBef>
                <a:spcPct val="0"/>
              </a:spcBef>
              <a:spcAft>
                <a:spcPct val="0"/>
              </a:spcAft>
              <a:buNone/>
              <a:defRPr kern="1200">
                <a:solidFill>
                  <a:schemeClr val="tx1"/>
                </a:solidFill>
                <a:latin typeface="Verdana"/>
                <a:ea typeface="Verdana"/>
                <a:cs typeface="Verdana"/>
              </a:defRPr>
            </a:lvl8pPr>
            <a:lvl9pPr marL="3886200" indent="-228600" algn="l" defTabSz="914400">
              <a:spcBef>
                <a:spcPct val="0"/>
              </a:spcBef>
              <a:spcAft>
                <a:spcPct val="0"/>
              </a:spcAft>
              <a:buNone/>
              <a:defRPr kern="1200">
                <a:solidFill>
                  <a:schemeClr val="tx1"/>
                </a:solidFill>
                <a:latin typeface="Verdana"/>
                <a:ea typeface="Verdana"/>
                <a:cs typeface="Verdana"/>
              </a:defRPr>
            </a:lvl9pPr>
          </a:lstStyle>
          <a:p>
            <a:pPr>
              <a:spcBef>
                <a:spcPct val="50000"/>
              </a:spcBef>
              <a:buNone/>
            </a:pPr>
            <a:r>
              <a:rPr b="1" u="sng">
                <a:latin typeface="Arial"/>
                <a:ea typeface="Arial"/>
                <a:cs typeface="Arial"/>
              </a:rPr>
              <a:t>ε</a:t>
            </a:r>
          </a:p>
          <a:p>
            <a:pPr>
              <a:spcBef>
                <a:spcPct val="50000"/>
              </a:spcBef>
              <a:buNone/>
            </a:pPr>
            <a:r>
              <a:rPr b="1" u="sng">
                <a:latin typeface="Arial"/>
                <a:ea typeface="Arial"/>
                <a:cs typeface="Arial"/>
              </a:rPr>
              <a:t>Palavra com zero símbolos</a:t>
            </a:r>
          </a:p>
        </p:txBody>
      </p:sp>
      <p:sp>
        <p:nvSpPr>
          <p:cNvPr id="5" name="Text Box 6">
            <a:extLst>
              <a:ext uri="{FF2B5EF4-FFF2-40B4-BE49-F238E27FC236}">
                <a16:creationId xmlns:a16="http://schemas.microsoft.com/office/drawing/2014/main" id="{5422EF6D-DEE6-BC6E-4540-17E3B470D6E3}"/>
              </a:ext>
            </a:extLst>
          </p:cNvPr>
          <p:cNvSpPr>
            <a:spLocks noGrp="1"/>
          </p:cNvSpPr>
          <p:nvPr/>
        </p:nvSpPr>
        <p:spPr>
          <a:xfrm>
            <a:off x="6434138" y="3791117"/>
            <a:ext cx="4127500" cy="1190625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 algn="l">
              <a:spcBef>
                <a:spcPct val="0"/>
              </a:spcBef>
              <a:spcAft>
                <a:spcPct val="0"/>
              </a:spcAft>
              <a:buNone/>
              <a:defRPr kern="1200">
                <a:solidFill>
                  <a:schemeClr val="tx1"/>
                </a:solidFill>
                <a:latin typeface="Verdana"/>
                <a:ea typeface="Verdana"/>
                <a:cs typeface="Verdana"/>
              </a:defRPr>
            </a:lvl1pPr>
            <a:lvl2pPr marL="742950" indent="-285750" algn="l">
              <a:spcBef>
                <a:spcPct val="0"/>
              </a:spcBef>
              <a:spcAft>
                <a:spcPct val="0"/>
              </a:spcAft>
              <a:buNone/>
              <a:defRPr kern="1200">
                <a:solidFill>
                  <a:schemeClr val="tx1"/>
                </a:solidFill>
                <a:latin typeface="Verdana"/>
                <a:ea typeface="Verdana"/>
                <a:cs typeface="Verdana"/>
              </a:defRPr>
            </a:lvl2pPr>
            <a:lvl3pPr marL="1143000" indent="-228600" algn="l">
              <a:spcBef>
                <a:spcPct val="0"/>
              </a:spcBef>
              <a:spcAft>
                <a:spcPct val="0"/>
              </a:spcAft>
              <a:buNone/>
              <a:defRPr kern="1200">
                <a:solidFill>
                  <a:schemeClr val="tx1"/>
                </a:solidFill>
                <a:latin typeface="Verdana"/>
                <a:ea typeface="Verdana"/>
                <a:cs typeface="Verdana"/>
              </a:defRPr>
            </a:lvl3pPr>
            <a:lvl4pPr marL="1600200" indent="-228600" algn="l">
              <a:spcBef>
                <a:spcPct val="0"/>
              </a:spcBef>
              <a:spcAft>
                <a:spcPct val="0"/>
              </a:spcAft>
              <a:buNone/>
              <a:defRPr kern="1200">
                <a:solidFill>
                  <a:schemeClr val="tx1"/>
                </a:solidFill>
                <a:latin typeface="Verdana"/>
                <a:ea typeface="Verdana"/>
                <a:cs typeface="Verdana"/>
              </a:defRPr>
            </a:lvl4pPr>
            <a:lvl5pPr marL="2057400" indent="-228600" algn="l">
              <a:spcBef>
                <a:spcPct val="0"/>
              </a:spcBef>
              <a:spcAft>
                <a:spcPct val="0"/>
              </a:spcAft>
              <a:buNone/>
              <a:defRPr kern="1200">
                <a:solidFill>
                  <a:schemeClr val="tx1"/>
                </a:solidFill>
                <a:latin typeface="Verdana"/>
                <a:ea typeface="Verdana"/>
                <a:cs typeface="Verdana"/>
              </a:defRPr>
            </a:lvl5pPr>
            <a:lvl6pPr marL="2514600" indent="-228600" algn="l" defTabSz="914400">
              <a:spcBef>
                <a:spcPct val="0"/>
              </a:spcBef>
              <a:spcAft>
                <a:spcPct val="0"/>
              </a:spcAft>
              <a:buNone/>
              <a:defRPr kern="1200">
                <a:solidFill>
                  <a:schemeClr val="tx1"/>
                </a:solidFill>
                <a:latin typeface="Verdana"/>
                <a:ea typeface="Verdana"/>
                <a:cs typeface="Verdana"/>
              </a:defRPr>
            </a:lvl6pPr>
            <a:lvl7pPr marL="2971800" indent="-228600" algn="l" defTabSz="914400">
              <a:spcBef>
                <a:spcPct val="0"/>
              </a:spcBef>
              <a:spcAft>
                <a:spcPct val="0"/>
              </a:spcAft>
              <a:buNone/>
              <a:defRPr kern="1200">
                <a:solidFill>
                  <a:schemeClr val="tx1"/>
                </a:solidFill>
                <a:latin typeface="Verdana"/>
                <a:ea typeface="Verdana"/>
                <a:cs typeface="Verdana"/>
              </a:defRPr>
            </a:lvl7pPr>
            <a:lvl8pPr marL="3429000" indent="-228600" algn="l" defTabSz="914400">
              <a:spcBef>
                <a:spcPct val="0"/>
              </a:spcBef>
              <a:spcAft>
                <a:spcPct val="0"/>
              </a:spcAft>
              <a:buNone/>
              <a:defRPr kern="1200">
                <a:solidFill>
                  <a:schemeClr val="tx1"/>
                </a:solidFill>
                <a:latin typeface="Verdana"/>
                <a:ea typeface="Verdana"/>
                <a:cs typeface="Verdana"/>
              </a:defRPr>
            </a:lvl8pPr>
            <a:lvl9pPr marL="3886200" indent="-228600" algn="l" defTabSz="914400">
              <a:spcBef>
                <a:spcPct val="0"/>
              </a:spcBef>
              <a:spcAft>
                <a:spcPct val="0"/>
              </a:spcAft>
              <a:buNone/>
              <a:defRPr kern="1200">
                <a:solidFill>
                  <a:schemeClr val="tx1"/>
                </a:solidFill>
                <a:latin typeface="Verdana"/>
                <a:ea typeface="Verdana"/>
                <a:cs typeface="Verdana"/>
              </a:defRPr>
            </a:lvl9pPr>
          </a:lstStyle>
          <a:p>
            <a:pPr>
              <a:spcBef>
                <a:spcPct val="50000"/>
              </a:spcBef>
              <a:buNone/>
            </a:pPr>
            <a:r>
              <a:rPr b="1" u="sng">
                <a:latin typeface="Arial"/>
                <a:ea typeface="Arial"/>
                <a:cs typeface="Arial"/>
              </a:rPr>
              <a:t>∅</a:t>
            </a:r>
          </a:p>
          <a:p>
            <a:pPr>
              <a:spcBef>
                <a:spcPct val="50000"/>
              </a:spcBef>
              <a:buNone/>
            </a:pPr>
            <a:r>
              <a:rPr b="1" u="sng">
                <a:latin typeface="Arial"/>
                <a:ea typeface="Arial"/>
                <a:cs typeface="Arial"/>
              </a:rPr>
              <a:t>Conjunto que não contém palavras</a:t>
            </a:r>
          </a:p>
        </p:txBody>
      </p:sp>
      <p:pic>
        <p:nvPicPr>
          <p:cNvPr id="15" name="Imagem 5"/>
          <p:cNvPicPr>
            <a:picLocks noChangeAspect="1"/>
          </p:cNvPicPr>
          <p:nvPr/>
        </p:nvPicPr>
        <p:blipFill>
          <a:blip r:embed="rId3"/>
          <a:srcRect t="30017" b="30017"/>
          <a:stretch>
            <a:fillRect/>
          </a:stretch>
        </p:blipFill>
        <p:spPr>
          <a:xfrm>
            <a:off x="6794500" y="2532230"/>
            <a:ext cx="2808288" cy="1122362"/>
          </a:xfrm>
          <a:prstGeom prst="rect">
            <a:avLst/>
          </a:prstGeom>
          <a:ln>
            <a:noFill/>
          </a:ln>
        </p:spPr>
      </p:pic>
      <p:pic>
        <p:nvPicPr>
          <p:cNvPr id="16" name="Imagem 6"/>
          <p:cNvPicPr>
            <a:picLocks noChangeAspect="1"/>
          </p:cNvPicPr>
          <p:nvPr/>
        </p:nvPicPr>
        <p:blipFill>
          <a:blip r:embed="rId3"/>
          <a:srcRect t="29012" b="29012"/>
          <a:stretch>
            <a:fillRect/>
          </a:stretch>
        </p:blipFill>
        <p:spPr>
          <a:xfrm>
            <a:off x="2330450" y="2517942"/>
            <a:ext cx="2828925" cy="1187450"/>
          </a:xfrm>
          <a:prstGeom prst="rect">
            <a:avLst/>
          </a:prstGeom>
          <a:ln>
            <a:noFill/>
          </a:ln>
        </p:spPr>
      </p:pic>
      <p:sp>
        <p:nvSpPr>
          <p:cNvPr id="8" name="Elipse 7">
            <a:extLst>
              <a:ext uri="{FF2B5EF4-FFF2-40B4-BE49-F238E27FC236}">
                <a16:creationId xmlns:a16="http://schemas.microsoft.com/office/drawing/2014/main" id="{5AA1E848-EE3A-4C66-9A84-8E32C9B735C2}"/>
              </a:ext>
            </a:extLst>
          </p:cNvPr>
          <p:cNvSpPr>
            <a:spLocks noGrp="1"/>
          </p:cNvSpPr>
          <p:nvPr/>
        </p:nvSpPr>
        <p:spPr>
          <a:xfrm>
            <a:off x="3105150" y="2476500"/>
            <a:ext cx="1047750" cy="1047750"/>
          </a:xfrm>
          <a:prstGeom prst="ellipse">
            <a:avLst/>
          </a:prstGeom>
          <a:solidFill>
            <a:srgbClr val="F5F5F5"/>
          </a:solidFill>
          <a:ln w="19050">
            <a:solidFill>
              <a:srgbClr val="22222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9" name="Elipse 8">
            <a:extLst>
              <a:ext uri="{FF2B5EF4-FFF2-40B4-BE49-F238E27FC236}">
                <a16:creationId xmlns:a16="http://schemas.microsoft.com/office/drawing/2014/main" id="{12EBBF3C-E14C-40E5-87CE-B37B480D9AFF}"/>
              </a:ext>
            </a:extLst>
          </p:cNvPr>
          <p:cNvSpPr>
            <a:spLocks noGrp="1"/>
          </p:cNvSpPr>
          <p:nvPr/>
        </p:nvSpPr>
        <p:spPr>
          <a:xfrm>
            <a:off x="7572375" y="2476500"/>
            <a:ext cx="1047750" cy="1047750"/>
          </a:xfrm>
          <a:prstGeom prst="ellipse">
            <a:avLst/>
          </a:prstGeom>
          <a:solidFill>
            <a:srgbClr val="F4CCCC"/>
          </a:solidFill>
          <a:ln w="19050">
            <a:solidFill>
              <a:srgbClr val="D63C3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0" name="Retângulo 9">
            <a:extLst>
              <a:ext uri="{FF2B5EF4-FFF2-40B4-BE49-F238E27FC236}">
                <a16:creationId xmlns:a16="http://schemas.microsoft.com/office/drawing/2014/main" id="{6D6B84E4-120D-4D3C-9DAE-95113EB43DD4}"/>
              </a:ext>
            </a:extLst>
          </p:cNvPr>
          <p:cNvSpPr>
            <a:spLocks noGrp="1"/>
          </p:cNvSpPr>
          <p:nvPr/>
        </p:nvSpPr>
        <p:spPr>
          <a:xfrm>
            <a:off x="3105150" y="2476500"/>
            <a:ext cx="1047750" cy="1047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38100" tIns="19050" rIns="38100" bIns="19050" anchor="ctr"/>
          <a:lstStyle/>
          <a:p>
            <a:pPr algn="ctr">
              <a:defRPr sz="1500" b="1">
                <a:solidFill>
                  <a:srgbClr val="222222"/>
                </a:solidFill>
                <a:latin typeface="Calibri Light"/>
                <a:ea typeface="Calibri Light"/>
                <a:cs typeface="Calibri Light"/>
              </a:defRPr>
            </a:pPr>
            <a:r>
              <a:rPr sz="1500" b="1">
                <a:solidFill>
                  <a:srgbClr val="222222"/>
                </a:solidFill>
                <a:latin typeface="Calibri Light"/>
                <a:ea typeface="Calibri Light"/>
                <a:cs typeface="Calibri Light"/>
              </a:rPr>
              <a:t>ε</a:t>
            </a:r>
          </a:p>
        </p:txBody>
      </p:sp>
      <p:sp>
        <p:nvSpPr>
          <p:cNvPr id="11" name="Retângulo 10">
            <a:extLst>
              <a:ext uri="{FF2B5EF4-FFF2-40B4-BE49-F238E27FC236}">
                <a16:creationId xmlns:a16="http://schemas.microsoft.com/office/drawing/2014/main" id="{88021B39-74E4-4773-AD40-BC76DED9037F}"/>
              </a:ext>
            </a:extLst>
          </p:cNvPr>
          <p:cNvSpPr>
            <a:spLocks noGrp="1"/>
          </p:cNvSpPr>
          <p:nvPr/>
        </p:nvSpPr>
        <p:spPr>
          <a:xfrm>
            <a:off x="7572375" y="2476500"/>
            <a:ext cx="1047750" cy="1047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38100" tIns="19050" rIns="38100" bIns="19050" anchor="ctr"/>
          <a:lstStyle/>
          <a:p>
            <a:pPr algn="ctr">
              <a:defRPr sz="1500" b="1">
                <a:solidFill>
                  <a:srgbClr val="D63C3C"/>
                </a:solidFill>
                <a:latin typeface="Calibri Light"/>
                <a:ea typeface="Calibri Light"/>
                <a:cs typeface="Calibri Light"/>
              </a:defRPr>
            </a:pPr>
            <a:r>
              <a:rPr sz="1500" b="1">
                <a:solidFill>
                  <a:srgbClr val="D63C3C"/>
                </a:solidFill>
                <a:latin typeface="Calibri Light"/>
                <a:ea typeface="Calibri Light"/>
                <a:cs typeface="Calibri Light"/>
              </a:rPr>
              <a:t>∅</a:t>
            </a:r>
          </a:p>
        </p:txBody>
      </p:sp>
    </p:spTree>
    <p:extLst>
      <p:ext uri="{BB962C8B-B14F-4D97-AF65-F5344CB8AC3E}">
        <p14:creationId xmlns:p14="http://schemas.microsoft.com/office/powerpoint/2010/main" val="1093690405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C0CF012-B9B8-2A31-148F-26EB5CDF49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 anchor="ctr">
            <a:normAutofit/>
          </a:bodyPr>
          <a:lstStyle/>
          <a:p>
            <a:r>
              <a:t>Operações constroem novas linguagens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2F791C41-4357-FD22-DE98-24F640698C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r>
              <a:t>União: L₁ ∪ L₂</a:t>
            </a:r>
          </a:p>
          <a:p>
            <a:r>
              <a:t>Concatenação: L₁L₂</a:t>
            </a:r>
          </a:p>
          <a:p>
            <a:r>
              <a:t>Fecho de Kleene: L*</a:t>
            </a:r>
          </a:p>
          <a:p>
            <a:r>
              <a:t>Interseção e diferença seguem operações de conjuntos</a:t>
            </a:r>
          </a:p>
        </p:txBody>
      </p:sp>
      <p:pic>
        <p:nvPicPr>
          <p:cNvPr id="22" name="Imagem 4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6587331" y="1825625"/>
            <a:ext cx="4351338" cy="4351338"/>
          </a:xfrm>
          <a:prstGeom prst="rect">
            <a:avLst/>
          </a:prstGeom>
        </p:spPr>
      </p:pic>
      <p:sp>
        <p:nvSpPr>
          <p:cNvPr id="12" name="Seta: para a Direita 11">
            <a:extLst>
              <a:ext uri="{FF2B5EF4-FFF2-40B4-BE49-F238E27FC236}">
                <a16:creationId xmlns:a16="http://schemas.microsoft.com/office/drawing/2014/main" id="{C66754B3-7D49-4BCE-A468-1FF115631BB9}"/>
              </a:ext>
            </a:extLst>
          </p:cNvPr>
          <p:cNvSpPr>
            <a:spLocks noGrp="1"/>
          </p:cNvSpPr>
          <p:nvPr/>
        </p:nvSpPr>
        <p:spPr>
          <a:xfrm>
            <a:off x="7829550" y="3571875"/>
            <a:ext cx="266700" cy="266700"/>
          </a:xfrm>
          <a:prstGeom prst="rightArrow">
            <a:avLst/>
          </a:prstGeom>
          <a:solidFill>
            <a:srgbClr val="D63C3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3" name="Seta: para a Direita 12">
            <a:extLst>
              <a:ext uri="{FF2B5EF4-FFF2-40B4-BE49-F238E27FC236}">
                <a16:creationId xmlns:a16="http://schemas.microsoft.com/office/drawing/2014/main" id="{A21999EF-34BD-4BA2-853A-EF145B110F98}"/>
              </a:ext>
            </a:extLst>
          </p:cNvPr>
          <p:cNvSpPr>
            <a:spLocks noGrp="1"/>
          </p:cNvSpPr>
          <p:nvPr/>
        </p:nvSpPr>
        <p:spPr>
          <a:xfrm>
            <a:off x="9239250" y="3571875"/>
            <a:ext cx="266700" cy="266700"/>
          </a:xfrm>
          <a:prstGeom prst="rightArrow">
            <a:avLst/>
          </a:prstGeom>
          <a:solidFill>
            <a:srgbClr val="D63C3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4" name="Retângulo: Cantos Arredondados 13">
            <a:extLst>
              <a:ext uri="{FF2B5EF4-FFF2-40B4-BE49-F238E27FC236}">
                <a16:creationId xmlns:a16="http://schemas.microsoft.com/office/drawing/2014/main" id="{E4C7B2C2-DCC8-4797-A3BF-DC83B451A86F}"/>
              </a:ext>
            </a:extLst>
          </p:cNvPr>
          <p:cNvSpPr>
            <a:spLocks noGrp="1"/>
          </p:cNvSpPr>
          <p:nvPr/>
        </p:nvSpPr>
        <p:spPr>
          <a:xfrm>
            <a:off x="6734175" y="3286125"/>
            <a:ext cx="1047750" cy="857250"/>
          </a:xfrm>
          <a:prstGeom prst="roundRect">
            <a:avLst>
              <a:gd name="adj" fmla="val 8889"/>
            </a:avLst>
          </a:prstGeom>
          <a:solidFill>
            <a:srgbClr val="F5F5F5"/>
          </a:solidFill>
          <a:ln w="9525">
            <a:solidFill>
              <a:srgbClr val="BBBBB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5" name="Retângulo 14">
            <a:extLst>
              <a:ext uri="{FF2B5EF4-FFF2-40B4-BE49-F238E27FC236}">
                <a16:creationId xmlns:a16="http://schemas.microsoft.com/office/drawing/2014/main" id="{09117016-76F3-4A9C-82A5-345882D25956}"/>
              </a:ext>
            </a:extLst>
          </p:cNvPr>
          <p:cNvSpPr>
            <a:spLocks noGrp="1"/>
          </p:cNvSpPr>
          <p:nvPr/>
        </p:nvSpPr>
        <p:spPr>
          <a:xfrm>
            <a:off x="6772275" y="3371850"/>
            <a:ext cx="971550" cy="685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38100" tIns="19050" rIns="38100" bIns="19050" anchor="ctr"/>
          <a:lstStyle/>
          <a:p>
            <a:pPr algn="ctr">
              <a:defRPr sz="1125" b="1">
                <a:solidFill>
                  <a:srgbClr val="222222"/>
                </a:solidFill>
                <a:latin typeface="Calibri Light"/>
                <a:ea typeface="Calibri Light"/>
                <a:cs typeface="Calibri Light"/>
              </a:defRPr>
            </a:pPr>
            <a:r>
              <a:rPr sz="1125" b="1">
                <a:solidFill>
                  <a:srgbClr val="222222"/>
                </a:solidFill>
                <a:latin typeface="Calibri Light"/>
                <a:ea typeface="Calibri Light"/>
                <a:cs typeface="Calibri Light"/>
              </a:rPr>
              <a:t>L₁</a:t>
            </a:r>
          </a:p>
        </p:txBody>
      </p:sp>
      <p:sp>
        <p:nvSpPr>
          <p:cNvPr id="16" name="Retângulo: Cantos Arredondados 15">
            <a:extLst>
              <a:ext uri="{FF2B5EF4-FFF2-40B4-BE49-F238E27FC236}">
                <a16:creationId xmlns:a16="http://schemas.microsoft.com/office/drawing/2014/main" id="{62CF13C3-1000-42A9-B8EC-78F0AF7E7EB0}"/>
              </a:ext>
            </a:extLst>
          </p:cNvPr>
          <p:cNvSpPr>
            <a:spLocks noGrp="1"/>
          </p:cNvSpPr>
          <p:nvPr/>
        </p:nvSpPr>
        <p:spPr>
          <a:xfrm>
            <a:off x="8143875" y="3286125"/>
            <a:ext cx="1047750" cy="857250"/>
          </a:xfrm>
          <a:prstGeom prst="roundRect">
            <a:avLst>
              <a:gd name="adj" fmla="val 8889"/>
            </a:avLst>
          </a:prstGeom>
          <a:solidFill>
            <a:srgbClr val="F5F5F5"/>
          </a:solidFill>
          <a:ln w="9525">
            <a:solidFill>
              <a:srgbClr val="BBBBB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7" name="Retângulo 16">
            <a:extLst>
              <a:ext uri="{FF2B5EF4-FFF2-40B4-BE49-F238E27FC236}">
                <a16:creationId xmlns:a16="http://schemas.microsoft.com/office/drawing/2014/main" id="{C39A62AC-844C-4749-9DE4-A1A7D5DF4F34}"/>
              </a:ext>
            </a:extLst>
          </p:cNvPr>
          <p:cNvSpPr>
            <a:spLocks noGrp="1"/>
          </p:cNvSpPr>
          <p:nvPr/>
        </p:nvSpPr>
        <p:spPr>
          <a:xfrm>
            <a:off x="8181975" y="3371850"/>
            <a:ext cx="971550" cy="685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38100" tIns="19050" rIns="38100" bIns="19050" anchor="ctr"/>
          <a:lstStyle/>
          <a:p>
            <a:pPr algn="ctr">
              <a:defRPr sz="1125" b="1">
                <a:solidFill>
                  <a:srgbClr val="222222"/>
                </a:solidFill>
                <a:latin typeface="Calibri Light"/>
                <a:ea typeface="Calibri Light"/>
                <a:cs typeface="Calibri Light"/>
              </a:defRPr>
            </a:pPr>
            <a:r>
              <a:rPr sz="1125" b="1">
                <a:solidFill>
                  <a:srgbClr val="222222"/>
                </a:solidFill>
                <a:latin typeface="Calibri Light"/>
                <a:ea typeface="Calibri Light"/>
                <a:cs typeface="Calibri Light"/>
              </a:rPr>
              <a:t>operação</a:t>
            </a:r>
          </a:p>
        </p:txBody>
      </p:sp>
      <p:sp>
        <p:nvSpPr>
          <p:cNvPr id="18" name="Retângulo: Cantos Arredondados 17">
            <a:extLst>
              <a:ext uri="{FF2B5EF4-FFF2-40B4-BE49-F238E27FC236}">
                <a16:creationId xmlns:a16="http://schemas.microsoft.com/office/drawing/2014/main" id="{516685C4-3A2B-45FF-B7F9-5165858F9E10}"/>
              </a:ext>
            </a:extLst>
          </p:cNvPr>
          <p:cNvSpPr>
            <a:spLocks noGrp="1"/>
          </p:cNvSpPr>
          <p:nvPr/>
        </p:nvSpPr>
        <p:spPr>
          <a:xfrm>
            <a:off x="9553575" y="3286125"/>
            <a:ext cx="1047750" cy="857250"/>
          </a:xfrm>
          <a:prstGeom prst="roundRect">
            <a:avLst>
              <a:gd name="adj" fmla="val 8889"/>
            </a:avLst>
          </a:prstGeom>
          <a:solidFill>
            <a:srgbClr val="D63C3C"/>
          </a:solidFill>
          <a:ln w="9525">
            <a:solidFill>
              <a:srgbClr val="D63C3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9" name="Retângulo 18">
            <a:extLst>
              <a:ext uri="{FF2B5EF4-FFF2-40B4-BE49-F238E27FC236}">
                <a16:creationId xmlns:a16="http://schemas.microsoft.com/office/drawing/2014/main" id="{7C9717D4-3F02-4DEE-B2FF-8A5BADC2E2CD}"/>
              </a:ext>
            </a:extLst>
          </p:cNvPr>
          <p:cNvSpPr>
            <a:spLocks noGrp="1"/>
          </p:cNvSpPr>
          <p:nvPr/>
        </p:nvSpPr>
        <p:spPr>
          <a:xfrm>
            <a:off x="9591675" y="3371850"/>
            <a:ext cx="971550" cy="685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38100" tIns="19050" rIns="38100" bIns="19050" anchor="ctr"/>
          <a:lstStyle/>
          <a:p>
            <a:pPr algn="ctr">
              <a:defRPr sz="1125" b="1">
                <a:solidFill>
                  <a:srgbClr val="FFFFFF"/>
                </a:solidFill>
                <a:latin typeface="Calibri Light"/>
                <a:ea typeface="Calibri Light"/>
                <a:cs typeface="Calibri Light"/>
              </a:defRPr>
            </a:pPr>
            <a:r>
              <a:rPr sz="1125" b="1">
                <a:solidFill>
                  <a:srgbClr val="FFFFFF"/>
                </a:solidFill>
                <a:latin typeface="Calibri Light"/>
                <a:ea typeface="Calibri Light"/>
                <a:cs typeface="Calibri Light"/>
              </a:rPr>
              <a:t>nova L</a:t>
            </a:r>
          </a:p>
        </p:txBody>
      </p:sp>
    </p:spTree>
    <p:extLst>
      <p:ext uri="{BB962C8B-B14F-4D97-AF65-F5344CB8AC3E}">
        <p14:creationId xmlns:p14="http://schemas.microsoft.com/office/powerpoint/2010/main" val="463854184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CCB00D9-1AE3-D260-EF6F-56D329965E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Uma gramática descreve como gerar palavras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23FF91B0-B5DC-458A-642E-7D35529EFDB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t>G = (V, T, P, S)</a:t>
            </a:r>
          </a:p>
          <a:p>
            <a:r>
              <a:t>V: variáveis ou não terminais</a:t>
            </a:r>
          </a:p>
          <a:p>
            <a:r>
              <a:t>T: terminais</a:t>
            </a:r>
          </a:p>
          <a:p>
            <a:r>
              <a:t>P: regras de produção</a:t>
            </a:r>
          </a:p>
          <a:p>
            <a:r>
              <a:t>S: símbolo inicial</a:t>
            </a:r>
          </a:p>
        </p:txBody>
      </p:sp>
    </p:spTree>
    <p:extLst>
      <p:ext uri="{BB962C8B-B14F-4D97-AF65-F5344CB8AC3E}">
        <p14:creationId xmlns:p14="http://schemas.microsoft.com/office/powerpoint/2010/main" val="3310152805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C0CF012-B9B8-2A31-148F-26EB5CDF49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 anchor="ctr">
            <a:normAutofit/>
          </a:bodyPr>
          <a:lstStyle/>
          <a:p>
            <a:r>
              <a:t>Derivação aplica produções passo a passo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2F791C41-4357-FD22-DE98-24F640698C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r>
              <a:t>Gramática: S → aS | b</a:t>
            </a:r>
          </a:p>
          <a:p>
            <a:r>
              <a:t>Objetivo: gerar a palavra aaab.</a:t>
            </a:r>
          </a:p>
          <a:p>
            <a:r>
              <a:t>Escolhemos uma produção válida em cada etapa.</a:t>
            </a:r>
          </a:p>
        </p:txBody>
      </p:sp>
      <p:pic>
        <p:nvPicPr>
          <p:cNvPr id="28" name="Imagem 4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6587331" y="1825625"/>
            <a:ext cx="4351338" cy="4351338"/>
          </a:xfrm>
          <a:prstGeom prst="rect">
            <a:avLst/>
          </a:prstGeom>
        </p:spPr>
      </p:pic>
      <p:sp>
        <p:nvSpPr>
          <p:cNvPr id="12" name="Seta: para a Direita 11">
            <a:extLst>
              <a:ext uri="{FF2B5EF4-FFF2-40B4-BE49-F238E27FC236}">
                <a16:creationId xmlns:a16="http://schemas.microsoft.com/office/drawing/2014/main" id="{A509C465-97B1-41FE-BE2F-1489E67D4D38}"/>
              </a:ext>
            </a:extLst>
          </p:cNvPr>
          <p:cNvSpPr>
            <a:spLocks noGrp="1"/>
          </p:cNvSpPr>
          <p:nvPr/>
        </p:nvSpPr>
        <p:spPr>
          <a:xfrm>
            <a:off x="7225665" y="3571875"/>
            <a:ext cx="266700" cy="266700"/>
          </a:xfrm>
          <a:prstGeom prst="rightArrow">
            <a:avLst/>
          </a:prstGeom>
          <a:solidFill>
            <a:srgbClr val="D63C3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3" name="Seta: para a Direita 12">
            <a:extLst>
              <a:ext uri="{FF2B5EF4-FFF2-40B4-BE49-F238E27FC236}">
                <a16:creationId xmlns:a16="http://schemas.microsoft.com/office/drawing/2014/main" id="{CAA8557D-F5D2-42BC-99DF-C460893F730B}"/>
              </a:ext>
            </a:extLst>
          </p:cNvPr>
          <p:cNvSpPr>
            <a:spLocks noGrp="1"/>
          </p:cNvSpPr>
          <p:nvPr/>
        </p:nvSpPr>
        <p:spPr>
          <a:xfrm>
            <a:off x="8098155" y="3571875"/>
            <a:ext cx="266700" cy="266700"/>
          </a:xfrm>
          <a:prstGeom prst="rightArrow">
            <a:avLst/>
          </a:prstGeom>
          <a:solidFill>
            <a:srgbClr val="D63C3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4" name="Seta: para a Direita 13">
            <a:extLst>
              <a:ext uri="{FF2B5EF4-FFF2-40B4-BE49-F238E27FC236}">
                <a16:creationId xmlns:a16="http://schemas.microsoft.com/office/drawing/2014/main" id="{08B10FCB-ACE9-434A-BA70-C3684288D32D}"/>
              </a:ext>
            </a:extLst>
          </p:cNvPr>
          <p:cNvSpPr>
            <a:spLocks noGrp="1"/>
          </p:cNvSpPr>
          <p:nvPr/>
        </p:nvSpPr>
        <p:spPr>
          <a:xfrm>
            <a:off x="8970645" y="3571875"/>
            <a:ext cx="266700" cy="266700"/>
          </a:xfrm>
          <a:prstGeom prst="rightArrow">
            <a:avLst/>
          </a:prstGeom>
          <a:solidFill>
            <a:srgbClr val="D63C3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5" name="Seta: para a Direita 14">
            <a:extLst>
              <a:ext uri="{FF2B5EF4-FFF2-40B4-BE49-F238E27FC236}">
                <a16:creationId xmlns:a16="http://schemas.microsoft.com/office/drawing/2014/main" id="{FBA577CC-74AA-4A66-BFFC-8CB70DC17BC5}"/>
              </a:ext>
            </a:extLst>
          </p:cNvPr>
          <p:cNvSpPr>
            <a:spLocks noGrp="1"/>
          </p:cNvSpPr>
          <p:nvPr/>
        </p:nvSpPr>
        <p:spPr>
          <a:xfrm>
            <a:off x="9843135" y="3571875"/>
            <a:ext cx="266700" cy="266700"/>
          </a:xfrm>
          <a:prstGeom prst="rightArrow">
            <a:avLst/>
          </a:prstGeom>
          <a:solidFill>
            <a:srgbClr val="D63C3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6" name="Retângulo: Cantos Arredondados 15">
            <a:extLst>
              <a:ext uri="{FF2B5EF4-FFF2-40B4-BE49-F238E27FC236}">
                <a16:creationId xmlns:a16="http://schemas.microsoft.com/office/drawing/2014/main" id="{C3A4A1E2-3FCF-4DEF-974E-8A6797B092FE}"/>
              </a:ext>
            </a:extLst>
          </p:cNvPr>
          <p:cNvSpPr>
            <a:spLocks noGrp="1"/>
          </p:cNvSpPr>
          <p:nvPr/>
        </p:nvSpPr>
        <p:spPr>
          <a:xfrm>
            <a:off x="6667500" y="3286125"/>
            <a:ext cx="510540" cy="857250"/>
          </a:xfrm>
          <a:prstGeom prst="roundRect">
            <a:avLst>
              <a:gd name="adj" fmla="val 14925"/>
            </a:avLst>
          </a:prstGeom>
          <a:solidFill>
            <a:srgbClr val="F5F5F5"/>
          </a:solidFill>
          <a:ln w="9525">
            <a:solidFill>
              <a:srgbClr val="BBBBB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7" name="Retângulo 16">
            <a:extLst>
              <a:ext uri="{FF2B5EF4-FFF2-40B4-BE49-F238E27FC236}">
                <a16:creationId xmlns:a16="http://schemas.microsoft.com/office/drawing/2014/main" id="{F3396969-499C-4DE0-840C-BF3AB5AA7B57}"/>
              </a:ext>
            </a:extLst>
          </p:cNvPr>
          <p:cNvSpPr>
            <a:spLocks noGrp="1"/>
          </p:cNvSpPr>
          <p:nvPr/>
        </p:nvSpPr>
        <p:spPr>
          <a:xfrm>
            <a:off x="6705600" y="3371850"/>
            <a:ext cx="434340" cy="685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38100" tIns="19050" rIns="38100" bIns="19050" anchor="ctr"/>
          <a:lstStyle/>
          <a:p>
            <a:pPr algn="ctr">
              <a:defRPr sz="1125" b="1">
                <a:solidFill>
                  <a:srgbClr val="222222"/>
                </a:solidFill>
                <a:latin typeface="Calibri Light"/>
                <a:ea typeface="Calibri Light"/>
                <a:cs typeface="Calibri Light"/>
              </a:defRPr>
            </a:pPr>
            <a:r>
              <a:rPr sz="1125" b="1">
                <a:solidFill>
                  <a:srgbClr val="222222"/>
                </a:solidFill>
                <a:latin typeface="Calibri Light"/>
                <a:ea typeface="Calibri Light"/>
                <a:cs typeface="Calibri Light"/>
              </a:rPr>
              <a:t>S</a:t>
            </a:r>
          </a:p>
        </p:txBody>
      </p:sp>
      <p:sp>
        <p:nvSpPr>
          <p:cNvPr id="18" name="Retângulo: Cantos Arredondados 17">
            <a:extLst>
              <a:ext uri="{FF2B5EF4-FFF2-40B4-BE49-F238E27FC236}">
                <a16:creationId xmlns:a16="http://schemas.microsoft.com/office/drawing/2014/main" id="{F4853D95-B063-42EB-8F54-1DF43771BA33}"/>
              </a:ext>
            </a:extLst>
          </p:cNvPr>
          <p:cNvSpPr>
            <a:spLocks noGrp="1"/>
          </p:cNvSpPr>
          <p:nvPr/>
        </p:nvSpPr>
        <p:spPr>
          <a:xfrm>
            <a:off x="7539990" y="3286125"/>
            <a:ext cx="510540" cy="857250"/>
          </a:xfrm>
          <a:prstGeom prst="roundRect">
            <a:avLst>
              <a:gd name="adj" fmla="val 14925"/>
            </a:avLst>
          </a:prstGeom>
          <a:solidFill>
            <a:srgbClr val="F5F5F5"/>
          </a:solidFill>
          <a:ln w="9525">
            <a:solidFill>
              <a:srgbClr val="BBBBB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9" name="Retângulo 18">
            <a:extLst>
              <a:ext uri="{FF2B5EF4-FFF2-40B4-BE49-F238E27FC236}">
                <a16:creationId xmlns:a16="http://schemas.microsoft.com/office/drawing/2014/main" id="{8BB760B1-4A05-4756-9E82-BC1691EE0E3A}"/>
              </a:ext>
            </a:extLst>
          </p:cNvPr>
          <p:cNvSpPr>
            <a:spLocks noGrp="1"/>
          </p:cNvSpPr>
          <p:nvPr/>
        </p:nvSpPr>
        <p:spPr>
          <a:xfrm>
            <a:off x="7578090" y="3371850"/>
            <a:ext cx="434340" cy="685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38100" tIns="19050" rIns="38100" bIns="19050" anchor="ctr"/>
          <a:lstStyle/>
          <a:p>
            <a:pPr algn="ctr">
              <a:defRPr sz="1125" b="1">
                <a:solidFill>
                  <a:srgbClr val="222222"/>
                </a:solidFill>
                <a:latin typeface="Calibri Light"/>
                <a:ea typeface="Calibri Light"/>
                <a:cs typeface="Calibri Light"/>
              </a:defRPr>
            </a:pPr>
            <a:r>
              <a:rPr sz="1125" b="1">
                <a:solidFill>
                  <a:srgbClr val="222222"/>
                </a:solidFill>
                <a:latin typeface="Calibri Light"/>
                <a:ea typeface="Calibri Light"/>
                <a:cs typeface="Calibri Light"/>
              </a:rPr>
              <a:t>aS</a:t>
            </a:r>
          </a:p>
        </p:txBody>
      </p:sp>
      <p:sp>
        <p:nvSpPr>
          <p:cNvPr id="20" name="Retângulo: Cantos Arredondados 19">
            <a:extLst>
              <a:ext uri="{FF2B5EF4-FFF2-40B4-BE49-F238E27FC236}">
                <a16:creationId xmlns:a16="http://schemas.microsoft.com/office/drawing/2014/main" id="{DC24C29A-E445-4430-AA6E-4B0DDB464AC7}"/>
              </a:ext>
            </a:extLst>
          </p:cNvPr>
          <p:cNvSpPr>
            <a:spLocks noGrp="1"/>
          </p:cNvSpPr>
          <p:nvPr/>
        </p:nvSpPr>
        <p:spPr>
          <a:xfrm>
            <a:off x="8412480" y="3286125"/>
            <a:ext cx="510540" cy="857250"/>
          </a:xfrm>
          <a:prstGeom prst="roundRect">
            <a:avLst>
              <a:gd name="adj" fmla="val 14925"/>
            </a:avLst>
          </a:prstGeom>
          <a:solidFill>
            <a:srgbClr val="F5F5F5"/>
          </a:solidFill>
          <a:ln w="9525">
            <a:solidFill>
              <a:srgbClr val="BBBBB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1" name="Retângulo 20">
            <a:extLst>
              <a:ext uri="{FF2B5EF4-FFF2-40B4-BE49-F238E27FC236}">
                <a16:creationId xmlns:a16="http://schemas.microsoft.com/office/drawing/2014/main" id="{3034AB25-522C-4EB7-BF8E-FDB646AEEB7D}"/>
              </a:ext>
            </a:extLst>
          </p:cNvPr>
          <p:cNvSpPr>
            <a:spLocks noGrp="1"/>
          </p:cNvSpPr>
          <p:nvPr/>
        </p:nvSpPr>
        <p:spPr>
          <a:xfrm>
            <a:off x="8450580" y="3371850"/>
            <a:ext cx="434340" cy="685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38100" tIns="19050" rIns="38100" bIns="19050" anchor="ctr"/>
          <a:lstStyle/>
          <a:p>
            <a:pPr algn="ctr">
              <a:defRPr sz="1125" b="1">
                <a:solidFill>
                  <a:srgbClr val="222222"/>
                </a:solidFill>
                <a:latin typeface="Calibri Light"/>
                <a:ea typeface="Calibri Light"/>
                <a:cs typeface="Calibri Light"/>
              </a:defRPr>
            </a:pPr>
            <a:r>
              <a:rPr sz="1125" b="1">
                <a:solidFill>
                  <a:srgbClr val="222222"/>
                </a:solidFill>
                <a:latin typeface="Calibri Light"/>
                <a:ea typeface="Calibri Light"/>
                <a:cs typeface="Calibri Light"/>
              </a:rPr>
              <a:t>aaS</a:t>
            </a:r>
          </a:p>
        </p:txBody>
      </p:sp>
      <p:sp>
        <p:nvSpPr>
          <p:cNvPr id="22" name="Retângulo: Cantos Arredondados 21">
            <a:extLst>
              <a:ext uri="{FF2B5EF4-FFF2-40B4-BE49-F238E27FC236}">
                <a16:creationId xmlns:a16="http://schemas.microsoft.com/office/drawing/2014/main" id="{837117DD-E996-40D9-A65F-0D9405FE1B96}"/>
              </a:ext>
            </a:extLst>
          </p:cNvPr>
          <p:cNvSpPr>
            <a:spLocks noGrp="1"/>
          </p:cNvSpPr>
          <p:nvPr/>
        </p:nvSpPr>
        <p:spPr>
          <a:xfrm>
            <a:off x="9284970" y="3286125"/>
            <a:ext cx="510540" cy="857250"/>
          </a:xfrm>
          <a:prstGeom prst="roundRect">
            <a:avLst>
              <a:gd name="adj" fmla="val 14925"/>
            </a:avLst>
          </a:prstGeom>
          <a:solidFill>
            <a:srgbClr val="F5F5F5"/>
          </a:solidFill>
          <a:ln w="9525">
            <a:solidFill>
              <a:srgbClr val="BBBBB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3" name="Retângulo 22">
            <a:extLst>
              <a:ext uri="{FF2B5EF4-FFF2-40B4-BE49-F238E27FC236}">
                <a16:creationId xmlns:a16="http://schemas.microsoft.com/office/drawing/2014/main" id="{A38060C4-B165-4068-979D-64E7765EA3B5}"/>
              </a:ext>
            </a:extLst>
          </p:cNvPr>
          <p:cNvSpPr>
            <a:spLocks noGrp="1"/>
          </p:cNvSpPr>
          <p:nvPr/>
        </p:nvSpPr>
        <p:spPr>
          <a:xfrm>
            <a:off x="9323070" y="3371850"/>
            <a:ext cx="434340" cy="685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38100" tIns="19050" rIns="38100" bIns="19050" anchor="ctr"/>
          <a:lstStyle/>
          <a:p>
            <a:pPr algn="ctr">
              <a:defRPr sz="1125" b="1">
                <a:solidFill>
                  <a:srgbClr val="222222"/>
                </a:solidFill>
                <a:latin typeface="Calibri Light"/>
                <a:ea typeface="Calibri Light"/>
                <a:cs typeface="Calibri Light"/>
              </a:defRPr>
            </a:pPr>
            <a:r>
              <a:rPr sz="1125" b="1">
                <a:solidFill>
                  <a:srgbClr val="222222"/>
                </a:solidFill>
                <a:latin typeface="Calibri Light"/>
                <a:ea typeface="Calibri Light"/>
                <a:cs typeface="Calibri Light"/>
              </a:rPr>
              <a:t>aaaS</a:t>
            </a:r>
          </a:p>
        </p:txBody>
      </p:sp>
      <p:sp>
        <p:nvSpPr>
          <p:cNvPr id="24" name="Retângulo: Cantos Arredondados 23">
            <a:extLst>
              <a:ext uri="{FF2B5EF4-FFF2-40B4-BE49-F238E27FC236}">
                <a16:creationId xmlns:a16="http://schemas.microsoft.com/office/drawing/2014/main" id="{F6854698-162B-41D6-99ED-23561CEA17A7}"/>
              </a:ext>
            </a:extLst>
          </p:cNvPr>
          <p:cNvSpPr>
            <a:spLocks noGrp="1"/>
          </p:cNvSpPr>
          <p:nvPr/>
        </p:nvSpPr>
        <p:spPr>
          <a:xfrm>
            <a:off x="10157460" y="3286125"/>
            <a:ext cx="510540" cy="857250"/>
          </a:xfrm>
          <a:prstGeom prst="roundRect">
            <a:avLst>
              <a:gd name="adj" fmla="val 14925"/>
            </a:avLst>
          </a:prstGeom>
          <a:solidFill>
            <a:srgbClr val="D63C3C"/>
          </a:solidFill>
          <a:ln w="9525">
            <a:solidFill>
              <a:srgbClr val="D63C3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5" name="Retângulo 24">
            <a:extLst>
              <a:ext uri="{FF2B5EF4-FFF2-40B4-BE49-F238E27FC236}">
                <a16:creationId xmlns:a16="http://schemas.microsoft.com/office/drawing/2014/main" id="{619BE28B-CF00-450D-865A-E6382899219B}"/>
              </a:ext>
            </a:extLst>
          </p:cNvPr>
          <p:cNvSpPr>
            <a:spLocks noGrp="1"/>
          </p:cNvSpPr>
          <p:nvPr/>
        </p:nvSpPr>
        <p:spPr>
          <a:xfrm>
            <a:off x="10195560" y="3371850"/>
            <a:ext cx="434340" cy="685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38100" tIns="19050" rIns="38100" bIns="19050" anchor="ctr"/>
          <a:lstStyle/>
          <a:p>
            <a:pPr algn="ctr">
              <a:defRPr sz="1125" b="1">
                <a:solidFill>
                  <a:srgbClr val="FFFFFF"/>
                </a:solidFill>
                <a:latin typeface="Calibri Light"/>
                <a:ea typeface="Calibri Light"/>
                <a:cs typeface="Calibri Light"/>
              </a:defRPr>
            </a:pPr>
            <a:r>
              <a:rPr sz="1125" b="1">
                <a:solidFill>
                  <a:srgbClr val="FFFFFF"/>
                </a:solidFill>
                <a:latin typeface="Calibri Light"/>
                <a:ea typeface="Calibri Light"/>
                <a:cs typeface="Calibri Light"/>
              </a:rPr>
              <a:t>aaab</a:t>
            </a:r>
          </a:p>
        </p:txBody>
      </p:sp>
    </p:spTree>
    <p:extLst>
      <p:ext uri="{BB962C8B-B14F-4D97-AF65-F5344CB8AC3E}">
        <p14:creationId xmlns:p14="http://schemas.microsoft.com/office/powerpoint/2010/main" val="463854184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EF7D8EE-82E6-5710-E3CF-19195A2FD7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Atividade em duplas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E50D22B-02C8-11F2-11C0-9066BFC822A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t>Considere Σ = {a,b}.</a:t>
            </a:r>
          </a:p>
          <a:p>
            <a:pPr>
              <a:buNone/>
            </a:pPr>
            <a:r>
              <a:t>1. Liste Σ².</a:t>
            </a:r>
          </a:p>
          <a:p>
            <a:pPr>
              <a:buNone/>
            </a:pPr>
            <a:r>
              <a:t>2. Dê três palavras de Σ*.</a:t>
            </a:r>
          </a:p>
          <a:p>
            <a:r>
              <a:t>3. Explique por que ε ∈ Σ*.</a:t>
            </a:r>
          </a:p>
          <a:p>
            <a:r>
              <a:t>4. Para S → aS | b, derive aab.</a:t>
            </a:r>
          </a:p>
        </p:txBody>
      </p:sp>
    </p:spTree>
    <p:extLst>
      <p:ext uri="{BB962C8B-B14F-4D97-AF65-F5344CB8AC3E}">
        <p14:creationId xmlns:p14="http://schemas.microsoft.com/office/powerpoint/2010/main" val="869589007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CCB00D9-1AE3-D260-EF6F-56D329965E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Verifique sua compreensão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23FF91B0-B5DC-458A-642E-7D35529EFDB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t>Alfabeto é conjunto; palavra é sequência</a:t>
            </a:r>
          </a:p>
          <a:p>
            <a:r>
              <a:t>Linguagem é conjunto de palavras</a:t>
            </a:r>
          </a:p>
          <a:p>
            <a:r>
              <a:t>ε tem comprimento zero</a:t>
            </a:r>
          </a:p>
          <a:p>
            <a:r>
              <a:t>Gramática gera palavras por produções</a:t>
            </a:r>
          </a:p>
          <a:p>
            <a:r>
              <a:t>Pergunta: ∅ e {ε} são iguais?</a:t>
            </a:r>
          </a:p>
        </p:txBody>
      </p:sp>
    </p:spTree>
    <p:extLst>
      <p:ext uri="{BB962C8B-B14F-4D97-AF65-F5344CB8AC3E}">
        <p14:creationId xmlns:p14="http://schemas.microsoft.com/office/powerpoint/2010/main" val="3310152805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>
            <a:extLst>
              <a:ext uri="{FF2B5EF4-FFF2-40B4-BE49-F238E27FC236}">
                <a16:creationId xmlns:a16="http://schemas.microsoft.com/office/drawing/2014/main" id="{58FF648A-DFF8-FF40-1D4B-AAB7A6CC82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VOCÊ JÁ POSSUI O VOCABULÁRIO BÁSICO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EA773244-B073-7998-C028-38130BE5F5C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Próximo passo: reconhecer linguagens regulares com máquinas de estados.</a:t>
            </a:r>
          </a:p>
        </p:txBody>
      </p:sp>
    </p:spTree>
    <p:extLst>
      <p:ext uri="{BB962C8B-B14F-4D97-AF65-F5344CB8AC3E}">
        <p14:creationId xmlns:p14="http://schemas.microsoft.com/office/powerpoint/2010/main" val="2043521236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112</TotalTime>
  <Words>5659</Words>
  <Application>Microsoft Office PowerPoint</Application>
  <DocSecurity>0</DocSecurity>
  <PresentationFormat>Widescreen</PresentationFormat>
  <Paragraphs>556</Paragraphs>
  <Slides>42</Slides>
  <Notes>42</Notes>
  <HiddenSlides>0</HiddenSlides>
  <MMClips>0</MMClips>
  <ScaleCrop>false</ScaleCrop>
  <HeadingPairs>
    <vt:vector size="6" baseType="variant">
      <vt:variant>
        <vt:lpstr>Fontes usadas</vt:lpstr>
      </vt:variant>
      <vt:variant>
        <vt:i4>8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42</vt:i4>
      </vt:variant>
    </vt:vector>
  </HeadingPairs>
  <TitlesOfParts>
    <vt:vector size="51" baseType="lpstr">
      <vt:lpstr>-apple-system</vt:lpstr>
      <vt:lpstr>Arial</vt:lpstr>
      <vt:lpstr>Calibri</vt:lpstr>
      <vt:lpstr>Calibri Light</vt:lpstr>
      <vt:lpstr>Century Gothic</vt:lpstr>
      <vt:lpstr>Google Sans</vt:lpstr>
      <vt:lpstr>Google Sans Code</vt:lpstr>
      <vt:lpstr>Google Sans Text</vt:lpstr>
      <vt:lpstr>Tema do Office</vt:lpstr>
      <vt:lpstr>Apresentação do PowerPoint</vt:lpstr>
      <vt:lpstr>Informação do Professor: </vt:lpstr>
      <vt:lpstr>Apresentação do PowerPoint</vt:lpstr>
      <vt:lpstr>Apresentação do PowerPoint</vt:lpstr>
      <vt:lpstr>Apresentação do PowerPoint</vt:lpstr>
      <vt:lpstr>Apresentação do PowerPoint</vt:lpstr>
      <vt:lpstr>Informação do Professor: </vt:lpstr>
      <vt:lpstr>Informações dos alunos: 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DA INTUIÇÃO À FORMALIZAÇÃO</vt:lpstr>
      <vt:lpstr>DA INTUIÇÃO À FORMALIZAÇÃO</vt:lpstr>
      <vt:lpstr>Por que estudar linguagens formais?</vt:lpstr>
      <vt:lpstr>Símbolos formam palavras; palavras formam linguagens</vt:lpstr>
      <vt:lpstr>Conjuntos fundamentais de palavras</vt:lpstr>
      <vt:lpstr>Palavra vazia não é conjunto vazio</vt:lpstr>
      <vt:lpstr>Operações constroem novas linguagens</vt:lpstr>
      <vt:lpstr>Uma gramática descreve como gerar palavras</vt:lpstr>
      <vt:lpstr>Derivação aplica produções passo a passo</vt:lpstr>
      <vt:lpstr>Atividade em duplas</vt:lpstr>
      <vt:lpstr>Verifique sua compreensão</vt:lpstr>
      <vt:lpstr>VOCÊ JÁ POSSUI O VOCABULÁRIO BÁSICO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Murillo edson de carvalho souza</cp:lastModifiedBy>
  <cp:revision>12</cp:revision>
  <dcterms:created xsi:type="dcterms:W3CDTF">2026-08-04T01:48:32Z</dcterms:created>
  <dcterms:modified xsi:type="dcterms:W3CDTF">2026-08-04T11:38:31Z</dcterms:modified>
</cp:coreProperties>
</file>