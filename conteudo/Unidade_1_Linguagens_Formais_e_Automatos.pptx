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71" r:id="rId4"/>
    <p:sldId id="270" r:id="rId5"/>
    <p:sldId id="272" r:id="rId6"/>
    <p:sldId id="273" r:id="rId7"/>
    <p:sldId id="274" r:id="rId8"/>
    <p:sldId id="269" r:id="rId9"/>
    <p:sldId id="268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1" d="100"/>
          <a:sy n="61" d="100"/>
        </p:scale>
        <p:origin x="99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Linguagens Formais e Autômatos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84BC4-45D8-E5D1-C8EC-3D60227E7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74758B-9BC5-C656-FC30-2E84F9E594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6F1E7A-CF8D-1E9D-B868-3C8117C6E0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EC5F90-8F35-6F83-AF35-BF99692C994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058580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7452A-07DE-EB85-331A-81FF2BD478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253328-2F59-3714-0B2A-E122379823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F7CF2A-7781-13D7-4FE5-F6BD07A68F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4DEC14-9C02-FE94-194D-42F7137ED0B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837901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0A9ED-A744-C9C6-CB0D-C18D059CB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8562B2-1BEF-BA55-F392-3D773F91D0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57CF4C-12BD-4133-7695-38C75E482B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35336B-F481-A45F-4136-64FA83F05899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176512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5F560-5C75-9F2A-3FE6-374F9D848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E21AE1-496A-E8D7-1F9B-7C556F2F92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447736-0F49-15DD-9B93-580E2E131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4F8A6-E3D3-98B4-BA66-FF6695D8F2ED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31577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E0BB8-7627-7394-F595-E20B8A6C9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529CE8-4802-DE55-F124-CA5D0C6FE9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7CA584-6B3A-1B9C-AB42-9EBC281C27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DD3FB6-5A76-6CA6-1F51-5A7B68415A1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547470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FCF2D-318E-CD1A-1662-92606F357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539484-6AC3-010B-1A92-80F0F00776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2CB934-7722-B330-CAA6-DF0C6A5AE9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E69665-6551-1AC2-83AB-9BA94D6B4E7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575999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8EF28F-A97E-C7A4-10AA-05A678D26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4CBF3C-2815-A10F-6A69-DD5C93CD1C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DE1BF5-8229-6754-957C-023B3D1A42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DA INTUIÇÃO À FORMALIZAÇÃO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B2AA3B-D0BE-228C-B8B9-FF502148EBE5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70034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Por que estudar linguagens formais?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Símbolos formam palavras; palavras formam linguagens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Conjuntos fundamentais de palavras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Palavra vazia não é conjunto vazio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Operações constroem novas linguagens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Uma gramática descreve como gerar palavras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Derivação aplica produções passo a passo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Atividade em duplas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Verifique sua compreensão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 didática: comece com um exemplo concreto, solicite uma hipótese da turma e só depois formalize a definição.</a:t>
            </a:r>
          </a:p>
          <a:p>
            <a:r>
              <a:t>[Sources]</a:t>
            </a:r>
          </a:p>
          <a:p>
            <a:r>
              <a:t>- Plano de Ensino MDC078 — Linguagens Formais e Autômatos, conteúdo da Unidade 1.</a:t>
            </a:r>
          </a:p>
          <a:p>
            <a:r>
              <a:t>- HOPCROFT, J.; MOTWANI, R.; ULLMAN, J. Introdução à Teoria de Autômatos, Linguagens e Computação.</a:t>
            </a:r>
          </a:p>
          <a:p>
            <a:r>
              <a:t>- MENEZES, P. B. Linguagens Formais e Autômatos.</a:t>
            </a:r>
          </a:p>
          <a:p>
            <a:r>
              <a:t>Tema do slide: VOCÊ JÁ POSSUI O VOCABULÁRIO BÁSICO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14B5CE-7A5A-9814-0F78-258C19B861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01A9C583-6173-BF95-7E47-0EDDD46CE0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A9086F5-01BC-465D-3052-DA22A17B047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6C82819-6FC3-4280-AC55-FFC6A68533FE}" type="datetimeFigureOut">
              <a:t>03/08/2026</a:t>
            </a:fld>
            <a:endParaRPr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66B3039-C112-19EE-FA5D-403DA209B12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036BD1-FF7E-4037-B9A5-8022299AEEA2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7C0F29-AD30-1875-8376-6AD56502F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8402E8-F5CF-A2B3-61C5-CFD2DC95A4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Clique para editar os estilos de texto Mestres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95A8501-C202-4EBD-A1F6-013B15C2676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6C82819-6FC3-4280-AC55-FFC6A68533FE}" type="datetimeFigureOut">
              <a:t>03/08/2026</a:t>
            </a:fld>
            <a:endParaRPr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35ECF9A-994C-60F1-8DD0-3085F6035A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036BD1-FF7E-4037-B9A5-8022299AEEA2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58402E8-F5CF-A2B3-61C5-CFD2DC95A4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25"/>
            <a:ext cx="10515600" cy="6160758"/>
          </a:xfrm>
        </p:spPr>
        <p:txBody>
          <a:bodyPr/>
          <a:lstStyle/>
          <a:p>
            <a:pPr lvl="0">
              <a:buNone/>
            </a:pPr>
            <a:r>
              <a:t>Clique para editar os estilos de texto Mestres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97EE50-328A-F91D-C640-7DB80D27A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D6213E8-0534-6E39-6FA9-CCE9BA0AC5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11632AE-3585-7D03-937C-41276E1B852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6C82819-6FC3-4280-AC55-FFC6A68533FE}" type="datetimeFigureOut">
              <a:t>03/08/2026</a:t>
            </a:fld>
            <a:endParaRPr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B6D08DF-883D-C905-CFC0-EC7D98FDEBA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036BD1-FF7E-4037-B9A5-8022299AEEA2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B355CA-FB63-30F4-70F4-8AE151AEA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EFF615B-BA99-F900-8EA4-EA267454D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Clique para editar os estilos de texto Mestres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64C1634-3D66-6739-72BA-41B14D816DA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Clique para editar os estilos de texto Mestres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EE22C7F-63E5-42E5-ECDC-7743D14AB10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6C82819-6FC3-4280-AC55-FFC6A68533FE}" type="datetimeFigureOut">
              <a:t>03/08/2026</a:t>
            </a:fld>
            <a:endParaRPr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5F206B9-C55D-4801-FD12-9150FA6D77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036BD1-FF7E-4037-B9A5-8022299AEEA2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8B3BFC-8255-064E-051B-D3986DFD3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dirty="0"/>
              <a:t>Clique para </a:t>
            </a:r>
            <a:r>
              <a:rPr dirty="0" err="1"/>
              <a:t>editar</a:t>
            </a:r>
            <a:r>
              <a:rPr dirty="0"/>
              <a:t> o </a:t>
            </a:r>
            <a:r>
              <a:rPr dirty="0" err="1"/>
              <a:t>título</a:t>
            </a:r>
            <a:r>
              <a:rPr dirty="0"/>
              <a:t>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D7C9333-7369-DEF3-4D1C-86656DBEE2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8BBADFF-6C86-E8F3-6A50-0B9B1565194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rPr dirty="0"/>
              <a:t>Clique para </a:t>
            </a:r>
            <a:r>
              <a:rPr dirty="0" err="1"/>
              <a:t>editar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estilos</a:t>
            </a:r>
            <a:r>
              <a:rPr dirty="0"/>
              <a:t> de </a:t>
            </a:r>
            <a:r>
              <a:rPr dirty="0" err="1"/>
              <a:t>texto</a:t>
            </a:r>
            <a:r>
              <a:rPr dirty="0"/>
              <a:t> Mestres</a:t>
            </a:r>
          </a:p>
          <a:p>
            <a:pPr lvl="1">
              <a:buNone/>
            </a:pPr>
            <a:r>
              <a:rPr dirty="0"/>
              <a:t>Segundo </a:t>
            </a:r>
            <a:r>
              <a:rPr dirty="0" err="1"/>
              <a:t>nível</a:t>
            </a:r>
            <a:endParaRPr dirty="0"/>
          </a:p>
          <a:p>
            <a:pPr lvl="2">
              <a:buNone/>
            </a:pPr>
            <a:r>
              <a:rPr dirty="0"/>
              <a:t>Terceiro </a:t>
            </a:r>
            <a:r>
              <a:rPr dirty="0" err="1"/>
              <a:t>nível</a:t>
            </a:r>
            <a:endParaRPr dirty="0"/>
          </a:p>
          <a:p>
            <a:pPr lvl="3">
              <a:buNone/>
            </a:pPr>
            <a:r>
              <a:rPr dirty="0"/>
              <a:t>Quarto </a:t>
            </a:r>
            <a:r>
              <a:rPr dirty="0" err="1"/>
              <a:t>nível</a:t>
            </a:r>
            <a:endParaRPr dirty="0"/>
          </a:p>
          <a:p>
            <a:pPr lvl="4">
              <a:buNone/>
            </a:pPr>
            <a:r>
              <a:rPr dirty="0"/>
              <a:t>Quinto </a:t>
            </a:r>
            <a:r>
              <a:rPr dirty="0" err="1"/>
              <a:t>nível</a:t>
            </a:r>
            <a:endParaRPr dirty="0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D5BAEF8E-1B92-7EC2-8549-23EED75A7C8A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0C96418-7A0E-6630-C5E8-A6B851BD49A0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Clique para editar os estilos de texto Mestres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5CE5D04-849B-F661-A994-C4C2B2B2CAE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6C82819-6FC3-4280-AC55-FFC6A68533FE}" type="datetimeFigureOut">
              <a:t>03/08/2026</a:t>
            </a:fld>
            <a:endParaRPr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9B5EC5A-26DC-8377-B38E-AE97284804F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036BD1-FF7E-4037-B9A5-8022299AEEA2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3E656F-7BE9-1F72-662D-E58FD8FBC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C5E02D3C-E215-64E7-1F41-0D76168EB6C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6C82819-6FC3-4280-AC55-FFC6A68533FE}" type="datetimeFigureOut">
              <a:t>03/08/2026</a:t>
            </a:fld>
            <a:endParaRPr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A9F1EF-1A9F-C4D0-5927-AFB575A88E0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036BD1-FF7E-4037-B9A5-8022299AEEA2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4318FC6-7C1D-D688-5F30-E5E26E2FFCD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6C82819-6FC3-4280-AC55-FFC6A68533FE}" type="datetimeFigureOut">
              <a:t>03/08/2026</a:t>
            </a:fld>
            <a:endParaRPr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83F02FF-9EE3-0EC1-1449-65DD68DE12E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036BD1-FF7E-4037-B9A5-8022299AEEA2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6EBE8A-8442-D77C-AEB0-BF072627F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C563D51-DE81-CFC8-2358-0CF9D80CA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Clique para editar os estilos de texto Mestres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D8A28A5-AA18-8463-0E51-95056D42E02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4E73351-8A6E-BEFC-DA86-E29E3189204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6C82819-6FC3-4280-AC55-FFC6A68533FE}" type="datetimeFigureOut">
              <a:t>03/08/2026</a:t>
            </a:fld>
            <a:endParaRPr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D927B29-10A9-C839-E4FE-D3057536F81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036BD1-FF7E-4037-B9A5-8022299AEEA2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7CA6643-FFE7-7DF7-3AA2-55557C915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673A501C-D732-0D81-3970-9178971811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E930562-0522-19A7-C079-A9AF96704D5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4EF7EC8-2934-CA8A-973C-7F4CB7DE2AB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6C82819-6FC3-4280-AC55-FFC6A68533FE}" type="datetimeFigureOut">
              <a:t>03/08/2026</a:t>
            </a:fld>
            <a:endParaRPr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3A8B4B5-3E27-8114-ACD9-8021DF2017C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036BD1-FF7E-4037-B9A5-8022299AEEA2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E198B9-6A4E-EC8B-AA8B-DC94D31DD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17A159CA-866E-F47F-497B-E1772A0B44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Clique para editar os estilos de texto Mestres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0D392C6-D60B-48FE-6B3A-5F0F48982E5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6C82819-6FC3-4280-AC55-FFC6A68533FE}" type="datetimeFigureOut">
              <a:t>03/08/2026</a:t>
            </a:fld>
            <a:endParaRPr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EDC36AB-0D5C-DC1F-C29B-A584112D17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036BD1-FF7E-4037-B9A5-8022299AEEA2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0507485-77E3-A62A-8C7B-9D78F9A25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9887C70-DCF1-2183-5C58-4FD47562B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Clique para editar os estilos de texto Mestres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A21A076-00AD-2B15-3AA5-E068C865219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26C82819-6FC3-4280-AC55-FFC6A68533FE}" type="datetimeFigureOut">
              <a:t>03/08/2026</a:t>
            </a:fld>
            <a:endParaRPr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D1C2203-BA85-B738-4455-EBEBA1FA9B9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3036BD1-FF7E-4037-B9A5-8022299AEEA2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bg>
      <p:bgPr>
        <a:solidFill>
          <a:srgbClr val="D13F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Box 1">
            <a:extLst>
              <a:ext uri="{FF2B5EF4-FFF2-40B4-BE49-F238E27FC236}">
                <a16:creationId xmlns:a16="http://schemas.microsoft.com/office/drawing/2014/main" id="{9A4D33E9-5862-EB06-8547-DDD69CB4B324}"/>
              </a:ext>
            </a:extLst>
          </p:cNvPr>
          <p:cNvSpPr>
            <a:spLocks noGrp="1"/>
          </p:cNvSpPr>
          <p:nvPr/>
        </p:nvSpPr>
        <p:spPr>
          <a:xfrm>
            <a:off x="-2" y="2946012"/>
            <a:ext cx="12192000" cy="1298575"/>
          </a:xfrm>
          <a:prstGeom prst="rect">
            <a:avLst/>
          </a:prstGeom>
          <a:solidFill>
            <a:sysClr val="window" lastClr="FFFFFF"/>
          </a:solidFill>
          <a:ln>
            <a:noFill/>
          </a:ln>
        </p:spPr>
        <p:txBody>
          <a:bodyPr anchor="ctr"/>
          <a:lstStyle>
            <a:lvl1pPr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L="2514600" indent="-228600" defTabSz="449263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L="2971800" indent="-228600" defTabSz="449263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L="3429000" indent="-228600" defTabSz="449263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L="3886200" indent="-228600" defTabSz="449263"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Times New Roman"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  <a:defRPr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  <a:tab pos="447675" algn="l"/>
                <a:tab pos="896938" algn="l"/>
                <a:tab pos="1346200" algn="l"/>
                <a:tab pos="1795463" algn="l"/>
                <a:tab pos="2244725" algn="l"/>
                <a:tab pos="2693988" algn="l"/>
                <a:tab pos="3143250" algn="l"/>
                <a:tab pos="3592513" algn="l"/>
                <a:tab pos="4041775" algn="l"/>
                <a:tab pos="4491038" algn="l"/>
                <a:tab pos="4940300" algn="l"/>
                <a:tab pos="5389563" algn="l"/>
                <a:tab pos="5838825" algn="l"/>
                <a:tab pos="6288088" algn="l"/>
                <a:tab pos="6737350" algn="l"/>
                <a:tab pos="7186613" algn="l"/>
                <a:tab pos="7635875" algn="l"/>
                <a:tab pos="8085138" algn="l"/>
                <a:tab pos="8534400" algn="l"/>
                <a:tab pos="8983663" algn="l"/>
              </a:tabLst>
            </a:pPr>
            <a:endParaRPr/>
          </a:p>
        </p:txBody>
      </p:sp>
      <p:sp>
        <p:nvSpPr>
          <p:cNvPr id="20" name="Rectangle 2">
            <a:extLst>
              <a:ext uri="{FF2B5EF4-FFF2-40B4-BE49-F238E27FC236}">
                <a16:creationId xmlns:a16="http://schemas.microsoft.com/office/drawing/2014/main" id="{40B59A00-CEA4-A348-E141-8D6F5A583A9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</p:spPr>
        <p:txBody>
          <a:bodyPr vert="horz" wrap="none" lIns="91440" tIns="45720" rIns="91440" bIns="45720" anchor="ctr">
            <a:spAutoFit/>
          </a:bodyPr>
          <a:lstStyle/>
          <a:p>
            <a:endParaRPr/>
          </a:p>
        </p:txBody>
      </p:sp>
      <p:pic>
        <p:nvPicPr>
          <p:cNvPr id="30" name="Picture 1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17964" y="1309382"/>
            <a:ext cx="1356067" cy="1356067"/>
          </a:xfrm>
          <a:prstGeom prst="rect">
            <a:avLst/>
          </a:prstGeom>
          <a:ln w="25400">
            <a:solidFill>
              <a:sysClr val="window" lastClr="FFFFFF"/>
            </a:solidFill>
          </a:ln>
          <a:effectLst>
            <a:softEdge rad="0"/>
          </a:effectLst>
        </p:spPr>
      </p:pic>
      <p:sp>
        <p:nvSpPr>
          <p:cNvPr id="22" name="Rectangle 3">
            <a:extLst>
              <a:ext uri="{FF2B5EF4-FFF2-40B4-BE49-F238E27FC236}">
                <a16:creationId xmlns:a16="http://schemas.microsoft.com/office/drawing/2014/main" id="{FAEF6B9D-50CF-4A40-9521-EC5BB30BE0CC}"/>
              </a:ext>
            </a:extLst>
          </p:cNvPr>
          <p:cNvSpPr>
            <a:spLocks noGrp="1"/>
          </p:cNvSpPr>
          <p:nvPr/>
        </p:nvSpPr>
        <p:spPr>
          <a:xfrm>
            <a:off x="1" y="-11465"/>
            <a:ext cx="12191999" cy="107721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>
            <a:spAutoFit/>
          </a:bodyPr>
          <a:lstStyle>
            <a:lvl1pPr indent="269875"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ctr">
              <a:buNone/>
            </a:pPr>
            <a:r>
              <a:rPr sz="3200" b="1">
                <a:solidFill>
                  <a:prstClr val="white"/>
                </a:solidFill>
                <a:latin typeface="Century Gothic"/>
                <a:ea typeface="Century Gothic"/>
                <a:cs typeface="Century Gothic"/>
              </a:rPr>
              <a:t>CENTRO UNIVERSITÁRIO </a:t>
            </a:r>
          </a:p>
          <a:p>
            <a:pPr algn="ctr">
              <a:buNone/>
            </a:pPr>
            <a:r>
              <a:rPr sz="3200" b="1">
                <a:solidFill>
                  <a:prstClr val="white"/>
                </a:solidFill>
                <a:latin typeface="Century Gothic"/>
                <a:ea typeface="Century Gothic"/>
                <a:cs typeface="Century Gothic"/>
              </a:rPr>
              <a:t>INSTITUTO DE EDUCAÇÃO SUPERIOR DE BRASÍLIA – IESB</a:t>
            </a:r>
          </a:p>
        </p:txBody>
      </p:sp>
      <p:sp>
        <p:nvSpPr>
          <p:cNvPr id="24" name="Conector reto 23">
            <a:extLst>
              <a:ext uri="{FF2B5EF4-FFF2-40B4-BE49-F238E27FC236}">
                <a16:creationId xmlns:a16="http://schemas.microsoft.com/office/drawing/2014/main" id="{D3B7CA86-8F1C-4AC9-A632-74A0E638965A}"/>
              </a:ext>
            </a:extLst>
          </p:cNvPr>
          <p:cNvSpPr>
            <a:spLocks noGrp="1"/>
          </p:cNvSpPr>
          <p:nvPr/>
        </p:nvSpPr>
        <p:spPr>
          <a:xfrm flipV="1">
            <a:off x="0" y="2970402"/>
            <a:ext cx="12192000" cy="14068"/>
          </a:xfrm>
          <a:prstGeom prst="line">
            <a:avLst/>
          </a:prstGeom>
          <a:noFill/>
          <a:ln w="25400">
            <a:solidFill>
              <a:srgbClr val="FF0000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Conector reto 24">
            <a:extLst>
              <a:ext uri="{FF2B5EF4-FFF2-40B4-BE49-F238E27FC236}">
                <a16:creationId xmlns:a16="http://schemas.microsoft.com/office/drawing/2014/main" id="{D5A8EAFF-880E-4B5C-9F49-24FADDD1B144}"/>
              </a:ext>
            </a:extLst>
          </p:cNvPr>
          <p:cNvSpPr>
            <a:spLocks noGrp="1"/>
          </p:cNvSpPr>
          <p:nvPr/>
        </p:nvSpPr>
        <p:spPr>
          <a:xfrm flipV="1">
            <a:off x="19050" y="4216091"/>
            <a:ext cx="12172950" cy="3987"/>
          </a:xfrm>
          <a:prstGeom prst="line">
            <a:avLst/>
          </a:prstGeom>
          <a:noFill/>
          <a:ln w="25400">
            <a:solidFill>
              <a:srgbClr val="FF0000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8C7516D3-D752-E99F-B46A-AA9F0E5211FE}"/>
              </a:ext>
            </a:extLst>
          </p:cNvPr>
          <p:cNvSpPr>
            <a:spLocks noGrp="1"/>
          </p:cNvSpPr>
          <p:nvPr/>
        </p:nvSpPr>
        <p:spPr>
          <a:xfrm>
            <a:off x="3888509" y="6236493"/>
            <a:ext cx="4396509" cy="621507"/>
          </a:xfrm>
          <a:prstGeom prst="rect">
            <a:avLst/>
          </a:prstGeom>
          <a:solidFill>
            <a:srgbClr val="D13F3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7" name="Espaço Reservado para Texto 6">
            <a:extLst>
              <a:ext uri="{FF2B5EF4-FFF2-40B4-BE49-F238E27FC236}">
                <a16:creationId xmlns:a16="http://schemas.microsoft.com/office/drawing/2014/main" id="{C94BA787-F3F0-6A10-2030-D63E12228529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146649" y="3087688"/>
            <a:ext cx="11895825" cy="920750"/>
          </a:xfrm>
        </p:spPr>
        <p:txBody>
          <a:bodyPr>
            <a:normAutofit/>
          </a:bodyPr>
          <a:lstStyle>
            <a:lvl1pPr marL="0" indent="0" algn="ctr">
              <a:buNone/>
              <a:defRPr sz="6000"/>
            </a:lvl1pPr>
          </a:lstStyle>
          <a:p>
            <a:pPr lvl="0">
              <a:buNone/>
            </a:pPr>
            <a:r>
              <a:t>Título da disciplina</a:t>
            </a:r>
          </a:p>
        </p:txBody>
      </p:sp>
      <p:sp>
        <p:nvSpPr>
          <p:cNvPr id="9" name="Espaço Reservado para Texto 8">
            <a:extLst>
              <a:ext uri="{FF2B5EF4-FFF2-40B4-BE49-F238E27FC236}">
                <a16:creationId xmlns:a16="http://schemas.microsoft.com/office/drawing/2014/main" id="{4C0AC60C-4BBE-FDA9-57B4-1376B7BB81F8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2633662" y="5028361"/>
            <a:ext cx="6945313" cy="1001713"/>
          </a:xfrm>
        </p:spPr>
        <p:txBody>
          <a:bodyPr>
            <a:normAutofit/>
          </a:bodyPr>
          <a:lstStyle>
            <a:lvl1pPr marL="0" indent="0" algn="ctr">
              <a:buNone/>
              <a:defRPr sz="4000">
                <a:solidFill>
                  <a:schemeClr val="bg1"/>
                </a:solidFill>
              </a:defRPr>
            </a:lvl1pPr>
          </a:lstStyle>
          <a:p>
            <a:pPr lvl="0">
              <a:buNone/>
            </a:pPr>
            <a:r>
              <a:t>Nome do professor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5E94D09-6762-AA9E-87A1-AD30975EE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7691D22-60BF-2502-06F3-41EF6F0761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Clique para editar os estilos de texto Mestres</a:t>
            </a:r>
          </a:p>
          <a:p>
            <a:pPr lvl="1">
              <a:buNone/>
            </a:pPr>
            <a:r>
              <a:t>Segundo nível</a:t>
            </a:r>
          </a:p>
          <a:p>
            <a:pPr lvl="2">
              <a:buNone/>
            </a:pPr>
            <a:r>
              <a:t>Terceiro nível</a:t>
            </a:r>
          </a:p>
          <a:p>
            <a:pPr lvl="3">
              <a:buNone/>
            </a:pPr>
            <a:r>
              <a:t>Quarto nível</a:t>
            </a:r>
          </a:p>
          <a:p>
            <a:pPr lvl="4">
              <a:buNone/>
            </a:pPr>
            <a:r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13E3DB3-6CD2-9B4D-A663-D3A494872306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C82819-6FC3-4280-AC55-FFC6A68533FE}" type="datetimeFigureOut">
              <a:t>03/08/2026</a:t>
            </a:fld>
            <a:endParaRPr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A57F59B-290A-F04F-8ABE-23CDD1766DA2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036BD1-FF7E-4037-B9A5-8022299AEEA2}" type="slidenum">
              <a:t>‹nº›</a:t>
            </a:fld>
            <a:endParaRPr/>
          </a:p>
        </p:txBody>
      </p:sp>
      <p:sp>
        <p:nvSpPr>
          <p:cNvPr id="8" name="Conector reto 7">
            <a:extLst>
              <a:ext uri="{FF2B5EF4-FFF2-40B4-BE49-F238E27FC236}">
                <a16:creationId xmlns:a16="http://schemas.microsoft.com/office/drawing/2014/main" id="{1379CDFD-8A5D-4B9F-B572-CBE11D332BF1}"/>
              </a:ext>
            </a:extLst>
          </p:cNvPr>
          <p:cNvSpPr>
            <a:spLocks noGrp="1"/>
          </p:cNvSpPr>
          <p:nvPr/>
        </p:nvSpPr>
        <p:spPr>
          <a:xfrm>
            <a:off x="4761781" y="6356350"/>
            <a:ext cx="2510287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FD2A0676-C749-F90A-4324-FCA23AC7F319}"/>
              </a:ext>
            </a:extLst>
          </p:cNvPr>
          <p:cNvSpPr>
            <a:spLocks noGrp="1"/>
          </p:cNvSpPr>
          <p:nvPr/>
        </p:nvSpPr>
        <p:spPr>
          <a:xfrm>
            <a:off x="4761781" y="6451898"/>
            <a:ext cx="25102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pt-BR" sz="1400" dirty="0"/>
              <a:t>murillo.souza@iesb.br</a:t>
            </a:r>
            <a:endParaRPr sz="1400" dirty="0"/>
          </a:p>
        </p:txBody>
      </p:sp>
      <p:pic>
        <p:nvPicPr>
          <p:cNvPr id="17" name="Picture 1"/>
          <p:cNvPicPr>
            <a:picLocks noChangeAspect="1"/>
          </p:cNvPicPr>
          <p:nvPr/>
        </p:nvPicPr>
        <p:blipFill>
          <a:blip r:embed="rId15">
            <a:biLevel thresh="50000"/>
          </a:blip>
          <a:srcRect/>
          <a:stretch>
            <a:fillRect/>
          </a:stretch>
        </p:blipFill>
        <p:spPr>
          <a:xfrm>
            <a:off x="70110" y="65450"/>
            <a:ext cx="360000" cy="360000"/>
          </a:xfrm>
          <a:prstGeom prst="rect">
            <a:avLst/>
          </a:prstGeom>
          <a:ln w="25400">
            <a:solidFill>
              <a:sysClr val="window" lastClr="FFFFFF"/>
            </a:solidFill>
          </a:ln>
          <a:effectLst>
            <a:softEdge rad="0"/>
          </a:effec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urilloed/murilloed.github.io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exto 1">
            <a:extLst>
              <a:ext uri="{FF2B5EF4-FFF2-40B4-BE49-F238E27FC236}">
                <a16:creationId xmlns:a16="http://schemas.microsoft.com/office/drawing/2014/main" id="{9A7FFB30-02C4-E94D-1B6B-BF88FC7266B8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dirty="0" err="1"/>
              <a:t>Linguagens</a:t>
            </a:r>
            <a:r>
              <a:rPr dirty="0"/>
              <a:t> </a:t>
            </a:r>
            <a:r>
              <a:rPr dirty="0" err="1"/>
              <a:t>Formais</a:t>
            </a:r>
            <a:r>
              <a:rPr dirty="0"/>
              <a:t> e </a:t>
            </a:r>
            <a:r>
              <a:rPr dirty="0" err="1"/>
              <a:t>Autômatos</a:t>
            </a:r>
            <a:endParaRPr dirty="0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0020FB1-AA46-6502-C116-17380535F514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 fontScale="85000" lnSpcReduction="20000"/>
          </a:bodyPr>
          <a:lstStyle/>
          <a:p>
            <a:r>
              <a:rPr dirty="0" err="1"/>
              <a:t>Unidade</a:t>
            </a:r>
            <a:r>
              <a:rPr dirty="0"/>
              <a:t> I • </a:t>
            </a:r>
            <a:r>
              <a:rPr dirty="0" err="1"/>
              <a:t>Conceitos</a:t>
            </a:r>
            <a:r>
              <a:rPr dirty="0"/>
              <a:t> </a:t>
            </a:r>
            <a:r>
              <a:rPr dirty="0" err="1"/>
              <a:t>básicos</a:t>
            </a:r>
            <a:endParaRPr dirty="0"/>
          </a:p>
          <a:p>
            <a:r>
              <a:rPr lang="pt-BR" dirty="0"/>
              <a:t>Prof. Dr. Murillo Carvalho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971916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ítulo 1">
            <a:extLst>
              <a:ext uri="{FF2B5EF4-FFF2-40B4-BE49-F238E27FC236}">
                <a16:creationId xmlns:a16="http://schemas.microsoft.com/office/drawing/2014/main" id="{C6A4222C-6282-6CBB-C432-D096C8AEE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717" y="991182"/>
            <a:ext cx="4916214" cy="1325563"/>
          </a:xfrm>
        </p:spPr>
        <p:txBody>
          <a:bodyPr>
            <a:normAutofit/>
          </a:bodyPr>
          <a:lstStyle/>
          <a:p>
            <a:r>
              <a:rPr lang="pt-BR" sz="3600" b="1" dirty="0"/>
              <a:t>Informação do Professor: 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BE14D380-4631-ECC5-4D5C-9C78178086EC}"/>
              </a:ext>
            </a:extLst>
          </p:cNvPr>
          <p:cNvSpPr txBox="1">
            <a:spLocks/>
          </p:cNvSpPr>
          <p:nvPr/>
        </p:nvSpPr>
        <p:spPr>
          <a:xfrm>
            <a:off x="2747470" y="2848533"/>
            <a:ext cx="4248150" cy="1512264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22860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6pPr>
            <a:lvl7pPr marL="27432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7pPr>
            <a:lvl8pPr marL="32004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8pPr>
            <a:lvl9pPr marL="36576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9pPr>
          </a:lstStyle>
          <a:p>
            <a:pPr algn="just"/>
            <a:r>
              <a:rPr lang="pt-BR">
                <a:latin typeface="Calibri" panose="020F0502020204030204" pitchFamily="34" charset="0"/>
                <a:ea typeface="Calibri" panose="020F0502020204030204" pitchFamily="34" charset="0"/>
              </a:rPr>
              <a:t>Formação: </a:t>
            </a:r>
          </a:p>
          <a:p>
            <a:pPr algn="just"/>
            <a:r>
              <a:rPr lang="pt-BR" sz="2000">
                <a:latin typeface="Calibri" panose="020F0502020204030204" pitchFamily="34" charset="0"/>
                <a:ea typeface="Calibri" panose="020F0502020204030204" pitchFamily="34" charset="0"/>
              </a:rPr>
              <a:t>    1995 - atual</a:t>
            </a:r>
          </a:p>
          <a:p>
            <a:pPr algn="just"/>
            <a:endParaRPr lang="pt-BR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endParaRPr lang="pt-BR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endParaRPr lang="pt-BR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endParaRPr lang="pt-BR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endParaRPr lang="pt-BR" dirty="0"/>
          </a:p>
        </p:txBody>
      </p:sp>
      <p:sp>
        <p:nvSpPr>
          <p:cNvPr id="10" name="Chave Esquerda 9">
            <a:extLst>
              <a:ext uri="{FF2B5EF4-FFF2-40B4-BE49-F238E27FC236}">
                <a16:creationId xmlns:a16="http://schemas.microsoft.com/office/drawing/2014/main" id="{9F27D1D4-2FFD-7C7D-030B-870A6D9DC974}"/>
              </a:ext>
            </a:extLst>
          </p:cNvPr>
          <p:cNvSpPr/>
          <p:nvPr/>
        </p:nvSpPr>
        <p:spPr>
          <a:xfrm>
            <a:off x="4691678" y="662153"/>
            <a:ext cx="2303942" cy="539678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891833DD-3076-51A6-9137-22ACDBC3AA24}"/>
              </a:ext>
            </a:extLst>
          </p:cNvPr>
          <p:cNvSpPr txBox="1"/>
          <p:nvPr/>
        </p:nvSpPr>
        <p:spPr>
          <a:xfrm>
            <a:off x="6270183" y="721172"/>
            <a:ext cx="609337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600" b="1" dirty="0"/>
              <a:t>Tecnologia da Informação / Computação</a:t>
            </a:r>
            <a:endParaRPr lang="pt-BR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Engenharia de Software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Ciência da Computação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Ciência de Dados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Gestão da Tecnologia da Informação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DF4622B3-A553-7863-6C40-62406D6EDE89}"/>
              </a:ext>
            </a:extLst>
          </p:cNvPr>
          <p:cNvSpPr txBox="1"/>
          <p:nvPr/>
        </p:nvSpPr>
        <p:spPr>
          <a:xfrm>
            <a:off x="6270183" y="2032042"/>
            <a:ext cx="6093372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600" b="1" dirty="0"/>
              <a:t>Engenharias / Automação</a:t>
            </a:r>
            <a:endParaRPr lang="pt-BR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Mecatrônica Industrial</a:t>
            </a:r>
          </a:p>
          <a:p>
            <a:pPr>
              <a:buNone/>
            </a:pPr>
            <a:r>
              <a:rPr lang="pt-BR" sz="1600" b="1" dirty="0"/>
              <a:t>Ciências Exatas e Naturais</a:t>
            </a:r>
            <a:endParaRPr lang="pt-BR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Física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Química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Matemática</a:t>
            </a:r>
          </a:p>
          <a:p>
            <a:pPr>
              <a:buNone/>
            </a:pPr>
            <a:r>
              <a:rPr lang="pt-BR" sz="1600" b="1" dirty="0"/>
              <a:t>Saúde / Qualidade de Vida</a:t>
            </a:r>
            <a:endParaRPr lang="pt-BR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Nutrição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Biomedicina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Educação Física</a:t>
            </a:r>
          </a:p>
          <a:p>
            <a:pPr>
              <a:buNone/>
            </a:pPr>
            <a:r>
              <a:rPr lang="pt-BR" sz="1600" b="1" dirty="0"/>
              <a:t>Humanidades / Linguagens</a:t>
            </a:r>
            <a:endParaRPr lang="pt-BR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Filosofia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Letras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1AE22F43-B94F-5E16-9060-AD54F1B18C25}"/>
              </a:ext>
            </a:extLst>
          </p:cNvPr>
          <p:cNvSpPr txBox="1"/>
          <p:nvPr/>
        </p:nvSpPr>
        <p:spPr>
          <a:xfrm>
            <a:off x="6270183" y="5164719"/>
            <a:ext cx="609337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600" b="1" dirty="0"/>
              <a:t>Comunicação / Marketing / Mídia</a:t>
            </a:r>
            <a:endParaRPr lang="pt-BR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Comunicação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Publicidade e Propaganda</a:t>
            </a:r>
          </a:p>
        </p:txBody>
      </p:sp>
    </p:spTree>
    <p:extLst>
      <p:ext uri="{BB962C8B-B14F-4D97-AF65-F5344CB8AC3E}">
        <p14:creationId xmlns:p14="http://schemas.microsoft.com/office/powerpoint/2010/main" val="2043521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F8B5E-4B68-EB73-B710-E962644C9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07BE12-F289-ED09-2B3F-C43EB32CDBDE}"/>
              </a:ext>
            </a:extLst>
          </p:cNvPr>
          <p:cNvSpPr txBox="1">
            <a:spLocks/>
          </p:cNvSpPr>
          <p:nvPr/>
        </p:nvSpPr>
        <p:spPr>
          <a:xfrm>
            <a:off x="1164472" y="1993905"/>
            <a:ext cx="4248150" cy="551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Pós-graduação:</a:t>
            </a: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indent="0" algn="just">
              <a:buFont typeface="Arial" panose="020B0604020202020204" pitchFamily="34" charset="0"/>
              <a:buNone/>
            </a:pPr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dirty="0"/>
          </a:p>
        </p:txBody>
      </p:sp>
      <p:sp>
        <p:nvSpPr>
          <p:cNvPr id="5" name="Chave Esquerda 4">
            <a:extLst>
              <a:ext uri="{FF2B5EF4-FFF2-40B4-BE49-F238E27FC236}">
                <a16:creationId xmlns:a16="http://schemas.microsoft.com/office/drawing/2014/main" id="{7763E6D4-AECF-AA37-24C6-397EA03C0951}"/>
              </a:ext>
            </a:extLst>
          </p:cNvPr>
          <p:cNvSpPr/>
          <p:nvPr/>
        </p:nvSpPr>
        <p:spPr>
          <a:xfrm>
            <a:off x="3778141" y="883139"/>
            <a:ext cx="2303942" cy="474799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A007921-010F-7D65-9020-F3B7CDAD48B7}"/>
              </a:ext>
            </a:extLst>
          </p:cNvPr>
          <p:cNvSpPr txBox="1"/>
          <p:nvPr/>
        </p:nvSpPr>
        <p:spPr>
          <a:xfrm>
            <a:off x="5135802" y="982937"/>
            <a:ext cx="6093372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pt-BR" sz="1600" b="1" dirty="0"/>
              <a:t>🎓 Doutorado: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UnB – Doutorando em Informática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UNR – Doutorado em Comunicação</a:t>
            </a:r>
          </a:p>
          <a:p>
            <a:pPr>
              <a:buNone/>
            </a:pPr>
            <a:endParaRPr lang="pt-BR" sz="1600" b="1" dirty="0"/>
          </a:p>
          <a:p>
            <a:pPr>
              <a:buNone/>
            </a:pPr>
            <a:r>
              <a:rPr lang="pt-BR" sz="1600" b="1" dirty="0"/>
              <a:t>🎓 Mestrado: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UnB – Mestrado em Informática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UCB – Mestrado em Comunicação</a:t>
            </a:r>
          </a:p>
          <a:p>
            <a:pPr>
              <a:buNone/>
            </a:pPr>
            <a:endParaRPr lang="pt-BR" sz="1600" b="1" dirty="0"/>
          </a:p>
          <a:p>
            <a:pPr>
              <a:buNone/>
            </a:pPr>
            <a:r>
              <a:rPr lang="pt-BR" sz="1600" b="1" dirty="0"/>
              <a:t>🎓 MBA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MBA em Engenharia de Software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MBA em Gestão de Projetos</a:t>
            </a:r>
          </a:p>
          <a:p>
            <a:pPr>
              <a:buFont typeface="Arial" panose="020B0604020202020204" pitchFamily="34" charset="0"/>
              <a:buChar char="•"/>
            </a:pPr>
            <a:endParaRPr lang="pt-BR" sz="1600" dirty="0"/>
          </a:p>
          <a:p>
            <a:pPr>
              <a:buNone/>
            </a:pPr>
            <a:r>
              <a:rPr lang="pt-BR" sz="1600" b="1" dirty="0"/>
              <a:t>🎓 Pós-graduação / Especialização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Especialização em Tecnologia da Informação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Especialização em Cloud </a:t>
            </a:r>
            <a:r>
              <a:rPr lang="pt-BR" sz="1600" dirty="0" err="1"/>
              <a:t>Computing</a:t>
            </a:r>
            <a:endParaRPr lang="pt-BR" sz="16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Especialização em Gestão Estratégica da Comunicação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600" dirty="0"/>
              <a:t>Especialização em Gestão de Brand</a:t>
            </a:r>
          </a:p>
        </p:txBody>
      </p:sp>
    </p:spTree>
    <p:extLst>
      <p:ext uri="{BB962C8B-B14F-4D97-AF65-F5344CB8AC3E}">
        <p14:creationId xmlns:p14="http://schemas.microsoft.com/office/powerpoint/2010/main" val="3611362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82788-0FC3-E254-B2A7-06177B91B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00D071-191C-C30E-6E58-14B514060C4B}"/>
              </a:ext>
            </a:extLst>
          </p:cNvPr>
          <p:cNvSpPr txBox="1">
            <a:spLocks/>
          </p:cNvSpPr>
          <p:nvPr/>
        </p:nvSpPr>
        <p:spPr>
          <a:xfrm>
            <a:off x="896458" y="2719117"/>
            <a:ext cx="4248150" cy="24307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Áreas de</a:t>
            </a:r>
          </a:p>
          <a:p>
            <a:pPr algn="just"/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Linhas de pesquisa:</a:t>
            </a: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indent="0" algn="just">
              <a:buFont typeface="Arial" panose="020B0604020202020204" pitchFamily="34" charset="0"/>
              <a:buNone/>
            </a:pPr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dirty="0"/>
          </a:p>
        </p:txBody>
      </p:sp>
      <p:sp>
        <p:nvSpPr>
          <p:cNvPr id="5" name="Chave Esquerda 4">
            <a:extLst>
              <a:ext uri="{FF2B5EF4-FFF2-40B4-BE49-F238E27FC236}">
                <a16:creationId xmlns:a16="http://schemas.microsoft.com/office/drawing/2014/main" id="{8F8923EB-A285-E7BD-A827-4923813348E7}"/>
              </a:ext>
            </a:extLst>
          </p:cNvPr>
          <p:cNvSpPr/>
          <p:nvPr/>
        </p:nvSpPr>
        <p:spPr>
          <a:xfrm>
            <a:off x="3510127" y="1608352"/>
            <a:ext cx="2303942" cy="255454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F5CA5C0-994D-AD87-304C-A1A4E39D6C1A}"/>
              </a:ext>
            </a:extLst>
          </p:cNvPr>
          <p:cNvSpPr txBox="1"/>
          <p:nvPr/>
        </p:nvSpPr>
        <p:spPr>
          <a:xfrm>
            <a:off x="4867788" y="1708150"/>
            <a:ext cx="6093372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Inteligência Artificial e documentação de software;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Manutenção de Software;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Bioinformática (Genética e </a:t>
            </a:r>
            <a:r>
              <a:rPr lang="pt-BR" sz="1600" dirty="0" err="1"/>
              <a:t>Algorítmos</a:t>
            </a:r>
            <a:r>
              <a:rPr lang="pt-BR" sz="1600" dirty="0"/>
              <a:t>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Estudos da </a:t>
            </a:r>
            <a:r>
              <a:rPr lang="pt-BR" sz="1600" dirty="0" err="1"/>
              <a:t>EtnoMatemática</a:t>
            </a:r>
            <a:r>
              <a:rPr lang="pt-BR" sz="1600" dirty="0"/>
              <a:t> e </a:t>
            </a:r>
            <a:r>
              <a:rPr lang="pt-BR" sz="1600" dirty="0" err="1"/>
              <a:t>LLMs</a:t>
            </a:r>
            <a:r>
              <a:rPr lang="pt-BR" sz="1600" dirty="0"/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Padrões genéticos e Machine Learning;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Física Computacional;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Química Computacional;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Padrões filosóficos e culturais – </a:t>
            </a:r>
            <a:r>
              <a:rPr lang="pt-BR" sz="1600" dirty="0" err="1"/>
              <a:t>Crosscultural</a:t>
            </a:r>
            <a:r>
              <a:rPr lang="pt-BR" sz="1600" dirty="0"/>
              <a:t>/Pensamento Computacional.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39728672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99DA14-E61E-2FF9-12F4-102172748F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3DA0A96-57BF-75BE-FE57-F0806C0C792F}"/>
              </a:ext>
            </a:extLst>
          </p:cNvPr>
          <p:cNvSpPr txBox="1">
            <a:spLocks/>
          </p:cNvSpPr>
          <p:nvPr/>
        </p:nvSpPr>
        <p:spPr>
          <a:xfrm>
            <a:off x="896458" y="2719117"/>
            <a:ext cx="4248150" cy="24307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Grupo de Pesquisa</a:t>
            </a:r>
          </a:p>
          <a:p>
            <a:pPr algn="just"/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UFPE/UnB:</a:t>
            </a: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indent="0" algn="just">
              <a:buFont typeface="Arial" panose="020B0604020202020204" pitchFamily="34" charset="0"/>
              <a:buNone/>
            </a:pPr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dirty="0"/>
          </a:p>
        </p:txBody>
      </p:sp>
      <p:sp>
        <p:nvSpPr>
          <p:cNvPr id="5" name="Chave Esquerda 4">
            <a:extLst>
              <a:ext uri="{FF2B5EF4-FFF2-40B4-BE49-F238E27FC236}">
                <a16:creationId xmlns:a16="http://schemas.microsoft.com/office/drawing/2014/main" id="{824D089D-D3F7-7D84-0FCB-9A5DAA62091A}"/>
              </a:ext>
            </a:extLst>
          </p:cNvPr>
          <p:cNvSpPr/>
          <p:nvPr/>
        </p:nvSpPr>
        <p:spPr>
          <a:xfrm>
            <a:off x="3992637" y="1768278"/>
            <a:ext cx="2303942" cy="255454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975C023-1615-46B6-AE81-EF4558325590}"/>
              </a:ext>
            </a:extLst>
          </p:cNvPr>
          <p:cNvSpPr txBox="1"/>
          <p:nvPr/>
        </p:nvSpPr>
        <p:spPr>
          <a:xfrm>
            <a:off x="5339448" y="2897188"/>
            <a:ext cx="60933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Inteligência Artificial e </a:t>
            </a:r>
            <a:r>
              <a:rPr lang="pt-BR" sz="1600" dirty="0" err="1"/>
              <a:t>Source</a:t>
            </a:r>
            <a:r>
              <a:rPr lang="pt-BR" sz="1600" dirty="0"/>
              <a:t> </a:t>
            </a:r>
            <a:r>
              <a:rPr lang="pt-BR" sz="1600" dirty="0" err="1"/>
              <a:t>Code</a:t>
            </a:r>
            <a:r>
              <a:rPr lang="pt-BR" sz="1600" dirty="0"/>
              <a:t> </a:t>
            </a:r>
            <a:r>
              <a:rPr lang="pt-BR" sz="1600" dirty="0" err="1"/>
              <a:t>Summarization</a:t>
            </a:r>
            <a:endParaRPr lang="pt-B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949267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89A48-A391-24D3-6572-131E4566C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907DE90-026D-1D63-018A-7E9903538FEF}"/>
              </a:ext>
            </a:extLst>
          </p:cNvPr>
          <p:cNvSpPr txBox="1">
            <a:spLocks/>
          </p:cNvSpPr>
          <p:nvPr/>
        </p:nvSpPr>
        <p:spPr>
          <a:xfrm>
            <a:off x="896458" y="2719117"/>
            <a:ext cx="4248150" cy="24307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Outras informações:</a:t>
            </a: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indent="0" algn="just">
              <a:buFont typeface="Arial" panose="020B0604020202020204" pitchFamily="34" charset="0"/>
              <a:buNone/>
            </a:pPr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pt-BR" dirty="0"/>
          </a:p>
        </p:txBody>
      </p:sp>
      <p:sp>
        <p:nvSpPr>
          <p:cNvPr id="5" name="Chave Esquerda 4">
            <a:extLst>
              <a:ext uri="{FF2B5EF4-FFF2-40B4-BE49-F238E27FC236}">
                <a16:creationId xmlns:a16="http://schemas.microsoft.com/office/drawing/2014/main" id="{60CAEE5A-4C71-EADC-00E8-C77E975C0C54}"/>
              </a:ext>
            </a:extLst>
          </p:cNvPr>
          <p:cNvSpPr/>
          <p:nvPr/>
        </p:nvSpPr>
        <p:spPr>
          <a:xfrm>
            <a:off x="4187477" y="1708150"/>
            <a:ext cx="2303942" cy="2554545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022B3FE-C305-4EAD-BC71-F283A40A5E2B}"/>
              </a:ext>
            </a:extLst>
          </p:cNvPr>
          <p:cNvSpPr txBox="1"/>
          <p:nvPr/>
        </p:nvSpPr>
        <p:spPr>
          <a:xfrm>
            <a:off x="5339448" y="2260720"/>
            <a:ext cx="6093372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🥋⬛Faixa Preta em Jiu-Jitsu;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🥋⬛Faixa Preta em </a:t>
            </a:r>
            <a:r>
              <a:rPr lang="pt-BR" sz="1600" dirty="0" err="1"/>
              <a:t>Ju-Jitsu</a:t>
            </a:r>
            <a:r>
              <a:rPr lang="pt-BR" sz="1600" dirty="0"/>
              <a:t> tradicional (</a:t>
            </a:r>
            <a:r>
              <a:rPr lang="pt-BR" sz="1600" dirty="0" err="1"/>
              <a:t>Kobudo</a:t>
            </a:r>
            <a:r>
              <a:rPr lang="pt-BR" sz="1600" dirty="0"/>
              <a:t>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🎵🎶Arranha uns 3 instrumentos musicais;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🌍🗣️Fala 3 idiomas;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sz="1600" dirty="0"/>
              <a:t>🧩♾️TEA AH/SD.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18550032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1A43EB-C005-470D-C566-6ABD66658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DD3B546-A080-B8B4-89AF-BB369B8C2A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pt-BR" sz="3600" b="1" dirty="0"/>
              <a:t>Informação do Professor: </a:t>
            </a:r>
            <a:endParaRPr lang="pt-BR" sz="3600" dirty="0"/>
          </a:p>
        </p:txBody>
      </p:sp>
      <p:sp>
        <p:nvSpPr>
          <p:cNvPr id="4" name="Espaço Reservado para Conteúdo 2">
            <a:extLst>
              <a:ext uri="{FF2B5EF4-FFF2-40B4-BE49-F238E27FC236}">
                <a16:creationId xmlns:a16="http://schemas.microsoft.com/office/drawing/2014/main" id="{8F456208-F6C6-7D44-020C-1DAF4797835C}"/>
              </a:ext>
            </a:extLst>
          </p:cNvPr>
          <p:cNvSpPr txBox="1">
            <a:spLocks/>
          </p:cNvSpPr>
          <p:nvPr/>
        </p:nvSpPr>
        <p:spPr>
          <a:xfrm>
            <a:off x="859907" y="1899959"/>
            <a:ext cx="9150867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>
            <a:lvl1pPr marL="0" indent="0" algn="l" defTabSz="914400">
              <a:lnSpc>
                <a:spcPct val="90000"/>
              </a:lnSpc>
              <a:spcBef>
                <a:spcPts val="1000"/>
              </a:spcBef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572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9144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3716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8288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22860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6pPr>
            <a:lvl7pPr marL="27432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7pPr>
            <a:lvl8pPr marL="32004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8pPr>
            <a:lvl9pPr marL="3657600" indent="0" algn="l" defTabSz="914400">
              <a:lnSpc>
                <a:spcPct val="90000"/>
              </a:lnSpc>
              <a:spcBef>
                <a:spcPts val="500"/>
              </a:spcBef>
              <a:buFont typeface="Arial"/>
              <a:buNone/>
              <a:defRPr sz="16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9pPr>
          </a:lstStyle>
          <a:p>
            <a:pPr algn="just"/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Lattes: </a:t>
            </a:r>
            <a:r>
              <a:rPr lang="pt-BR" dirty="0">
                <a:latin typeface="-apple-system"/>
              </a:rPr>
              <a:t>https://lattes.cnpq.br/6892771602850311</a:t>
            </a: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latinLnBrk="1"/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Página </a:t>
            </a:r>
            <a:r>
              <a:rPr lang="pt-BR" dirty="0" err="1">
                <a:latin typeface="Calibri" panose="020F0502020204030204" pitchFamily="34" charset="0"/>
                <a:ea typeface="Calibri" panose="020F0502020204030204" pitchFamily="34" charset="0"/>
              </a:rPr>
              <a:t>Git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: </a:t>
            </a:r>
            <a:r>
              <a:rPr lang="pt-BR" b="1" dirty="0">
                <a:hlinkClick r:id="rId3"/>
              </a:rPr>
              <a:t>murilloed.github.io</a:t>
            </a:r>
            <a:r>
              <a:rPr lang="pt-BR" b="1" dirty="0"/>
              <a:t> </a:t>
            </a: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WhatsApp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  <a:sym typeface="Wingdings" panose="05000000000000000000" pitchFamily="2" charset="2"/>
              </a:rPr>
              <a:t>: (</a:t>
            </a:r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61)-999164353</a:t>
            </a:r>
          </a:p>
          <a:p>
            <a:pPr algn="just"/>
            <a:endParaRPr lang="pt-BR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/>
            <a:r>
              <a:rPr lang="pt-BR" dirty="0">
                <a:latin typeface="Calibri" panose="020F0502020204030204" pitchFamily="34" charset="0"/>
                <a:ea typeface="Calibri" panose="020F0502020204030204" pitchFamily="34" charset="0"/>
              </a:rPr>
              <a:t> Email: murillo.souza@iesb.br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49072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668DD-F9EA-944B-8752-BDBCD13F0D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B41A913F-DDDC-B039-ECA7-F51E96719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 INTUIÇÃO À FORMALIZAÇÃO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8A486616-5922-EDF8-E600-390915B65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Como </a:t>
            </a:r>
            <a:r>
              <a:rPr dirty="0" err="1"/>
              <a:t>descrever</a:t>
            </a:r>
            <a:r>
              <a:rPr dirty="0"/>
              <a:t>, com </a:t>
            </a:r>
            <a:r>
              <a:rPr dirty="0" err="1"/>
              <a:t>precisão</a:t>
            </a:r>
            <a:r>
              <a:rPr dirty="0"/>
              <a:t>, conjuntos de </a:t>
            </a:r>
            <a:r>
              <a:rPr dirty="0" err="1"/>
              <a:t>palavras</a:t>
            </a:r>
            <a:r>
              <a:rPr dirty="0"/>
              <a:t> e </a:t>
            </a:r>
            <a:r>
              <a:rPr dirty="0" err="1"/>
              <a:t>regras</a:t>
            </a:r>
            <a:r>
              <a:rPr dirty="0"/>
              <a:t> de </a:t>
            </a:r>
            <a:r>
              <a:rPr dirty="0" err="1"/>
              <a:t>formação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997265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3CC57-1877-0132-0AF8-2FE539CC3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6DA4D0FE-881C-5F3B-7489-A11494296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DA INTUIÇÃO À FORMALIZAÇÃO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47FE041-0706-CBBA-F4D3-3F897F35CF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Como </a:t>
            </a:r>
            <a:r>
              <a:rPr dirty="0" err="1"/>
              <a:t>descrever</a:t>
            </a:r>
            <a:r>
              <a:rPr dirty="0"/>
              <a:t>, com </a:t>
            </a:r>
            <a:r>
              <a:rPr dirty="0" err="1"/>
              <a:t>precisão</a:t>
            </a:r>
            <a:r>
              <a:rPr dirty="0"/>
              <a:t>, conjuntos de </a:t>
            </a:r>
            <a:r>
              <a:rPr dirty="0" err="1"/>
              <a:t>palavras</a:t>
            </a:r>
            <a:r>
              <a:rPr dirty="0"/>
              <a:t> e </a:t>
            </a:r>
            <a:r>
              <a:rPr dirty="0" err="1"/>
              <a:t>regras</a:t>
            </a:r>
            <a:r>
              <a:rPr dirty="0"/>
              <a:t> de </a:t>
            </a:r>
            <a:r>
              <a:rPr dirty="0" err="1"/>
              <a:t>formação</a:t>
            </a:r>
            <a:r>
              <a:rPr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259364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CB00D9-1AE3-D260-EF6F-56D329965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Por que estudar linguagens formais?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3FF91B0-B5DC-458A-642E-7D35529EF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t>Especificar padrões sem ambiguidade</a:t>
            </a:r>
          </a:p>
          <a:p>
            <a:r>
              <a:t>Compreender compiladores e validadores</a:t>
            </a:r>
          </a:p>
          <a:p>
            <a:r>
              <a:t>Modelar entradas aceitas por sistemas</a:t>
            </a:r>
          </a:p>
          <a:p>
            <a:r>
              <a:t>Desenvolver raciocínio lógico e algorítmico</a:t>
            </a:r>
          </a:p>
        </p:txBody>
      </p:sp>
    </p:spTree>
    <p:extLst>
      <p:ext uri="{BB962C8B-B14F-4D97-AF65-F5344CB8AC3E}">
        <p14:creationId xmlns:p14="http://schemas.microsoft.com/office/powerpoint/2010/main" val="3310152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0CF012-B9B8-2A31-148F-26EB5CDF4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t>Símbolos formam palavras; palavras formam linguagens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F791C41-4357-FD22-DE98-24F640698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r>
              <a:t>Alfabeto Σ: conjunto finito de símbolos</a:t>
            </a:r>
          </a:p>
          <a:p>
            <a:r>
              <a:t>Palavra: sequência finita sobre Σ</a:t>
            </a:r>
          </a:p>
          <a:p>
            <a:r>
              <a:t>ε: palavra vazia, de comprimento zero</a:t>
            </a:r>
          </a:p>
          <a:p>
            <a:r>
              <a:t>Linguagem: conjunto de palavras</a:t>
            </a:r>
          </a:p>
        </p:txBody>
      </p:sp>
      <p:pic>
        <p:nvPicPr>
          <p:cNvPr id="22" name="Imagem 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587331" y="1825625"/>
            <a:ext cx="4351338" cy="4351338"/>
          </a:xfrm>
          <a:prstGeom prst="rect">
            <a:avLst/>
          </a:prstGeom>
        </p:spPr>
      </p:pic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74C2662F-4204-417F-B190-D888B1FA3A20}"/>
              </a:ext>
            </a:extLst>
          </p:cNvPr>
          <p:cNvSpPr>
            <a:spLocks noGrp="1"/>
          </p:cNvSpPr>
          <p:nvPr/>
        </p:nvSpPr>
        <p:spPr>
          <a:xfrm>
            <a:off x="7829550" y="3571875"/>
            <a:ext cx="266700" cy="266700"/>
          </a:xfrm>
          <a:prstGeom prst="rightArrow">
            <a:avLst/>
          </a:prstGeom>
          <a:solidFill>
            <a:srgbClr val="D63C3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eta: para a Direita 12">
            <a:extLst>
              <a:ext uri="{FF2B5EF4-FFF2-40B4-BE49-F238E27FC236}">
                <a16:creationId xmlns:a16="http://schemas.microsoft.com/office/drawing/2014/main" id="{3C4AB28C-D1C9-46AE-B728-40503BED2C6B}"/>
              </a:ext>
            </a:extLst>
          </p:cNvPr>
          <p:cNvSpPr>
            <a:spLocks noGrp="1"/>
          </p:cNvSpPr>
          <p:nvPr/>
        </p:nvSpPr>
        <p:spPr>
          <a:xfrm>
            <a:off x="9239250" y="3571875"/>
            <a:ext cx="266700" cy="266700"/>
          </a:xfrm>
          <a:prstGeom prst="rightArrow">
            <a:avLst/>
          </a:prstGeom>
          <a:solidFill>
            <a:srgbClr val="D63C3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92940D29-ECCC-4120-BF1C-92D94A7F6D75}"/>
              </a:ext>
            </a:extLst>
          </p:cNvPr>
          <p:cNvSpPr>
            <a:spLocks noGrp="1"/>
          </p:cNvSpPr>
          <p:nvPr/>
        </p:nvSpPr>
        <p:spPr>
          <a:xfrm>
            <a:off x="6734175" y="3286125"/>
            <a:ext cx="1047750" cy="857250"/>
          </a:xfrm>
          <a:prstGeom prst="roundRect">
            <a:avLst>
              <a:gd name="adj" fmla="val 8889"/>
            </a:avLst>
          </a:prstGeom>
          <a:solidFill>
            <a:srgbClr val="F5F5F5"/>
          </a:solidFill>
          <a:ln w="9525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6EB2821C-F142-4F4F-8735-1E5078ED5336}"/>
              </a:ext>
            </a:extLst>
          </p:cNvPr>
          <p:cNvSpPr>
            <a:spLocks noGrp="1"/>
          </p:cNvSpPr>
          <p:nvPr/>
        </p:nvSpPr>
        <p:spPr>
          <a:xfrm>
            <a:off x="6772275" y="3371850"/>
            <a:ext cx="9715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defRPr>
            </a:pPr>
            <a:r>
              <a: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rPr>
              <a:t>Σ = {0,1}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4255BD2E-FCA9-41BE-9B94-1C31275D5CBA}"/>
              </a:ext>
            </a:extLst>
          </p:cNvPr>
          <p:cNvSpPr>
            <a:spLocks noGrp="1"/>
          </p:cNvSpPr>
          <p:nvPr/>
        </p:nvSpPr>
        <p:spPr>
          <a:xfrm>
            <a:off x="8143875" y="3286125"/>
            <a:ext cx="1047750" cy="857250"/>
          </a:xfrm>
          <a:prstGeom prst="roundRect">
            <a:avLst>
              <a:gd name="adj" fmla="val 8889"/>
            </a:avLst>
          </a:prstGeom>
          <a:solidFill>
            <a:srgbClr val="F5F5F5"/>
          </a:solidFill>
          <a:ln w="9525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4F794722-59AC-461E-ABE2-65B5053F3615}"/>
              </a:ext>
            </a:extLst>
          </p:cNvPr>
          <p:cNvSpPr>
            <a:spLocks noGrp="1"/>
          </p:cNvSpPr>
          <p:nvPr/>
        </p:nvSpPr>
        <p:spPr>
          <a:xfrm>
            <a:off x="8181975" y="3371850"/>
            <a:ext cx="9715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defRPr>
            </a:pPr>
            <a:r>
              <a: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rPr>
              <a:t>0101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3D268FEB-0697-47CC-B89B-39A783133CA2}"/>
              </a:ext>
            </a:extLst>
          </p:cNvPr>
          <p:cNvSpPr>
            <a:spLocks noGrp="1"/>
          </p:cNvSpPr>
          <p:nvPr/>
        </p:nvSpPr>
        <p:spPr>
          <a:xfrm>
            <a:off x="9553575" y="3286125"/>
            <a:ext cx="1047750" cy="857250"/>
          </a:xfrm>
          <a:prstGeom prst="roundRect">
            <a:avLst>
              <a:gd name="adj" fmla="val 8889"/>
            </a:avLst>
          </a:prstGeom>
          <a:solidFill>
            <a:srgbClr val="D63C3C"/>
          </a:solidFill>
          <a:ln w="9525">
            <a:solidFill>
              <a:srgbClr val="D63C3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36EB4D9C-9D1F-404E-BB0C-0B7BBA19009C}"/>
              </a:ext>
            </a:extLst>
          </p:cNvPr>
          <p:cNvSpPr>
            <a:spLocks noGrp="1"/>
          </p:cNvSpPr>
          <p:nvPr/>
        </p:nvSpPr>
        <p:spPr>
          <a:xfrm>
            <a:off x="9591675" y="3371850"/>
            <a:ext cx="9715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125" b="1">
                <a:solidFill>
                  <a:srgbClr val="FFFFFF"/>
                </a:solidFill>
                <a:latin typeface="Calibri Light"/>
                <a:ea typeface="Calibri Light"/>
                <a:cs typeface="Calibri Light"/>
              </a:defRPr>
            </a:pPr>
            <a:r>
              <a:rPr sz="1125" b="1">
                <a:solidFill>
                  <a:srgbClr val="FFFFFF"/>
                </a:solidFill>
                <a:latin typeface="Calibri Light"/>
                <a:ea typeface="Calibri Light"/>
                <a:cs typeface="Calibri Light"/>
              </a:rPr>
              <a:t>L ⊆ Σ*</a:t>
            </a:r>
          </a:p>
        </p:txBody>
      </p:sp>
    </p:spTree>
    <p:extLst>
      <p:ext uri="{BB962C8B-B14F-4D97-AF65-F5344CB8AC3E}">
        <p14:creationId xmlns:p14="http://schemas.microsoft.com/office/powerpoint/2010/main" val="4638541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CB00D9-1AE3-D260-EF6F-56D329965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Conjuntos fundamentais de palavras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3FF91B0-B5DC-458A-642E-7D35529EF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t>Σ⁰ = {ε}</a:t>
            </a:r>
          </a:p>
          <a:p>
            <a:r>
              <a:t>Σ¹ = Σ</a:t>
            </a:r>
          </a:p>
          <a:p>
            <a:r>
              <a:t>Σ² contém palavras de comprimento 2</a:t>
            </a:r>
          </a:p>
          <a:p>
            <a:r>
              <a:t>Σ* reúne todas as palavras finitas</a:t>
            </a:r>
          </a:p>
          <a:p>
            <a:r>
              <a:t>Σ⁺ = Σ* − {ε}</a:t>
            </a:r>
          </a:p>
        </p:txBody>
      </p:sp>
    </p:spTree>
    <p:extLst>
      <p:ext uri="{BB962C8B-B14F-4D97-AF65-F5344CB8AC3E}">
        <p14:creationId xmlns:p14="http://schemas.microsoft.com/office/powerpoint/2010/main" val="33101528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2C9579-1061-567F-47A6-EFCE26393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Palavra vazia não é conjunto vazio</a:t>
            </a:r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id="{4F234831-4A4D-0707-F1B7-20AB09BD4A91}"/>
              </a:ext>
            </a:extLst>
          </p:cNvPr>
          <p:cNvSpPr>
            <a:spLocks noGrp="1"/>
          </p:cNvSpPr>
          <p:nvPr/>
        </p:nvSpPr>
        <p:spPr>
          <a:xfrm>
            <a:off x="2546350" y="3864142"/>
            <a:ext cx="3549650" cy="915988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algn="l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1pPr>
            <a:lvl2pPr marL="742950" indent="-285750" algn="l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2pPr>
            <a:lvl3pPr marL="1143000" indent="-228600" algn="l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3pPr>
            <a:lvl4pPr marL="1600200" indent="-228600" algn="l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4pPr>
            <a:lvl5pPr marL="2057400" indent="-228600" algn="l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5pPr>
            <a:lvl6pPr marL="2514600" indent="-228600" algn="l" defTabSz="914400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6pPr>
            <a:lvl7pPr marL="2971800" indent="-228600" algn="l" defTabSz="914400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7pPr>
            <a:lvl8pPr marL="3429000" indent="-228600" algn="l" defTabSz="914400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8pPr>
            <a:lvl9pPr marL="3886200" indent="-228600" algn="l" defTabSz="914400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9pPr>
          </a:lstStyle>
          <a:p>
            <a:pPr>
              <a:spcBef>
                <a:spcPct val="50000"/>
              </a:spcBef>
              <a:buNone/>
            </a:pPr>
            <a:r>
              <a:rPr b="1" u="sng">
                <a:latin typeface="Arial"/>
                <a:ea typeface="Arial"/>
                <a:cs typeface="Arial"/>
              </a:rPr>
              <a:t>ε</a:t>
            </a:r>
          </a:p>
          <a:p>
            <a:pPr>
              <a:spcBef>
                <a:spcPct val="50000"/>
              </a:spcBef>
              <a:buNone/>
            </a:pPr>
            <a:r>
              <a:rPr b="1" u="sng">
                <a:latin typeface="Arial"/>
                <a:ea typeface="Arial"/>
                <a:cs typeface="Arial"/>
              </a:rPr>
              <a:t>Palavra com zero símbolos</a:t>
            </a:r>
          </a:p>
        </p:txBody>
      </p:sp>
      <p:sp>
        <p:nvSpPr>
          <p:cNvPr id="5" name="Text Box 6">
            <a:extLst>
              <a:ext uri="{FF2B5EF4-FFF2-40B4-BE49-F238E27FC236}">
                <a16:creationId xmlns:a16="http://schemas.microsoft.com/office/drawing/2014/main" id="{5422EF6D-DEE6-BC6E-4540-17E3B470D6E3}"/>
              </a:ext>
            </a:extLst>
          </p:cNvPr>
          <p:cNvSpPr>
            <a:spLocks noGrp="1"/>
          </p:cNvSpPr>
          <p:nvPr/>
        </p:nvSpPr>
        <p:spPr>
          <a:xfrm>
            <a:off x="6434138" y="3791117"/>
            <a:ext cx="4127500" cy="1190625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algn="l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1pPr>
            <a:lvl2pPr marL="742950" indent="-285750" algn="l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2pPr>
            <a:lvl3pPr marL="1143000" indent="-228600" algn="l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3pPr>
            <a:lvl4pPr marL="1600200" indent="-228600" algn="l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4pPr>
            <a:lvl5pPr marL="2057400" indent="-228600" algn="l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5pPr>
            <a:lvl6pPr marL="2514600" indent="-228600" algn="l" defTabSz="914400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6pPr>
            <a:lvl7pPr marL="2971800" indent="-228600" algn="l" defTabSz="914400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7pPr>
            <a:lvl8pPr marL="3429000" indent="-228600" algn="l" defTabSz="914400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8pPr>
            <a:lvl9pPr marL="3886200" indent="-228600" algn="l" defTabSz="914400">
              <a:spcBef>
                <a:spcPct val="0"/>
              </a:spcBef>
              <a:spcAft>
                <a:spcPct val="0"/>
              </a:spcAft>
              <a:buNone/>
              <a:defRPr kern="1200">
                <a:solidFill>
                  <a:schemeClr val="tx1"/>
                </a:solidFill>
                <a:latin typeface="Verdana"/>
                <a:ea typeface="Verdana"/>
                <a:cs typeface="Verdana"/>
              </a:defRPr>
            </a:lvl9pPr>
          </a:lstStyle>
          <a:p>
            <a:pPr>
              <a:spcBef>
                <a:spcPct val="50000"/>
              </a:spcBef>
              <a:buNone/>
            </a:pPr>
            <a:r>
              <a:rPr b="1" u="sng">
                <a:latin typeface="Arial"/>
                <a:ea typeface="Arial"/>
                <a:cs typeface="Arial"/>
              </a:rPr>
              <a:t>∅</a:t>
            </a:r>
          </a:p>
          <a:p>
            <a:pPr>
              <a:spcBef>
                <a:spcPct val="50000"/>
              </a:spcBef>
              <a:buNone/>
            </a:pPr>
            <a:r>
              <a:rPr b="1" u="sng">
                <a:latin typeface="Arial"/>
                <a:ea typeface="Arial"/>
                <a:cs typeface="Arial"/>
              </a:rPr>
              <a:t>Conjunto que não contém palavras</a:t>
            </a:r>
          </a:p>
        </p:txBody>
      </p:sp>
      <p:pic>
        <p:nvPicPr>
          <p:cNvPr id="15" name="Imagem 5"/>
          <p:cNvPicPr>
            <a:picLocks noChangeAspect="1"/>
          </p:cNvPicPr>
          <p:nvPr/>
        </p:nvPicPr>
        <p:blipFill>
          <a:blip r:embed="rId3"/>
          <a:srcRect t="30017" b="30017"/>
          <a:stretch>
            <a:fillRect/>
          </a:stretch>
        </p:blipFill>
        <p:spPr>
          <a:xfrm>
            <a:off x="6794500" y="2532230"/>
            <a:ext cx="2808288" cy="1122362"/>
          </a:xfrm>
          <a:prstGeom prst="rect">
            <a:avLst/>
          </a:prstGeom>
          <a:ln>
            <a:noFill/>
          </a:ln>
        </p:spPr>
      </p:pic>
      <p:pic>
        <p:nvPicPr>
          <p:cNvPr id="16" name="Imagem 6"/>
          <p:cNvPicPr>
            <a:picLocks noChangeAspect="1"/>
          </p:cNvPicPr>
          <p:nvPr/>
        </p:nvPicPr>
        <p:blipFill>
          <a:blip r:embed="rId3"/>
          <a:srcRect t="29012" b="29012"/>
          <a:stretch>
            <a:fillRect/>
          </a:stretch>
        </p:blipFill>
        <p:spPr>
          <a:xfrm>
            <a:off x="2330450" y="2517942"/>
            <a:ext cx="2828925" cy="1187450"/>
          </a:xfrm>
          <a:prstGeom prst="rect">
            <a:avLst/>
          </a:prstGeom>
          <a:ln>
            <a:noFill/>
          </a:ln>
        </p:spPr>
      </p:pic>
      <p:sp>
        <p:nvSpPr>
          <p:cNvPr id="8" name="Elipse 7">
            <a:extLst>
              <a:ext uri="{FF2B5EF4-FFF2-40B4-BE49-F238E27FC236}">
                <a16:creationId xmlns:a16="http://schemas.microsoft.com/office/drawing/2014/main" id="{5AA1E848-EE3A-4C66-9A84-8E32C9B735C2}"/>
              </a:ext>
            </a:extLst>
          </p:cNvPr>
          <p:cNvSpPr>
            <a:spLocks noGrp="1"/>
          </p:cNvSpPr>
          <p:nvPr/>
        </p:nvSpPr>
        <p:spPr>
          <a:xfrm>
            <a:off x="3105150" y="2476500"/>
            <a:ext cx="1047750" cy="1047750"/>
          </a:xfrm>
          <a:prstGeom prst="ellipse">
            <a:avLst/>
          </a:prstGeom>
          <a:solidFill>
            <a:srgbClr val="F5F5F5"/>
          </a:solidFill>
          <a:ln w="19050">
            <a:solidFill>
              <a:srgbClr val="22222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12EBBF3C-E14C-40E5-87CE-B37B480D9AFF}"/>
              </a:ext>
            </a:extLst>
          </p:cNvPr>
          <p:cNvSpPr>
            <a:spLocks noGrp="1"/>
          </p:cNvSpPr>
          <p:nvPr/>
        </p:nvSpPr>
        <p:spPr>
          <a:xfrm>
            <a:off x="7572375" y="2476500"/>
            <a:ext cx="1047750" cy="1047750"/>
          </a:xfrm>
          <a:prstGeom prst="ellipse">
            <a:avLst/>
          </a:prstGeom>
          <a:solidFill>
            <a:srgbClr val="F4CCCC"/>
          </a:solidFill>
          <a:ln w="19050">
            <a:solidFill>
              <a:srgbClr val="D63C3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6D6B84E4-120D-4D3C-9DAE-95113EB43DD4}"/>
              </a:ext>
            </a:extLst>
          </p:cNvPr>
          <p:cNvSpPr>
            <a:spLocks noGrp="1"/>
          </p:cNvSpPr>
          <p:nvPr/>
        </p:nvSpPr>
        <p:spPr>
          <a:xfrm>
            <a:off x="3105150" y="2476500"/>
            <a:ext cx="104775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500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defRPr>
            </a:pPr>
            <a:r>
              <a:rPr sz="1500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rPr>
              <a:t>ε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88021B39-74E4-4773-AD40-BC76DED9037F}"/>
              </a:ext>
            </a:extLst>
          </p:cNvPr>
          <p:cNvSpPr>
            <a:spLocks noGrp="1"/>
          </p:cNvSpPr>
          <p:nvPr/>
        </p:nvSpPr>
        <p:spPr>
          <a:xfrm>
            <a:off x="7572375" y="2476500"/>
            <a:ext cx="1047750" cy="1047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500" b="1">
                <a:solidFill>
                  <a:srgbClr val="D63C3C"/>
                </a:solidFill>
                <a:latin typeface="Calibri Light"/>
                <a:ea typeface="Calibri Light"/>
                <a:cs typeface="Calibri Light"/>
              </a:defRPr>
            </a:pPr>
            <a:r>
              <a:rPr sz="1500" b="1">
                <a:solidFill>
                  <a:srgbClr val="D63C3C"/>
                </a:solidFill>
                <a:latin typeface="Calibri Light"/>
                <a:ea typeface="Calibri Light"/>
                <a:cs typeface="Calibri Light"/>
              </a:rPr>
              <a:t>∅</a:t>
            </a:r>
          </a:p>
        </p:txBody>
      </p:sp>
    </p:spTree>
    <p:extLst>
      <p:ext uri="{BB962C8B-B14F-4D97-AF65-F5344CB8AC3E}">
        <p14:creationId xmlns:p14="http://schemas.microsoft.com/office/powerpoint/2010/main" val="10936904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0CF012-B9B8-2A31-148F-26EB5CDF4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t>Operações constroem novas linguagens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F791C41-4357-FD22-DE98-24F640698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r>
              <a:t>União: L₁ ∪ L₂</a:t>
            </a:r>
          </a:p>
          <a:p>
            <a:r>
              <a:t>Concatenação: L₁L₂</a:t>
            </a:r>
          </a:p>
          <a:p>
            <a:r>
              <a:t>Fecho de Kleene: L*</a:t>
            </a:r>
          </a:p>
          <a:p>
            <a:r>
              <a:t>Interseção e diferença seguem operações de conjuntos</a:t>
            </a:r>
          </a:p>
        </p:txBody>
      </p:sp>
      <p:pic>
        <p:nvPicPr>
          <p:cNvPr id="22" name="Imagem 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587331" y="1825625"/>
            <a:ext cx="4351338" cy="4351338"/>
          </a:xfrm>
          <a:prstGeom prst="rect">
            <a:avLst/>
          </a:prstGeom>
        </p:spPr>
      </p:pic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C66754B3-7D49-4BCE-A468-1FF115631BB9}"/>
              </a:ext>
            </a:extLst>
          </p:cNvPr>
          <p:cNvSpPr>
            <a:spLocks noGrp="1"/>
          </p:cNvSpPr>
          <p:nvPr/>
        </p:nvSpPr>
        <p:spPr>
          <a:xfrm>
            <a:off x="7829550" y="3571875"/>
            <a:ext cx="266700" cy="266700"/>
          </a:xfrm>
          <a:prstGeom prst="rightArrow">
            <a:avLst/>
          </a:prstGeom>
          <a:solidFill>
            <a:srgbClr val="D63C3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eta: para a Direita 12">
            <a:extLst>
              <a:ext uri="{FF2B5EF4-FFF2-40B4-BE49-F238E27FC236}">
                <a16:creationId xmlns:a16="http://schemas.microsoft.com/office/drawing/2014/main" id="{A21999EF-34BD-4BA2-853A-EF145B110F98}"/>
              </a:ext>
            </a:extLst>
          </p:cNvPr>
          <p:cNvSpPr>
            <a:spLocks noGrp="1"/>
          </p:cNvSpPr>
          <p:nvPr/>
        </p:nvSpPr>
        <p:spPr>
          <a:xfrm>
            <a:off x="9239250" y="3571875"/>
            <a:ext cx="266700" cy="266700"/>
          </a:xfrm>
          <a:prstGeom prst="rightArrow">
            <a:avLst/>
          </a:prstGeom>
          <a:solidFill>
            <a:srgbClr val="D63C3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E4C7B2C2-DCC8-4797-A3BF-DC83B451A86F}"/>
              </a:ext>
            </a:extLst>
          </p:cNvPr>
          <p:cNvSpPr>
            <a:spLocks noGrp="1"/>
          </p:cNvSpPr>
          <p:nvPr/>
        </p:nvSpPr>
        <p:spPr>
          <a:xfrm>
            <a:off x="6734175" y="3286125"/>
            <a:ext cx="1047750" cy="857250"/>
          </a:xfrm>
          <a:prstGeom prst="roundRect">
            <a:avLst>
              <a:gd name="adj" fmla="val 8889"/>
            </a:avLst>
          </a:prstGeom>
          <a:solidFill>
            <a:srgbClr val="F5F5F5"/>
          </a:solidFill>
          <a:ln w="9525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09117016-76F3-4A9C-82A5-345882D25956}"/>
              </a:ext>
            </a:extLst>
          </p:cNvPr>
          <p:cNvSpPr>
            <a:spLocks noGrp="1"/>
          </p:cNvSpPr>
          <p:nvPr/>
        </p:nvSpPr>
        <p:spPr>
          <a:xfrm>
            <a:off x="6772275" y="3371850"/>
            <a:ext cx="9715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defRPr>
            </a:pPr>
            <a:r>
              <a: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rPr>
              <a:t>L₁</a:t>
            </a:r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62CF13C3-1000-42A9-B8EC-78F0AF7E7EB0}"/>
              </a:ext>
            </a:extLst>
          </p:cNvPr>
          <p:cNvSpPr>
            <a:spLocks noGrp="1"/>
          </p:cNvSpPr>
          <p:nvPr/>
        </p:nvSpPr>
        <p:spPr>
          <a:xfrm>
            <a:off x="8143875" y="3286125"/>
            <a:ext cx="1047750" cy="857250"/>
          </a:xfrm>
          <a:prstGeom prst="roundRect">
            <a:avLst>
              <a:gd name="adj" fmla="val 8889"/>
            </a:avLst>
          </a:prstGeom>
          <a:solidFill>
            <a:srgbClr val="F5F5F5"/>
          </a:solidFill>
          <a:ln w="9525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C39A62AC-844C-4749-9DE4-A1A7D5DF4F34}"/>
              </a:ext>
            </a:extLst>
          </p:cNvPr>
          <p:cNvSpPr>
            <a:spLocks noGrp="1"/>
          </p:cNvSpPr>
          <p:nvPr/>
        </p:nvSpPr>
        <p:spPr>
          <a:xfrm>
            <a:off x="8181975" y="3371850"/>
            <a:ext cx="9715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defRPr>
            </a:pPr>
            <a:r>
              <a: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rPr>
              <a:t>operação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516685C4-3A2B-45FF-B7F9-5165858F9E10}"/>
              </a:ext>
            </a:extLst>
          </p:cNvPr>
          <p:cNvSpPr>
            <a:spLocks noGrp="1"/>
          </p:cNvSpPr>
          <p:nvPr/>
        </p:nvSpPr>
        <p:spPr>
          <a:xfrm>
            <a:off x="9553575" y="3286125"/>
            <a:ext cx="1047750" cy="857250"/>
          </a:xfrm>
          <a:prstGeom prst="roundRect">
            <a:avLst>
              <a:gd name="adj" fmla="val 8889"/>
            </a:avLst>
          </a:prstGeom>
          <a:solidFill>
            <a:srgbClr val="D63C3C"/>
          </a:solidFill>
          <a:ln w="9525">
            <a:solidFill>
              <a:srgbClr val="D63C3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7C9717D4-3F02-4DEE-B2FF-8A5BADC2E2CD}"/>
              </a:ext>
            </a:extLst>
          </p:cNvPr>
          <p:cNvSpPr>
            <a:spLocks noGrp="1"/>
          </p:cNvSpPr>
          <p:nvPr/>
        </p:nvSpPr>
        <p:spPr>
          <a:xfrm>
            <a:off x="9591675" y="3371850"/>
            <a:ext cx="97155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125" b="1">
                <a:solidFill>
                  <a:srgbClr val="FFFFFF"/>
                </a:solidFill>
                <a:latin typeface="Calibri Light"/>
                <a:ea typeface="Calibri Light"/>
                <a:cs typeface="Calibri Light"/>
              </a:defRPr>
            </a:pPr>
            <a:r>
              <a:rPr sz="1125" b="1">
                <a:solidFill>
                  <a:srgbClr val="FFFFFF"/>
                </a:solidFill>
                <a:latin typeface="Calibri Light"/>
                <a:ea typeface="Calibri Light"/>
                <a:cs typeface="Calibri Light"/>
              </a:rPr>
              <a:t>nova L</a:t>
            </a:r>
          </a:p>
        </p:txBody>
      </p:sp>
    </p:spTree>
    <p:extLst>
      <p:ext uri="{BB962C8B-B14F-4D97-AF65-F5344CB8AC3E}">
        <p14:creationId xmlns:p14="http://schemas.microsoft.com/office/powerpoint/2010/main" val="4638541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CB00D9-1AE3-D260-EF6F-56D329965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Uma gramática descreve como gerar palavras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3FF91B0-B5DC-458A-642E-7D35529EF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t>G = (V, T, P, S)</a:t>
            </a:r>
          </a:p>
          <a:p>
            <a:r>
              <a:t>V: variáveis ou não terminais</a:t>
            </a:r>
          </a:p>
          <a:p>
            <a:r>
              <a:t>T: terminais</a:t>
            </a:r>
          </a:p>
          <a:p>
            <a:r>
              <a:t>P: regras de produção</a:t>
            </a:r>
          </a:p>
          <a:p>
            <a:r>
              <a:t>S: símbolo inicial</a:t>
            </a:r>
          </a:p>
        </p:txBody>
      </p:sp>
    </p:spTree>
    <p:extLst>
      <p:ext uri="{BB962C8B-B14F-4D97-AF65-F5344CB8AC3E}">
        <p14:creationId xmlns:p14="http://schemas.microsoft.com/office/powerpoint/2010/main" val="33101528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0CF012-B9B8-2A31-148F-26EB5CDF4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t>Derivação aplica produções passo a passo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F791C41-4357-FD22-DE98-24F640698C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r>
              <a:t>Gramática: S → aS | b</a:t>
            </a:r>
          </a:p>
          <a:p>
            <a:r>
              <a:t>Objetivo: gerar a palavra aaab.</a:t>
            </a:r>
          </a:p>
          <a:p>
            <a:r>
              <a:t>Escolhemos uma produção válida em cada etapa.</a:t>
            </a:r>
          </a:p>
        </p:txBody>
      </p:sp>
      <p:pic>
        <p:nvPicPr>
          <p:cNvPr id="28" name="Imagem 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6587331" y="1825625"/>
            <a:ext cx="4351338" cy="4351338"/>
          </a:xfrm>
          <a:prstGeom prst="rect">
            <a:avLst/>
          </a:prstGeom>
        </p:spPr>
      </p:pic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A509C465-97B1-41FE-BE2F-1489E67D4D38}"/>
              </a:ext>
            </a:extLst>
          </p:cNvPr>
          <p:cNvSpPr>
            <a:spLocks noGrp="1"/>
          </p:cNvSpPr>
          <p:nvPr/>
        </p:nvSpPr>
        <p:spPr>
          <a:xfrm>
            <a:off x="7225665" y="3571875"/>
            <a:ext cx="266700" cy="266700"/>
          </a:xfrm>
          <a:prstGeom prst="rightArrow">
            <a:avLst/>
          </a:prstGeom>
          <a:solidFill>
            <a:srgbClr val="D63C3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Seta: para a Direita 12">
            <a:extLst>
              <a:ext uri="{FF2B5EF4-FFF2-40B4-BE49-F238E27FC236}">
                <a16:creationId xmlns:a16="http://schemas.microsoft.com/office/drawing/2014/main" id="{CAA8557D-F5D2-42BC-99DF-C460893F730B}"/>
              </a:ext>
            </a:extLst>
          </p:cNvPr>
          <p:cNvSpPr>
            <a:spLocks noGrp="1"/>
          </p:cNvSpPr>
          <p:nvPr/>
        </p:nvSpPr>
        <p:spPr>
          <a:xfrm>
            <a:off x="8098155" y="3571875"/>
            <a:ext cx="266700" cy="266700"/>
          </a:xfrm>
          <a:prstGeom prst="rightArrow">
            <a:avLst/>
          </a:prstGeom>
          <a:solidFill>
            <a:srgbClr val="D63C3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Seta: para a Direita 13">
            <a:extLst>
              <a:ext uri="{FF2B5EF4-FFF2-40B4-BE49-F238E27FC236}">
                <a16:creationId xmlns:a16="http://schemas.microsoft.com/office/drawing/2014/main" id="{08B10FCB-ACE9-434A-BA70-C3684288D32D}"/>
              </a:ext>
            </a:extLst>
          </p:cNvPr>
          <p:cNvSpPr>
            <a:spLocks noGrp="1"/>
          </p:cNvSpPr>
          <p:nvPr/>
        </p:nvSpPr>
        <p:spPr>
          <a:xfrm>
            <a:off x="8970645" y="3571875"/>
            <a:ext cx="266700" cy="266700"/>
          </a:xfrm>
          <a:prstGeom prst="rightArrow">
            <a:avLst/>
          </a:prstGeom>
          <a:solidFill>
            <a:srgbClr val="D63C3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Seta: para a Direita 14">
            <a:extLst>
              <a:ext uri="{FF2B5EF4-FFF2-40B4-BE49-F238E27FC236}">
                <a16:creationId xmlns:a16="http://schemas.microsoft.com/office/drawing/2014/main" id="{FBA577CC-74AA-4A66-BFFC-8CB70DC17BC5}"/>
              </a:ext>
            </a:extLst>
          </p:cNvPr>
          <p:cNvSpPr>
            <a:spLocks noGrp="1"/>
          </p:cNvSpPr>
          <p:nvPr/>
        </p:nvSpPr>
        <p:spPr>
          <a:xfrm>
            <a:off x="9843135" y="3571875"/>
            <a:ext cx="266700" cy="266700"/>
          </a:xfrm>
          <a:prstGeom prst="rightArrow">
            <a:avLst/>
          </a:prstGeom>
          <a:solidFill>
            <a:srgbClr val="D63C3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Retângulo: Cantos Arredondados 15">
            <a:extLst>
              <a:ext uri="{FF2B5EF4-FFF2-40B4-BE49-F238E27FC236}">
                <a16:creationId xmlns:a16="http://schemas.microsoft.com/office/drawing/2014/main" id="{C3A4A1E2-3FCF-4DEF-974E-8A6797B092FE}"/>
              </a:ext>
            </a:extLst>
          </p:cNvPr>
          <p:cNvSpPr>
            <a:spLocks noGrp="1"/>
          </p:cNvSpPr>
          <p:nvPr/>
        </p:nvSpPr>
        <p:spPr>
          <a:xfrm>
            <a:off x="6667500" y="3286125"/>
            <a:ext cx="510540" cy="857250"/>
          </a:xfrm>
          <a:prstGeom prst="roundRect">
            <a:avLst>
              <a:gd name="adj" fmla="val 14925"/>
            </a:avLst>
          </a:prstGeom>
          <a:solidFill>
            <a:srgbClr val="F5F5F5"/>
          </a:solidFill>
          <a:ln w="9525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F3396969-499C-4DE0-840C-BF3AB5AA7B57}"/>
              </a:ext>
            </a:extLst>
          </p:cNvPr>
          <p:cNvSpPr>
            <a:spLocks noGrp="1"/>
          </p:cNvSpPr>
          <p:nvPr/>
        </p:nvSpPr>
        <p:spPr>
          <a:xfrm>
            <a:off x="6705600" y="3371850"/>
            <a:ext cx="43434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defRPr>
            </a:pPr>
            <a:r>
              <a: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rPr>
              <a:t>S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F4853D95-B063-42EB-8F54-1DF43771BA33}"/>
              </a:ext>
            </a:extLst>
          </p:cNvPr>
          <p:cNvSpPr>
            <a:spLocks noGrp="1"/>
          </p:cNvSpPr>
          <p:nvPr/>
        </p:nvSpPr>
        <p:spPr>
          <a:xfrm>
            <a:off x="7539990" y="3286125"/>
            <a:ext cx="510540" cy="857250"/>
          </a:xfrm>
          <a:prstGeom prst="roundRect">
            <a:avLst>
              <a:gd name="adj" fmla="val 14925"/>
            </a:avLst>
          </a:prstGeom>
          <a:solidFill>
            <a:srgbClr val="F5F5F5"/>
          </a:solidFill>
          <a:ln w="9525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8BB760B1-4A05-4756-9E82-BC1691EE0E3A}"/>
              </a:ext>
            </a:extLst>
          </p:cNvPr>
          <p:cNvSpPr>
            <a:spLocks noGrp="1"/>
          </p:cNvSpPr>
          <p:nvPr/>
        </p:nvSpPr>
        <p:spPr>
          <a:xfrm>
            <a:off x="7578090" y="3371850"/>
            <a:ext cx="43434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defRPr>
            </a:pPr>
            <a:r>
              <a: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rPr>
              <a:t>aS</a:t>
            </a:r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DC24C29A-E445-4430-AA6E-4B0DDB464AC7}"/>
              </a:ext>
            </a:extLst>
          </p:cNvPr>
          <p:cNvSpPr>
            <a:spLocks noGrp="1"/>
          </p:cNvSpPr>
          <p:nvPr/>
        </p:nvSpPr>
        <p:spPr>
          <a:xfrm>
            <a:off x="8412480" y="3286125"/>
            <a:ext cx="510540" cy="857250"/>
          </a:xfrm>
          <a:prstGeom prst="roundRect">
            <a:avLst>
              <a:gd name="adj" fmla="val 14925"/>
            </a:avLst>
          </a:prstGeom>
          <a:solidFill>
            <a:srgbClr val="F5F5F5"/>
          </a:solidFill>
          <a:ln w="9525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3034AB25-522C-4EB7-BF8E-FDB646AEEB7D}"/>
              </a:ext>
            </a:extLst>
          </p:cNvPr>
          <p:cNvSpPr>
            <a:spLocks noGrp="1"/>
          </p:cNvSpPr>
          <p:nvPr/>
        </p:nvSpPr>
        <p:spPr>
          <a:xfrm>
            <a:off x="8450580" y="3371850"/>
            <a:ext cx="43434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defRPr>
            </a:pPr>
            <a:r>
              <a: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rPr>
              <a:t>aaS</a:t>
            </a:r>
          </a:p>
        </p:txBody>
      </p:sp>
      <p:sp>
        <p:nvSpPr>
          <p:cNvPr id="22" name="Retângulo: Cantos Arredondados 21">
            <a:extLst>
              <a:ext uri="{FF2B5EF4-FFF2-40B4-BE49-F238E27FC236}">
                <a16:creationId xmlns:a16="http://schemas.microsoft.com/office/drawing/2014/main" id="{837117DD-E996-40D9-A65F-0D9405FE1B96}"/>
              </a:ext>
            </a:extLst>
          </p:cNvPr>
          <p:cNvSpPr>
            <a:spLocks noGrp="1"/>
          </p:cNvSpPr>
          <p:nvPr/>
        </p:nvSpPr>
        <p:spPr>
          <a:xfrm>
            <a:off x="9284970" y="3286125"/>
            <a:ext cx="510540" cy="857250"/>
          </a:xfrm>
          <a:prstGeom prst="roundRect">
            <a:avLst>
              <a:gd name="adj" fmla="val 14925"/>
            </a:avLst>
          </a:prstGeom>
          <a:solidFill>
            <a:srgbClr val="F5F5F5"/>
          </a:solidFill>
          <a:ln w="9525">
            <a:solidFill>
              <a:srgbClr val="BBBBB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A38060C4-B165-4068-979D-64E7765EA3B5}"/>
              </a:ext>
            </a:extLst>
          </p:cNvPr>
          <p:cNvSpPr>
            <a:spLocks noGrp="1"/>
          </p:cNvSpPr>
          <p:nvPr/>
        </p:nvSpPr>
        <p:spPr>
          <a:xfrm>
            <a:off x="9323070" y="3371850"/>
            <a:ext cx="43434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defRPr>
            </a:pPr>
            <a:r>
              <a:rPr sz="1125" b="1">
                <a:solidFill>
                  <a:srgbClr val="222222"/>
                </a:solidFill>
                <a:latin typeface="Calibri Light"/>
                <a:ea typeface="Calibri Light"/>
                <a:cs typeface="Calibri Light"/>
              </a:rPr>
              <a:t>aaaS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F6854698-162B-41D6-99ED-23561CEA17A7}"/>
              </a:ext>
            </a:extLst>
          </p:cNvPr>
          <p:cNvSpPr>
            <a:spLocks noGrp="1"/>
          </p:cNvSpPr>
          <p:nvPr/>
        </p:nvSpPr>
        <p:spPr>
          <a:xfrm>
            <a:off x="10157460" y="3286125"/>
            <a:ext cx="510540" cy="857250"/>
          </a:xfrm>
          <a:prstGeom prst="roundRect">
            <a:avLst>
              <a:gd name="adj" fmla="val 14925"/>
            </a:avLst>
          </a:prstGeom>
          <a:solidFill>
            <a:srgbClr val="D63C3C"/>
          </a:solidFill>
          <a:ln w="9525">
            <a:solidFill>
              <a:srgbClr val="D63C3C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619BE28B-CF00-450D-865A-E6382899219B}"/>
              </a:ext>
            </a:extLst>
          </p:cNvPr>
          <p:cNvSpPr>
            <a:spLocks noGrp="1"/>
          </p:cNvSpPr>
          <p:nvPr/>
        </p:nvSpPr>
        <p:spPr>
          <a:xfrm>
            <a:off x="10195560" y="3371850"/>
            <a:ext cx="43434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38100" tIns="19050" rIns="38100" bIns="19050" anchor="ctr"/>
          <a:lstStyle/>
          <a:p>
            <a:pPr algn="ctr">
              <a:defRPr sz="1125" b="1">
                <a:solidFill>
                  <a:srgbClr val="FFFFFF"/>
                </a:solidFill>
                <a:latin typeface="Calibri Light"/>
                <a:ea typeface="Calibri Light"/>
                <a:cs typeface="Calibri Light"/>
              </a:defRPr>
            </a:pPr>
            <a:r>
              <a:rPr sz="1125" b="1">
                <a:solidFill>
                  <a:srgbClr val="FFFFFF"/>
                </a:solidFill>
                <a:latin typeface="Calibri Light"/>
                <a:ea typeface="Calibri Light"/>
                <a:cs typeface="Calibri Light"/>
              </a:rPr>
              <a:t>aaab</a:t>
            </a:r>
          </a:p>
        </p:txBody>
      </p:sp>
    </p:spTree>
    <p:extLst>
      <p:ext uri="{BB962C8B-B14F-4D97-AF65-F5344CB8AC3E}">
        <p14:creationId xmlns:p14="http://schemas.microsoft.com/office/powerpoint/2010/main" val="4638541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F7D8EE-82E6-5710-E3CF-19195A2FD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Atividade em duplas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E50D22B-02C8-11F2-11C0-9066BFC822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t>Considere Σ = {a,b}.</a:t>
            </a:r>
          </a:p>
          <a:p>
            <a:pPr>
              <a:buNone/>
            </a:pPr>
            <a:r>
              <a:t>1. Liste Σ².</a:t>
            </a:r>
          </a:p>
          <a:p>
            <a:pPr>
              <a:buNone/>
            </a:pPr>
            <a:r>
              <a:t>2. Dê três palavras de Σ*.</a:t>
            </a:r>
          </a:p>
          <a:p>
            <a:r>
              <a:t>3. Explique por que ε ∈ Σ*.</a:t>
            </a:r>
          </a:p>
          <a:p>
            <a:r>
              <a:t>4. Para S → aS | b, derive aab.</a:t>
            </a:r>
          </a:p>
        </p:txBody>
      </p:sp>
    </p:spTree>
    <p:extLst>
      <p:ext uri="{BB962C8B-B14F-4D97-AF65-F5344CB8AC3E}">
        <p14:creationId xmlns:p14="http://schemas.microsoft.com/office/powerpoint/2010/main" val="8695890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CB00D9-1AE3-D260-EF6F-56D329965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Verifique sua compreensão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3FF91B0-B5DC-458A-642E-7D35529EFD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t>Alfabeto é conjunto; palavra é sequência</a:t>
            </a:r>
          </a:p>
          <a:p>
            <a:r>
              <a:t>Linguagem é conjunto de palavras</a:t>
            </a:r>
          </a:p>
          <a:p>
            <a:r>
              <a:t>ε tem comprimento zero</a:t>
            </a:r>
          </a:p>
          <a:p>
            <a:r>
              <a:t>Gramática gera palavras por produções</a:t>
            </a:r>
          </a:p>
          <a:p>
            <a:r>
              <a:t>Pergunta: ∅ e {ε} são iguais?</a:t>
            </a:r>
          </a:p>
        </p:txBody>
      </p:sp>
    </p:spTree>
    <p:extLst>
      <p:ext uri="{BB962C8B-B14F-4D97-AF65-F5344CB8AC3E}">
        <p14:creationId xmlns:p14="http://schemas.microsoft.com/office/powerpoint/2010/main" val="33101528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58FF648A-DFF8-FF40-1D4B-AAB7A6CC8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VOCÊ JÁ POSSUI O VOCABULÁRIO BÁSICO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EA773244-B073-7998-C028-38130BE5F5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Próximo passo: reconhecer linguagens regulares com máquinas de estados.</a:t>
            </a:r>
          </a:p>
        </p:txBody>
      </p:sp>
    </p:spTree>
    <p:extLst>
      <p:ext uri="{BB962C8B-B14F-4D97-AF65-F5344CB8AC3E}">
        <p14:creationId xmlns:p14="http://schemas.microsoft.com/office/powerpoint/2010/main" val="20435212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2226</Words>
  <Application>Microsoft Office PowerPoint</Application>
  <DocSecurity>0</DocSecurity>
  <PresentationFormat>Widescreen</PresentationFormat>
  <Paragraphs>268</Paragraphs>
  <Slides>19</Slides>
  <Notes>19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19</vt:i4>
      </vt:variant>
    </vt:vector>
  </HeadingPairs>
  <TitlesOfParts>
    <vt:vector size="25" baseType="lpstr">
      <vt:lpstr>-apple-system</vt:lpstr>
      <vt:lpstr>Arial</vt:lpstr>
      <vt:lpstr>Calibri</vt:lpstr>
      <vt:lpstr>Calibri Light</vt:lpstr>
      <vt:lpstr>Century Gothic</vt:lpstr>
      <vt:lpstr>Tema do Office</vt:lpstr>
      <vt:lpstr>Apresentação do PowerPoint</vt:lpstr>
      <vt:lpstr>Informação do Professor: </vt:lpstr>
      <vt:lpstr>Apresentação do PowerPoint</vt:lpstr>
      <vt:lpstr>Apresentação do PowerPoint</vt:lpstr>
      <vt:lpstr>Apresentação do PowerPoint</vt:lpstr>
      <vt:lpstr>Apresentação do PowerPoint</vt:lpstr>
      <vt:lpstr>Informação do Professor: </vt:lpstr>
      <vt:lpstr>DA INTUIÇÃO À FORMALIZAÇÃO</vt:lpstr>
      <vt:lpstr>DA INTUIÇÃO À FORMALIZAÇÃO</vt:lpstr>
      <vt:lpstr>Por que estudar linguagens formais?</vt:lpstr>
      <vt:lpstr>Símbolos formam palavras; palavras formam linguagens</vt:lpstr>
      <vt:lpstr>Conjuntos fundamentais de palavras</vt:lpstr>
      <vt:lpstr>Palavra vazia não é conjunto vazio</vt:lpstr>
      <vt:lpstr>Operações constroem novas linguagens</vt:lpstr>
      <vt:lpstr>Uma gramática descreve como gerar palavras</vt:lpstr>
      <vt:lpstr>Derivação aplica produções passo a passo</vt:lpstr>
      <vt:lpstr>Atividade em duplas</vt:lpstr>
      <vt:lpstr>Verifique sua compreensão</vt:lpstr>
      <vt:lpstr>VOCÊ JÁ POSSUI O VOCABULÁRIO BÁSICO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Murillo edson de carvalho souza</cp:lastModifiedBy>
  <cp:revision>4</cp:revision>
  <dcterms:created xsi:type="dcterms:W3CDTF">2026-08-04T01:48:32Z</dcterms:created>
  <dcterms:modified xsi:type="dcterms:W3CDTF">2026-08-04T02:23:31Z</dcterms:modified>
</cp:coreProperties>
</file>